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3ac2a52f5a490e" /><Relationship Type="http://schemas.openxmlformats.org/officeDocument/2006/relationships/extended-properties" Target="/docProps/app.xml" Id="R9b2d69254dc9460b" /><Relationship Type="http://schemas.openxmlformats.org/officeDocument/2006/relationships/officeDocument" Target="/ppt/presentation.xml" Id="R6925db1ec03249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e2a24198b94c77"/>
  </p:sldMasterIdLst>
  <p:notesMasterIdLst>
    <p:notesMasterId xmlns:r="http://schemas.openxmlformats.org/officeDocument/2006/relationships" r:id="R3ccf7609a9db4236"/>
  </p:notesMasterIdLst>
  <p:sldIdLst>
    <p:sldId xmlns:r="http://schemas.openxmlformats.org/officeDocument/2006/relationships" id="256" r:id="R58e6759cc75943aa"/>
    <p:sldId xmlns:r="http://schemas.openxmlformats.org/officeDocument/2006/relationships" id="257" r:id="Re032c7fee34445a6"/>
    <p:sldId xmlns:r="http://schemas.openxmlformats.org/officeDocument/2006/relationships" id="258" r:id="Raefa3bd62e634016"/>
    <p:sldId xmlns:r="http://schemas.openxmlformats.org/officeDocument/2006/relationships" id="259" r:id="Rc445be86c0c94106"/>
    <p:sldId xmlns:r="http://schemas.openxmlformats.org/officeDocument/2006/relationships" id="260" r:id="R5ccaf39513864a11"/>
    <p:sldId xmlns:r="http://schemas.openxmlformats.org/officeDocument/2006/relationships" id="261" r:id="R1f82e75a398d4236"/>
    <p:sldId xmlns:r="http://schemas.openxmlformats.org/officeDocument/2006/relationships" id="262" r:id="R267cb20a56c743d8"/>
    <p:sldId xmlns:r="http://schemas.openxmlformats.org/officeDocument/2006/relationships" id="263" r:id="Rb074dd74cbf949c6"/>
    <p:sldId xmlns:r="http://schemas.openxmlformats.org/officeDocument/2006/relationships" id="264" r:id="R70b52700edeb4685"/>
    <p:sldId xmlns:r="http://schemas.openxmlformats.org/officeDocument/2006/relationships" id="265" r:id="R55a97210ed044212"/>
    <p:sldId xmlns:r="http://schemas.openxmlformats.org/officeDocument/2006/relationships" id="266" r:id="R09f835333b7f4d33"/>
    <p:sldId xmlns:r="http://schemas.openxmlformats.org/officeDocument/2006/relationships" id="267" r:id="R70e1560c2909471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e2a24198b94c77" /><Relationship Type="http://schemas.openxmlformats.org/officeDocument/2006/relationships/theme" Target="/ppt/theme/theme1.xml" Id="R12348c3b5656401e" /><Relationship Type="http://schemas.openxmlformats.org/officeDocument/2006/relationships/notesMaster" Target="/ppt/notesMasters/notesMaster1.xml" Id="R3ccf7609a9db4236" /><Relationship Type="http://schemas.openxmlformats.org/officeDocument/2006/relationships/presProps" Target="/ppt/presProps.xml" Id="Rd0edd2ee52be4e91" /><Relationship Type="http://schemas.openxmlformats.org/officeDocument/2006/relationships/viewProps" Target="/ppt/viewProps.xml" Id="R3616dc23af164148" /><Relationship Type="http://schemas.openxmlformats.org/officeDocument/2006/relationships/tableStyles" Target="/ppt/tableStyles.xml" Id="R9849837b56b545c7" /><Relationship Type="http://schemas.openxmlformats.org/officeDocument/2006/relationships/slide" Target="/ppt/slides/slide1.xml" Id="R58e6759cc75943aa" /><Relationship Type="http://schemas.openxmlformats.org/officeDocument/2006/relationships/slide" Target="/ppt/slides/slide2.xml" Id="Re032c7fee34445a6" /><Relationship Type="http://schemas.openxmlformats.org/officeDocument/2006/relationships/slide" Target="/ppt/slides/slide3.xml" Id="Raefa3bd62e634016" /><Relationship Type="http://schemas.openxmlformats.org/officeDocument/2006/relationships/slide" Target="/ppt/slides/slide4.xml" Id="Rc445be86c0c94106" /><Relationship Type="http://schemas.openxmlformats.org/officeDocument/2006/relationships/slide" Target="/ppt/slides/slide5.xml" Id="R5ccaf39513864a11" /><Relationship Type="http://schemas.openxmlformats.org/officeDocument/2006/relationships/slide" Target="/ppt/slides/slide6.xml" Id="R1f82e75a398d4236" /><Relationship Type="http://schemas.openxmlformats.org/officeDocument/2006/relationships/slide" Target="/ppt/slides/slide7.xml" Id="R267cb20a56c743d8" /><Relationship Type="http://schemas.openxmlformats.org/officeDocument/2006/relationships/slide" Target="/ppt/slides/slide8.xml" Id="Rb074dd74cbf949c6" /><Relationship Type="http://schemas.openxmlformats.org/officeDocument/2006/relationships/slide" Target="/ppt/slides/slide9.xml" Id="R70b52700edeb4685" /><Relationship Type="http://schemas.openxmlformats.org/officeDocument/2006/relationships/slide" Target="/ppt/slides/slide10.xml" Id="R55a97210ed044212" /><Relationship Type="http://schemas.openxmlformats.org/officeDocument/2006/relationships/slide" Target="/ppt/slides/slide11.xml" Id="R09f835333b7f4d33" /><Relationship Type="http://schemas.openxmlformats.org/officeDocument/2006/relationships/slide" Target="/ppt/slides/slide12.xml" Id="R70e1560c290947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3f6206c10b442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9fa63fd3a24b86" /><Relationship Type="http://schemas.openxmlformats.org/officeDocument/2006/relationships/notesMaster" Target="/ppt/notesMasters/notesMaster1.xml" Id="R5ee0eeb85a0349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07bbb178df4662" /><Relationship Type="http://schemas.openxmlformats.org/officeDocument/2006/relationships/notesMaster" Target="/ppt/notesMasters/notesMaster1.xml" Id="R1d03158b122447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3cb148d7a84799" /><Relationship Type="http://schemas.openxmlformats.org/officeDocument/2006/relationships/notesMaster" Target="/ppt/notesMasters/notesMaster1.xml" Id="R2f2fef7d52bc42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a9dd71339e47ea" /><Relationship Type="http://schemas.openxmlformats.org/officeDocument/2006/relationships/notesMaster" Target="/ppt/notesMasters/notesMaster1.xml" Id="R7dbf6791452348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17e9efa10d4b84" /><Relationship Type="http://schemas.openxmlformats.org/officeDocument/2006/relationships/notesMaster" Target="/ppt/notesMasters/notesMaster1.xml" Id="R09c8d928ff464c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372c5cf6c8446b" /><Relationship Type="http://schemas.openxmlformats.org/officeDocument/2006/relationships/notesMaster" Target="/ppt/notesMasters/notesMaster1.xml" Id="R9d8151caca1645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e61949d6ff4b56" /><Relationship Type="http://schemas.openxmlformats.org/officeDocument/2006/relationships/notesMaster" Target="/ppt/notesMasters/notesMaster1.xml" Id="R35b99aa9d94a49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a753b0b41a4ed1" /><Relationship Type="http://schemas.openxmlformats.org/officeDocument/2006/relationships/notesMaster" Target="/ppt/notesMasters/notesMaster1.xml" Id="R2c4052d1fbdc4e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902ea3f0894e6d" /><Relationship Type="http://schemas.openxmlformats.org/officeDocument/2006/relationships/notesMaster" Target="/ppt/notesMasters/notesMaster1.xml" Id="R3fd2851f349242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47e81ceba949cc" /><Relationship Type="http://schemas.openxmlformats.org/officeDocument/2006/relationships/notesMaster" Target="/ppt/notesMasters/notesMaster1.xml" Id="Rea22cacd24644b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7bc41c9eb245a1" /><Relationship Type="http://schemas.openxmlformats.org/officeDocument/2006/relationships/notesMaster" Target="/ppt/notesMasters/notesMaster1.xml" Id="R4764ad872fca4a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77e4d825094c10" /><Relationship Type="http://schemas.openxmlformats.org/officeDocument/2006/relationships/notesMaster" Target="/ppt/notesMasters/notesMaster1.xml" Id="Re57ca1fdb56041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da5d77b1740b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43cb0f8f7c04bcf" /><Relationship Type="http://schemas.openxmlformats.org/officeDocument/2006/relationships/slideLayout" Target="/ppt/slideLayouts/slideLayout2.xml" Id="Ra8255c6d50a14c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255c6d50a14c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26e4c3bcb04b5a" /><Relationship Type="http://schemas.openxmlformats.org/officeDocument/2006/relationships/notesSlide" Target="/ppt/notesSlides/notesSlide1.xml" Id="R7e8e42a3b91b43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dfa5844b1c4914" /><Relationship Type="http://schemas.openxmlformats.org/officeDocument/2006/relationships/notesSlide" Target="/ppt/notesSlides/notesSlide2.xml" Id="R95a3620d6bd144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9197fc676342e0" /><Relationship Type="http://schemas.openxmlformats.org/officeDocument/2006/relationships/notesSlide" Target="/ppt/notesSlides/notesSlide3.xml" Id="Reb358db528bc49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36f5fdb7ec4c59" /><Relationship Type="http://schemas.openxmlformats.org/officeDocument/2006/relationships/notesSlide" Target="/ppt/notesSlides/notesSlide4.xml" Id="R27aa3a9e643544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73ae141b134cb7" /><Relationship Type="http://schemas.openxmlformats.org/officeDocument/2006/relationships/notesSlide" Target="/ppt/notesSlides/notesSlide5.xml" Id="Re36d57d747fd4d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63c7c50fb442a1" /><Relationship Type="http://schemas.openxmlformats.org/officeDocument/2006/relationships/notesSlide" Target="/ppt/notesSlides/notesSlide6.xml" Id="Re0cd34c63a5a47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34c35c7e684510" /><Relationship Type="http://schemas.openxmlformats.org/officeDocument/2006/relationships/notesSlide" Target="/ppt/notesSlides/notesSlide7.xml" Id="Rca90dfcfb9ea4c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20ec4e8a904e1a" /><Relationship Type="http://schemas.openxmlformats.org/officeDocument/2006/relationships/notesSlide" Target="/ppt/notesSlides/notesSlide8.xml" Id="Re38bc4809b0c49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e25d7a58bb4716" /><Relationship Type="http://schemas.openxmlformats.org/officeDocument/2006/relationships/notesSlide" Target="/ppt/notesSlides/notesSlide9.xml" Id="R546d3988fd5345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964ff87c2e498b" /><Relationship Type="http://schemas.openxmlformats.org/officeDocument/2006/relationships/notesSlide" Target="/ppt/notesSlides/notesSlide10.xml" Id="R41658f45aa0849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13ebc9580c447c" /><Relationship Type="http://schemas.openxmlformats.org/officeDocument/2006/relationships/notesSlide" Target="/ppt/notesSlides/notesSlide11.xml" Id="R6a4f0791ae0343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ef060910c94147" /><Relationship Type="http://schemas.openxmlformats.org/officeDocument/2006/relationships/notesSlide" Target="/ppt/notesSlides/notesSlide12.xml" Id="R038f2ecaada94c8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7F831A-026B-460C-B025-479D0687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2D06C-E2B9-450A-9C17-7C157DEF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57750"/>
            <a:ext cx="12192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FBAA6-88E7-46B6-A8FE-A56A85A6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28750"/>
            <a:ext cx="400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25CFE-E797-458A-8667-49AF4BC6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2880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FEB44-4AF2-4A19-93AC-69CCD99C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62100"/>
            <a:ext cx="400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E6151-1EFF-446D-983F-E743634A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96215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FF716-BD75-4DC6-A523-B660E160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95450"/>
            <a:ext cx="400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F4673-946C-4678-B307-54C92C98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09550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9D6D7-B0E7-48EA-A904-C2B79688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28800"/>
            <a:ext cx="400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48A63-0C22-4BAF-9041-AE64A817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22885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7CC93-C78C-4A34-B14C-156D2EC8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62150"/>
            <a:ext cx="400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410B8-70E3-42B1-9BE7-9F18C66B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36220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A8267-4E2D-4126-A5EB-E40B8D18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95500"/>
            <a:ext cx="400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63F3F-D588-4B93-ABBE-DA16DC0F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9555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80A72-D5A4-4339-B799-D458F1E8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28850"/>
            <a:ext cx="400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D2B26-B895-4655-AA7D-49D7DA65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62890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667C2-40ED-4657-9155-D0A77311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62200"/>
            <a:ext cx="400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0CCED8-760C-4535-BD94-B02DF669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76225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BAB281-4085-40E0-84FD-944F013D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95550"/>
            <a:ext cx="400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24E193-69E5-406D-920D-1D22F2CF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89560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C3E593-5EA6-4274-AF3D-38E91CD8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28900"/>
            <a:ext cx="400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D4FBEC-2960-4695-BBD5-035BD358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02895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95E89D-B263-49D0-9B18-7170266C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400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CCBE9A-FDDB-4210-9CCE-189CBF1E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6230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94B63F-4F8A-4493-86EA-8E6F72A4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95600"/>
            <a:ext cx="400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D2B41C-9A8E-4296-9E94-9ABEEC0F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29565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D480DA-76DF-45D3-8881-DA8360A5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400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9CAD9F-54A2-4784-AF69-A984B732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42900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75A050-57A2-455B-AB3F-4DAB43E3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62300"/>
            <a:ext cx="400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AFFD54-FCB7-4AA7-A1F8-0C6D19FB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6235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C0EDA2-436B-462B-9520-3C43232F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95650"/>
            <a:ext cx="400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966D5D-BCE9-4E3E-A51D-61B0974F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69570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4ECDE8-D4C8-4B87-96CA-1EBC0AE7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29000"/>
            <a:ext cx="400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8A5DBF-9F99-4CF6-82D7-59F387A5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2905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5F53D5-34A7-4BB4-A444-E4DF2710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62350"/>
            <a:ext cx="400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40ECF4-9ACE-4D00-8C28-49B23902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96240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D7D491-9F55-4EDD-B9EA-16DDED57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95700"/>
            <a:ext cx="400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EF88B0-84CE-432D-9F00-C1E94381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09575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53D913-0114-4238-A18F-98250CC2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29050"/>
            <a:ext cx="400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EF65F0-49D3-4C5C-9F14-5E3E8E0B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22910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4711BF-DC2F-4980-BFAF-FBBAFC46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62400"/>
            <a:ext cx="400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BDCE9E-6477-4A87-B42C-4D27BFAE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36245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6C7452-D97E-4C04-962B-5B34E764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400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CF2F5D-9F5C-4F0A-94D1-313D9153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9580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D46E84-7FFD-49A8-999E-B3386E57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29100"/>
            <a:ext cx="400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1B3D5E-FDC9-4081-83D7-21F96D32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62915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830FF1-EB9D-4655-A007-E8B0312D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基于ESP32-S3R8与LVGL的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76BED8-255B-4023-A600-6BE268B5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8286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低功耗触控智能手表系统设计与实现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EC8787-DDA2-4C61-80AC-B0FEA612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3352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F5069A9-56B4-491D-B0F9-2314B79E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EA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EAF5"/>
                </a:solidFill>
                <a:latin typeface="Microsoft YaHei"/>
                <a:ea typeface="Microsoft YaHei"/>
                <a:cs typeface="Microsoft YaHei"/>
              </a:rPr>
              <a:t>毕业设计答辩汇报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864839-B022-468D-9534-2624F170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F4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8F4FA"/>
                </a:solidFill>
                <a:latin typeface="Microsoft YaHei"/>
                <a:ea typeface="Microsoft YaHei"/>
                <a:cs typeface="Microsoft YaHei"/>
              </a:rPr>
              <a:t>硬件驱动 · 图形交互 · 多媒体应用 · 云端协同 · 低功耗管理</a:t>
            </a:r>
          </a:p>
        </p:txBody>
      </p:sp>
    </p:spTree>
    <p:extLst>
      <p:ext uri="{BB962C8B-B14F-4D97-AF65-F5344CB8AC3E}">
        <p14:creationId xmlns:p14="http://schemas.microsoft.com/office/powerpoint/2010/main" val="9342314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E7DF48-BBDE-4F7A-800D-963D97A9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8F703-2F8A-406E-BB06-B009D92A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5ACE1-3471-4D8C-B92D-A2758373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F84F3-E8D2-4D1D-92EA-78266DD7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07F8C-5943-4015-B2D5-76F2D6E9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AC868-7573-48E9-8D5A-43EF4D87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DF210-A501-4418-9C50-68533AB9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70627-2DFC-44CD-B14B-7E337A4F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3C472-7F95-4589-9C24-CCF98C4D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63E88-B598-446C-BFD7-1C625412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837AB-4E60-4B06-85D2-5337C536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F26D1-B9B5-460D-BB59-19ADA1B2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F918B-2F8C-4CE7-A4B4-FDF12478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65374-C185-4AD3-87C8-8F3496EE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618097-A021-47D4-853A-32200000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63E16-26C6-42D1-9D12-1CBD2951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008243-07E5-4DC1-93D4-636516D5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3F9C1-C188-46A8-B2B3-689F6BCC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8382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7233C5-91E5-4AC3-9892-AED77B45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2192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2EF34-7270-4954-B4DB-3C1746F0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8590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DC100-C828-4D83-B396-C4D5D987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3906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绪论：研究背景与意义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1DB383-503C-44EC-98A4-CCF44BA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335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可穿戴设备发展、问题提出与课题价值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BA7CA3-33D4-4553-9E61-C6AF6659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192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E8D104-A482-417A-97B4-B87DBE86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8590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CB9C1A-C036-40D3-8C6B-5463785D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906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总体需求与系统架构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2A2C21-6D78-4A3B-A487-2E37F7E0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335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功能需求、性能指标与总体实现链路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28760E-3AF4-48F8-B94C-71B81033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193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85BC0F-AD88-4ED0-9D68-DE0F7DE7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860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BB7B08-CCDC-4BF8-9C39-E60F4DBB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908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硬件设计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48426C-6D35-46C6-9A9B-9DCF1371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337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主控最小系统、显示触控、RTC、存储与电源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4CFC65-DC9D-4E6F-8CBC-0CC4E679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EFA9B2-F47A-40B7-89B2-9101F7B9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907408-11D0-4D45-8B17-085B8FE6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908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软件设计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409CF7-F8F6-4C70-808D-CDB9237A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337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分层软件结构、多任务调度与核心功能流程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6DDA0A-6EAE-4B4D-B4CD-BA914F15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195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EA042B-BFC2-4070-A61D-32D4E0D4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32B6C7-7DFD-4452-AFAF-07CC4FE9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909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系统调试与测试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A4648F-6967-49F9-921D-39D80671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338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交互、多媒体、网络、OTA与功耗测试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056CBE-B7F6-42F2-B4A3-0DB9C405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343B5F-A954-4522-9083-A1232307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F3128A-09B4-42D7-840E-06160724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909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总结与展望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87872A-D24F-4227-A4A3-216DDF16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338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研究结论、存在不足与后续优化方向</a:t>
            </a:r>
          </a:p>
        </p:txBody>
      </p:sp>
    </p:spTree>
    <p:extLst>
      <p:ext uri="{BB962C8B-B14F-4D97-AF65-F5344CB8AC3E}">
        <p14:creationId xmlns:p14="http://schemas.microsoft.com/office/powerpoint/2010/main" val="4187980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CE2755-AA09-49C1-8488-8868F35F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173B8-3740-48EF-91E8-FD7B8E5D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F7E96-0856-4058-9603-DB46DC51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6610A-E467-42E2-A7D6-A86D7A70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0E38A-48B7-4FAB-B5F8-5DDCB69A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5F523-8624-4590-8154-8F8BC8D4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28301-2820-4501-9A68-14F71356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051E7-E380-42F2-96BE-6A8AB165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BA79B-EB64-444A-A760-BCE4DF51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A6B2D-5587-4706-81D5-927DD40A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65EC1-AC6C-4BB5-B3F1-6BEC0E3D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9C5B1-DE2E-4C32-84AB-604C5596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E6E90-F7EC-405C-BC1C-535FC0B2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AC04A-3BDD-4E2A-8EA4-674088A8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6C89B-405B-4240-95F2-AD07B151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01 绪论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D41C3-F427-4A15-8038-819AB056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02901-82A6-4E08-8FFB-A0723FD1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84E21-126E-424E-97B5-80E9E010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研究背景与课题意义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4F7249-06D1-4445-A8EB-F1BAE014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从智能手表发展现状出发，明确低成本、高交互、可联网的嵌入式穿戴终端需求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F79C7E-9EF0-47CC-BEC0-ED00FFDF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5749B8-E5D2-4997-8DAA-9DAF0395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3143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26DA83-1B14-40EC-AA3B-BE8E5EF8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AA5F62-7CBD-4EFA-95C4-C54A30F2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2781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发展背景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8182CD-B712-468B-BA63-AEA9755E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86025"/>
            <a:ext cx="27622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物联网与微电子技术推动可穿戴设备从计时工具转向个人智能终端，智能手表承担信息交互、健康监测、运动提醒和云端同步等任务。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36E061-D285-4D99-9D11-409E6D3E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57375"/>
            <a:ext cx="3143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D1DC79-EE70-4C77-AE9A-12A4094A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28825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E6923A-B6B8-4403-85E4-B6668589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28825"/>
            <a:ext cx="2781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现实矛盾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9BC151-AFFE-4697-A7FE-2D123261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86025"/>
            <a:ext cx="27622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低功耗手环交互与多媒体能力有限；高端智能手表性能强但成本高、系统复杂，难以作为低成本嵌入式教学与工程方案。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DFE3E9-1405-47DC-932E-6E64E26A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57375"/>
            <a:ext cx="3143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DCA4FF-1E97-4673-8745-58E8C389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28825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8CF8A6-BFEE-4609-9F01-B9938E36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28825"/>
            <a:ext cx="2781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研究目标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04AE77-6643-4BF4-B764-490F931F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86025"/>
            <a:ext cx="27622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在ESP32-S3R8微控制器平台上，结合LVGL与FreeRTOS，实现图形界面、多媒体读取、网络协同、OTA升级和低功耗管理。</a:t>
            </a:r>
          </a:p>
        </p:txBody>
      </p:sp>
    </p:spTree>
    <p:extLst>
      <p:ext uri="{BB962C8B-B14F-4D97-AF65-F5344CB8AC3E}">
        <p14:creationId xmlns:p14="http://schemas.microsoft.com/office/powerpoint/2010/main" val="20481517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67139D-634D-4848-8169-F68D6032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77984-554B-463D-9D69-570F65C8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1E7C8-4E76-48CD-B5F3-60CAE92A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37F6D-D41B-4214-92E4-C171D946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3A78D-F92D-4D86-9013-80FA0D74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06E00-F4F9-46A8-8508-22CBF7F9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B9935-295A-4753-B945-3BA69D6F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B05A8-01C1-4CFF-BC56-9149A39D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D7EF6-9E54-4BA2-839D-72842E78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D38DA-C844-4AB1-AB46-602CC20B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71F17-E00A-4CCB-82A0-CD7701E7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16B51-3783-4EB6-B5A9-86B874B9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7DD4D-7FCB-4205-9574-9BEEC37B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0C550A-CF85-4723-8F6E-501FC1AE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C27FB-29C9-44C8-8F88-C1A84455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02 需求分析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46C1F-C455-4101-BB93-D0A556C1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F25543-114A-4DB3-84DD-24C32515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41992-1F70-40EB-B6D5-101BE0E6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功能需求与性能指标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FA2B6-8519-4E8B-9218-6A19F45A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先明确系统要完成什么，再确定交互流畅性、通信稳定性和续航控制指标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AC5E56-2FA8-4481-AEC2-51C72103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1C018B-865C-4029-BE95-E2260DF4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392415-9D5D-4BD2-88D7-9CB2B09C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EE1853-6D49-4090-9B0E-11F49EE5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85950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时间天气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80A2CE-E110-4753-B498-DDB9098A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485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RTC守时 / NTP校时 / 天气获取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E0B03D-A278-481B-806A-3A27352E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716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F22652-42D4-4AA7-8C56-D0CB63FB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240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3582CE-6B3F-416F-A720-F15497B4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85950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图形交互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A4FC26-72ED-4807-A15A-336F85D2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66950"/>
            <a:ext cx="1485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LVGL界面 / 触控手势 / 菜单切换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D6FAD8-3F09-4C45-BAA7-E3464052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716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FBD1AF-A234-4744-8DAF-550CD2FC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240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02BBC3-F766-4CEC-AF4D-C2A44B21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85950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多媒体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90138B-4068-467F-84F6-D3602D49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66950"/>
            <a:ext cx="1485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SD卡 / 图片 / TXT / MJPEG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78A845-6C93-4620-9AF7-ECACEB8E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716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6672E2-15C1-424B-8699-0A6E1C3B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240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702E29-A12E-4B35-BD68-C55D87B1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85950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云端协同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57BB39-CD21-4FC8-9ED3-1348E5DD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66950"/>
            <a:ext cx="1485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WiFi / MQTT / OneNET OTA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537F48-29F7-4144-9945-30FB961A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716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BA7A97-016E-4BB4-996A-BD4CB9B2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240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F8DA80-AF08-48DD-813F-D789C5B8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885950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电源维护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53339F-D842-4F83-8995-EED4BF35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6950"/>
            <a:ext cx="1485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休眠控制 / 本地与云端升级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138323-29B8-443F-BA01-69B84F9C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10363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677B5A-0234-4CEB-A2A2-CB496343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26E760-4F1E-43B4-B1A2-E698F6A2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约25fps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A03F00-A4E6-4883-9F1B-6CC79A54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148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视频播放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05AADE-3340-41A2-8FBB-1874BB18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910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多帧缓冲与异步刷新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AFB53F-04F8-410F-B8CA-C13DB843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9570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C60DA0-90D1-4A54-A0D1-629EF943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≤50ms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4DF8A4-F385-4CFA-B728-FDC16046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148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触控响应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78959C-22A5-421C-A080-1080F976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910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I2C读取与LVGL事件分发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01579E-4664-49E8-BC65-5A701AA9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F7D3DD-CFBC-47F0-8ABE-D89903C0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0525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120s / 3s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79C7FF-0C1F-4380-9784-2E3FC453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148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休眠触发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A55FE0-9997-4391-ADB4-6D51EAF3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910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无操作轻休眠 / 长按深休眠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5A12D05-FF39-475D-8E9D-BB477E5F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FE1F6C-875E-4E16-9002-1076909D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0525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自动重连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9CDBD54-8668-4730-8A34-CB571D77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148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网络通信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70111D-E028-45D2-8147-7AC991D7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910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WiFi、MQTT、天气与OTA协同</a:t>
            </a:r>
          </a:p>
        </p:txBody>
      </p:sp>
    </p:spTree>
    <p:extLst>
      <p:ext uri="{BB962C8B-B14F-4D97-AF65-F5344CB8AC3E}">
        <p14:creationId xmlns:p14="http://schemas.microsoft.com/office/powerpoint/2010/main" val="2303741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69B6B1-78BE-44C8-A028-79E32960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703B1-E812-464F-97FE-479B2F49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40796-4B8E-4B9C-BC55-66EF3769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E4AC8-E3B5-42EB-A460-97613D15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00F45-A1A5-41C7-9C2E-D6A903A7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A49B2-20DD-4825-B0F5-D0CD4C64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C4328-5905-4E8A-BFF9-25ED6AEF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A7C18-2480-4875-BE17-40152F9C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78AC8-C9F2-4E9F-87E9-E215B71E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43DF6-FBB7-49D3-BEBC-F0F0FE0B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CE8D4-4EC5-471F-A034-B7A86D46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068AC-428E-4C10-996F-26C6F7D8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A97D9-1F08-450D-9348-7B209633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06473-D944-4307-A0B4-61033B6A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4DA6F-36C1-4201-AFF3-A404C064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02 总体架构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82F46-EEBB-4A73-9CF7-EC44B48D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CBB8D-44BE-4A4B-A4C2-FF12A2D0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902B23-55AE-4BBD-BCDC-8BAA932E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总体实现链路：从输入到显示再到维护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7CC529-F459-4ADD-8EE0-34399438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整机设计围绕硬件基础、应用业务、显示刷新、网络维护和能耗控制形成闭环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F26CD-F589-4ECC-A4DE-428BCAA4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3E1ED7-7095-446B-8A30-823E56F6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1666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DB09AC-0580-4849-BCA5-1F646EC7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硬件基础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767C81-1801-4A47-A3EB-AA7E45AD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3620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ESP32-S3R8</a:t>
            </a:r>
          </a:p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LCD/触控</a:t>
            </a:r>
          </a:p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SD/RTC/电源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CCDA5D-0401-4A7B-9A41-C9703B00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619375"/>
            <a:ext cx="30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E4E9CA-5EF3-48AB-88E3-EBEB6EBA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152650"/>
            <a:ext cx="1666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93EEC8-65D3-4033-B537-8607EF2C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43150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驱动抽象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BBA041-957C-4623-9A3E-F93E2F58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781300"/>
            <a:ext cx="13620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SPI / I2C / GPIO</a:t>
            </a:r>
          </a:p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文件系统</a:t>
            </a:r>
          </a:p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外设休眠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B5E5DB-3C58-41EF-AA40-356AF36F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19375"/>
            <a:ext cx="30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70CB6B-8B6B-46D8-A78F-981D7A29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52650"/>
            <a:ext cx="1666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E288ED-7DB8-4427-B9BB-C4349287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43150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应用业务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1D1F96-896F-4AA9-9D77-B48471F3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81300"/>
            <a:ext cx="13620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时间天气</a:t>
            </a:r>
          </a:p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图片视频小说</a:t>
            </a:r>
          </a:p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游戏与设置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3EEA8E-F8DE-4B50-B0E9-3FD82799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19375"/>
            <a:ext cx="30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C061F6-5D51-46D1-9FDE-1C631A97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152650"/>
            <a:ext cx="1666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038CCC-A05B-41A6-92A9-03DC59C0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43150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显示交互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0F3BBA-536D-4960-BF78-C78FB720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781300"/>
            <a:ext cx="13620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LVGL页面</a:t>
            </a:r>
          </a:p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消息队列刷新</a:t>
            </a:r>
          </a:p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触控事件响应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11BCA5-0E5F-4F74-ACFF-07CF4558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19375"/>
            <a:ext cx="30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B00106-381F-4EF4-992F-3885B0EA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52650"/>
            <a:ext cx="1666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1DE5EB-B071-47F4-A368-368BA2B1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43150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2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25555"/>
                </a:solidFill>
                <a:latin typeface="Microsoft YaHei"/>
                <a:ea typeface="Microsoft YaHei"/>
                <a:cs typeface="Microsoft YaHei"/>
              </a:rPr>
              <a:t>维护闭环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8C2CE1-408F-4821-8A26-857F202C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13620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WiFi/MQTT</a:t>
            </a:r>
          </a:p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本地/云端OTA</a:t>
            </a:r>
          </a:p>
          <a:p xmlns:a="http://schemas.openxmlformats.org/drawingml/2006/main">
            <a:pPr algn="ctr">
              <a:def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低功耗唤醒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E0A798-2CA4-44BA-8F11-FDD69996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论文展开顺序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98A866-F38C-408C-ACFB-C46D76FA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33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227EE0-5B4D-4315-BDA5-33657DC0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先完成主控、显示触控、存储、RTC和电源硬件支撑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160EA0-E7D8-47E0-8CD7-293FE52D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53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51EEB1-3E07-4BA8-BB60-826EB895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6730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再通过FreeRTOS任务拆分解决视频、存储和网络并发问题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C87CDC-2F32-4D16-96A6-916282C9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72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97F715-AD33-4920-8113-BFE710CB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8640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最后用功能测试、功耗测试和OTA测试验证系统可用性</a:t>
            </a:r>
          </a:p>
        </p:txBody>
      </p:sp>
    </p:spTree>
    <p:extLst>
      <p:ext uri="{BB962C8B-B14F-4D97-AF65-F5344CB8AC3E}">
        <p14:creationId xmlns:p14="http://schemas.microsoft.com/office/powerpoint/2010/main" val="5722766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4CB6B4-BB0B-4466-AD06-EF3E8880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18352-809A-4E3A-918D-F3B0B623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90A3E-190D-4F66-8160-D4D1B338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5464E-FEC7-4FA7-967B-F112D933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583DF-8349-4022-80FE-B3B022E8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F09B8-B8C1-4AE0-8962-2F89F731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B6C8D-805D-443E-8810-C386E70B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A9E9C-9E96-4319-A5B6-8EB8540B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E6C48-EEB3-451E-80CA-9D50FA15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E91F4-A215-4F82-86EA-B556B427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FF524-C5EC-48F8-9324-6EF6CEBD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F81E7-8D49-426C-8182-75A4D754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EDFD1-9CA0-40D6-8512-34CA8A63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769D2-A9B4-4BD2-B219-987C0F5D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D02EB-41F5-4BB0-81AC-F1276509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03 硬件设计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3133D-05E5-4998-96C0-000A17CB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C2B72-F8B0-4660-9C42-66E98FFE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B30B4F-EAD9-4185-99CF-C0918A73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硬件设计一：主控最小系统与显示触控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AD2CBA-8E0D-4361-8A88-99DA96DD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硬件部分先保障算力、总线和交互输入输出，为后续图形与多媒体处理提供基础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691561-B344-4F9E-AB92-022C562A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C6D9E1-2779-411B-A7C9-3404C491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2956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212A78-909E-4E1C-8398-CF013717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1FE4ED-4C06-4FA6-B3B3-7BA98810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2933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ESP32-S3R8最小系统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2B10A6-0176-49FD-BC14-B2EFE4CB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9146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采用芯片级ESP32-S3R8，配合外部16MB Flash、40MHz晶振、复位与下载控制电路。双核240MHz处理器和片内8MB PSRAM用于图形缓存、多媒体帧数据与业务任务运行。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889141-B447-40B5-BF86-1B135721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32956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0B4C5E-1FA9-42AF-8DA0-A8626679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6690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FFE5AD-6788-46D7-9497-39468F8C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66900"/>
            <a:ext cx="2933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LCD显示接口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CFB5DE-8DEA-4861-B91B-9B1D73D8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24100"/>
            <a:ext cx="29146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1.83英寸240×284全彩屏，ST7789P3显示驱动采用SPI接口连接主控；背光通过PWM调节，显示数据通过SPI-DMA方式搬运，降低CPU占用。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6BD4F6-3911-4CE4-982E-32CBCAD0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32956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02DB06-B686-4B19-A383-2F7B1FF8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49641F-4FE1-462F-B730-7A9FBB76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66900"/>
            <a:ext cx="2933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电容触控接口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CBFE7E-43CF-4CC3-9C55-9217A078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29146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CST816T触控芯片通过I2C读取坐标，并利用中断引脚上报触摸事件。待机时保持低功耗扫描，触摸动作可作为系统唤醒来源。</a:t>
            </a:r>
          </a:p>
        </p:txBody>
      </p:sp>
    </p:spTree>
    <p:extLst>
      <p:ext uri="{BB962C8B-B14F-4D97-AF65-F5344CB8AC3E}">
        <p14:creationId xmlns:p14="http://schemas.microsoft.com/office/powerpoint/2010/main" val="14077424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D9732D-E92D-44DE-8ACC-C78DFA15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988A3-5AAC-4490-9EF8-5A49D67E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ABC0A-00F3-4B75-B035-D8115172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34D14-00D6-4E1B-9CB8-0D3B8E7E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0FF66-C217-4900-B7A7-1F5203BD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CE10F-0E44-4AAA-A0FE-FC431515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818B6-E478-4DA9-B84A-6E6EF69C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DB0FB-DE24-493E-AF5E-8D3BA8C6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32D1E-419D-4BB3-A422-890D4FFF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47375-F402-4F84-A2BA-E0DD8D7C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47F8F-82FF-4ACD-8A8A-C416CA07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C95F4-BDA0-4E38-93F3-35B75EA2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B57BFC-4233-4D64-9C65-5B5F666C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43B9A-2E12-4641-BD19-00E059C8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55438-8C84-4703-9EFA-6D8752EB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03 硬件设计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9538E-B985-4409-A7B5-049A0C60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EE2FF-61E4-4124-9DD6-B1B1031A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1FC53-0D07-4078-A3B4-1C7B1B4C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硬件设计二：时间、存储与电源路径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F0BD9C-10F8-4F9F-8B9C-8F0A457A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围绕可穿戴设备的长期使用，补齐断电守时、大容量数据和稳定供电能力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D682C-C913-48E8-84EE-743BE530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5FC33F-0226-402F-AAE9-C3DF538A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1907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73D2BC-BA84-4409-81B1-B39676DF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759B7D-5E6A-47D0-9A3F-65062144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716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RTC时间保持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0A17D1-6413-4194-8BC0-4E28C807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71750"/>
            <a:ext cx="1771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SD3078独立RTC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I2C通信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断电/断网守时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76CDC2-9C04-4827-BB9A-BEBBD68F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885950"/>
            <a:ext cx="21907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F399C9-700C-449B-B653-E5FBBE4E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8859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1A8803-2E2F-4A68-A991-BDC4FAA0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9716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Micro SD存储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BD88CE-74D0-44FC-8A9A-15A3130C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71750"/>
            <a:ext cx="1771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SPI模式挂载FatFS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保存小说、图片、视频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支持本地OTA固件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CA0525-04C4-4D93-A795-5EFDD509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85950"/>
            <a:ext cx="21907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60C12D-F83F-4C5C-9E7D-E3CA0AD2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859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C89C75-87D8-4A6C-BA28-559FB8DD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716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外部Flash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CAE248-9C98-464D-B16B-81EFB6BF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71750"/>
            <a:ext cx="1771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W25Q128 16MB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保存程序与静态资源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扩展非易失性空间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60090A-DA28-4C1D-B685-3CFC1FF1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85950"/>
            <a:ext cx="21907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C08957-3243-4A22-82D6-568721A7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859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69E2EC-A0D8-4BC3-85C1-4580B45F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9716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电源管理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ED6158-DB41-43C3-BB72-5A7667CA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71750"/>
            <a:ext cx="1771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锂电池充电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ME6217稳压3.3V</a:t>
            </a:r>
          </a:p>
          <a:p xmlns:a="http://schemas.openxmlformats.org/drawingml/2006/main">
            <a:pPr algn="ctr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背光与外设分级控制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45562C-A4B0-45FA-BD16-D092EE6F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硬件设计重点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606AEA-909D-4702-892E-86AAF845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62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0B2C79-DFC1-4F34-A5E4-645CD379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7680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所有高速链路均围绕供电滤波、信号完整性和接口可靠性设计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FCB97F-9C47-487E-8D56-F51FD4F9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00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50EDBC-8ABC-4728-8AD7-3FA622F6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149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显示、存储、网络与电源模块相互配合，支撑小体积手表的完整功能</a:t>
            </a:r>
          </a:p>
        </p:txBody>
      </p:sp>
    </p:spTree>
    <p:extLst>
      <p:ext uri="{BB962C8B-B14F-4D97-AF65-F5344CB8AC3E}">
        <p14:creationId xmlns:p14="http://schemas.microsoft.com/office/powerpoint/2010/main" val="9592080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72F3D8-F5C5-4130-8635-E951674E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42125-286B-4850-A6A5-FDFC3878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E9C18-98B7-4B71-94F6-EDFB81FC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D0CC5-23EA-4227-8EBD-A8CB8142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9283F-72D3-4667-9B3B-ED57BF18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5F281-669F-4511-A885-8CF6D3A2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2D7FC-0209-4269-94F4-EDFE9C6D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92461-1A82-44B8-A6DD-CDCC5242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D1DB3-B17F-4D46-AE7E-71F00A22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7D559-C840-495B-B093-C25B2E50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74EBD-8DFF-44D2-BC8D-4D39AE19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7F31F-BB02-47FE-AE11-2368A668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A2776-1242-4E5D-BE87-F40B1F4A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E3057-6D5A-4961-9968-B8E8BC8B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B7E65-5AF8-4C67-B0BB-DEDAA28C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04 软件设计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B8878-84CC-4665-9BD7-908600C3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1C9109-B0D6-4E20-B978-DDAAC6DD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351B4-F4E5-455E-BF26-A810B774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软件设计一：分层结构与任务调度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70A442-3592-4039-957A-1DB99C9B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软件采用硬件层、应用层、显示层分工，利用消息队列降低业务逻辑与UI刷新耦合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EE838C-3C5B-4B87-BB9B-2E742611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4B13C7-8E6C-4E2C-80AA-8ADE081F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02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86B9C6-1FD6-4631-BF7A-E941E898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020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206084-4494-4E46-B60A-CE3CB6E8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7716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硬件层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EA36EF-2BAF-4899-BD56-B1F209F9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81175"/>
            <a:ext cx="666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LCD显示、触摸、SD卡、Flash、RTC、WiFi、电源与唤醒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600789-CB5B-43AC-BA5A-0DE93B17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050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9C0630-602F-43AD-A338-45116E50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908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B40753-E10D-4CF1-9819-57019C6F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9080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74E925-6D6C-4B68-A470-0481850D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622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2FDACD-12A6-4323-844D-5E1CD5CA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666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时间天气、小说阅读、图片浏览、视频播放、游戏、OTA、功耗控制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836F21-8F94-45A5-8D0E-94C9F6D9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956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387F3F-16CA-480A-8205-AFAB75F3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81400"/>
            <a:ext cx="6048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8AE719-5AB0-4C60-A58E-CAB760DF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8140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002DFD-F6BF-4D53-B1B7-5BD16143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52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异步消息队列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7E1044-5D61-4F92-9D3B-545CB759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3952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业务状态统一上报，避免多个任务直接操作UI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3971DD-8DFF-4368-8AB5-BE086CE7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2862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1D52BF-DD9A-4709-8438-BB905306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720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251712-C038-4FC3-9CCF-DA074B28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7200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9E1A7D-B3C7-4946-9509-E1A5EE9E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434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显示层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3EA19A-BCD2-4962-B989-5825315D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52975"/>
            <a:ext cx="666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LVGL页面路由、控件刷新、触控事件分发、动画与状态呈现</a:t>
            </a:r>
          </a:p>
        </p:txBody>
      </p:sp>
    </p:spTree>
    <p:extLst>
      <p:ext uri="{BB962C8B-B14F-4D97-AF65-F5344CB8AC3E}">
        <p14:creationId xmlns:p14="http://schemas.microsoft.com/office/powerpoint/2010/main" val="13650973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2FC0FD-6B56-44DC-BAA9-C78BF719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271AE-5107-494B-860F-C3733A6F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F6F86-16F4-4D5D-B94C-460ED2D1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D3D85-87F2-45C4-8637-2027BC42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1878C-C7EB-4893-B832-1905355F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D7B02-3AD9-4B5C-BCB8-48BD3060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84988-B390-40DB-A160-E61361B3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8E22F-4907-4D4C-9687-64B38ED6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68E3A-C6A8-4F05-8469-798CC3E0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84F0E-EB73-4D09-BFBC-36CF5B58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9554A-7C41-4A76-AC82-6E564733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2E975-F4E0-4725-B102-8AFD78A4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769A0-E5F2-427E-8E46-632CD79C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920CA-5EF2-4070-9A41-995FB4B2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BE70C-76C3-446D-9611-17380D2E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04 软件设计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DC774-998A-45F4-8C8A-E595CA58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2A883-F1FA-4F55-B8C6-58D7BA1A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0F1272-5DAC-4610-BC24-8AE63EA2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软件设计二：核心功能流程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18AC2-691B-47B7-973E-60ABAF9A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按系统运行时的数据流，将多媒体、时间同步、OTA和低功耗逻辑串联起来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02C5E-5186-41FB-B36E-03D16DA2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1105CD-1B1D-4754-95F0-9CFA6779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72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A68CD8-DCD3-4265-88B7-771B9B1A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7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75F840-5B7A-445A-BCFE-3D87EBD6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SD多媒体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EA9B18-2AEF-4599-83A5-9D2C5EA5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47900"/>
            <a:ext cx="4038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文件扫描 → 路径解析 → 分块读取 → 图片/视频/小说刷新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8BCA28-3EEC-41B5-BAFA-D9FFBC57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4572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005241-49C8-48BF-821B-0C6E1DF0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457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8D7900-DBCF-40B2-990D-7189894F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时间同步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215D9A-2292-4D7D-A853-20E30F08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47900"/>
            <a:ext cx="4038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RTC读时 → NTP校准 → 写入RTC → 表盘同步显示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779F93-6620-4730-B56F-20BA1FF6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4572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25A481-3F83-410C-B69A-5202E569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457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929D02-ED4F-4628-99CC-7781C28D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956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OTA升级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DDBDAD-70F7-4CDB-A5AB-890FC79F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81450"/>
            <a:ext cx="4038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本地SD卡或OneNET通知 → 写入备份分区 → 校验 → 重启或点击跳转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17BC52-F08E-4EF0-B1EC-7BC563DC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4572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0C00F6-3FF5-49A4-8D97-8907F04E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457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EEA51A-39C3-4423-8E60-D32E4C9B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956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低功耗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F89469-4742-4AF8-9A0E-039D4682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81450"/>
            <a:ext cx="4038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空闲检测/长按确认键 → 关闭外设 → 设置唤醒源 → 进入休眠</a:t>
            </a:r>
          </a:p>
        </p:txBody>
      </p:sp>
    </p:spTree>
    <p:extLst>
      <p:ext uri="{BB962C8B-B14F-4D97-AF65-F5344CB8AC3E}">
        <p14:creationId xmlns:p14="http://schemas.microsoft.com/office/powerpoint/2010/main" val="13866745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A6369D-71B6-4722-9058-D14FCD41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D2407-097B-4D37-BDB2-170FF1D2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6C3D4-B19E-47A4-AE12-BEB84E53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C2C79-6BA0-4049-BABF-A9DDBEDE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260D9-BB08-40C0-B2B5-D0A4819C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0CA21-7011-4636-BF87-B5C2B3C7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2E569-9F31-419C-A94B-F8923D96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0858E-7053-4474-BC42-AF99A92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DCBAA-1DA7-4DF6-9F97-B0D18136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BF306-E4A5-4B1D-8852-F7C30241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DEFED-0871-495B-AE3F-87BA5840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A5033-DC23-4CAB-AD04-8A9F511D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A4F3F-B832-483E-B1F6-3B7790FB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5CF7D-DBD2-46B1-8094-BF6CD681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79AA6-F810-480A-BF73-7A1A3211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05 系统调试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772212-B1E6-458A-BFF2-26CDC875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C224FF-7A4A-4E9B-9790-399DBD0C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15565-11F7-4DC1-B9F1-EC0527D1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系统调试一：主要功能测试结果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77A0D2-7572-4525-A6B0-523C8A60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把论文中的功能表转为答辩可读的测试列表，只保留结论和关键现象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C6EA41-66ED-49CD-8463-3BFDCCE3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EE1ACF-9960-44B3-9669-E40A6254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0020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E31C0-8E9E-441F-B4D9-B0568A2E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2402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手势交互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79C823-F4B9-494E-9E6F-7E481C4A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24025"/>
            <a:ext cx="7953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表盘、主菜单、快捷面板切换正常；快速滑动时偶有轻微撕裂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5E03B6-943D-4D71-9889-9AD7F924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78A0B1-FC5F-4465-A7EF-71DCD43D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669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图片与壁纸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2C1C48-27F3-48BA-A7D4-55ACB3C4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66975"/>
            <a:ext cx="7953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支持SD卡图片浏览和壁纸更换；大图快速翻页会受SD卡读取与解码影响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37ACF4-27DC-4FEB-ABC3-8242FDC4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19A2D6-9FDE-4C29-8375-D6190305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992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视频播放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A580BD-D649-41FA-9894-A71DF6FF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09925"/>
            <a:ext cx="7953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MJPEG播放可连续显示，平均约25fps；高负载下允许少量掉帧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6D0C7C-6D7D-4CC9-BF0A-C95C924C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2A4405-D379-4B7E-865A-F08E5F2B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528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小说阅读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22993A-69C6-4218-8738-7DF78959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52875"/>
            <a:ext cx="7953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TXT分屏读取并支持断点续读，打开文件可回到上次阅读位置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D14818-2B3D-4747-913D-A3D9D4A3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E4842E-9982-42B9-80DF-010C2FEA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9582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网络与OTA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33790F-31ED-498C-BB7B-2AC2178C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95825"/>
            <a:ext cx="7953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WiFi连接、天气、NTP、OneNET通信、本地/云端OTA均完成验证</a:t>
            </a:r>
          </a:p>
        </p:txBody>
      </p:sp>
    </p:spTree>
    <p:extLst>
      <p:ext uri="{BB962C8B-B14F-4D97-AF65-F5344CB8AC3E}">
        <p14:creationId xmlns:p14="http://schemas.microsoft.com/office/powerpoint/2010/main" val="19653304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728943-7D52-48EB-A2B0-8DEB79FA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A7776-651E-44FF-AB49-F4FC8F7A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98772-C157-47C0-AEFD-7F6C0B8C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6FEC4-BB0D-428A-920B-1FF19271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E0532-22F3-4457-8908-6F840EA3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9718E-BAEB-47F4-A027-F1A51AFB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17AC7-10D9-406C-8AC0-C20A3DC3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120C9-937F-4240-A9BF-0598CB82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E64344-4272-46AE-96AD-79DF4F8F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86F18-32AE-43F9-843C-902E2FC3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B4B9C-C92B-47D3-B215-CB49C8C7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A8F19B-ED68-421F-A95E-719D734D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C58E4-8050-4C8A-B1D2-DF31620D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271E6-64C1-4A3F-A314-6210F260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6E0F7-6C17-4E99-8F59-78478699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05 系统调试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DD237-4404-4DDA-AF4A-2EE7ED96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BB23A-7C4D-4359-8A5B-8F4E91B6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684046-3F7D-48CA-A2DD-91197026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系统调试二：功耗与续航测试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7F2C8E-F044-4FDC-AF38-22E33DAE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亮屏电流受亮度和WiFi影响明显，双级休眠能显著降低待机电流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AD4382-C304-4464-95D8-73175D5B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79EF8B-7CC4-4E96-B207-64E69896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859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100%亮度+WiFi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EB4ECD-D7B4-4BA2-80E7-05EAA022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4310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6"/>
          </a:solidFill>
          <a:ln xmlns:a="http://schemas.openxmlformats.org/drawingml/2006/main" w="9525">
            <a:solidFill>
              <a:srgbClr val="E4EE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D0A144-B68E-48DA-8DB3-06C95741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4310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555"/>
          </a:solidFill>
          <a:ln xmlns:a="http://schemas.openxmlformats.org/drawingml/2006/main" w="9525">
            <a:solidFill>
              <a:srgbClr val="E255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74EBDC-67F2-40B4-A4F3-50BA1172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859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25555"/>
                </a:solidFill>
                <a:latin typeface="Microsoft YaHei"/>
                <a:ea typeface="Microsoft YaHei"/>
                <a:cs typeface="Microsoft YaHei"/>
              </a:rPr>
              <a:t>0.233A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26A24B-5F21-451B-A271-93EC78EA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859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约1.9h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8A30F2-AE4F-4D70-AE38-ADFEAB8C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289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10%亮度+无WiFi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AABD34-0A07-4345-97DB-4E196943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8605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6"/>
          </a:solidFill>
          <a:ln xmlns:a="http://schemas.openxmlformats.org/drawingml/2006/main" w="9525">
            <a:solidFill>
              <a:srgbClr val="E4EE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2AC35A-6DFB-4ABF-9664-29898F47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86050"/>
            <a:ext cx="144632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9525">
            <a:solidFill>
              <a:srgbClr val="18A6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92AA69-285A-4C37-B823-8D8BB7DD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A66A"/>
                </a:solidFill>
                <a:latin typeface="Microsoft YaHei"/>
                <a:ea typeface="Microsoft YaHei"/>
                <a:cs typeface="Microsoft YaHei"/>
              </a:rPr>
              <a:t>0.058A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E600CC-5A4A-4358-82F9-B9459C14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289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约7.7h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464E5D-DE10-4715-9412-B7E653F4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718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LightSleep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780318-B9F8-4E19-BE72-ACCD0F48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2900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6"/>
          </a:solidFill>
          <a:ln xmlns:a="http://schemas.openxmlformats.org/drawingml/2006/main" w="9525">
            <a:solidFill>
              <a:srgbClr val="E4EEF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71283B-2596-4B68-9BC3-88814E62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29000"/>
            <a:ext cx="199494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9525">
            <a:solidFill>
              <a:srgbClr val="0B62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1EA4F0-C58C-4F24-86B0-92B2682A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718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0.008A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80BD61-B747-42EE-97A5-F778DC50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718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约56h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FF6B48-4D90-4285-95AA-9E64E9D6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148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DeepSleep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049133-A018-46E8-8D88-60B1CE16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7195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6"/>
          </a:solidFill>
          <a:ln xmlns:a="http://schemas.openxmlformats.org/drawingml/2006/main" w="9525">
            <a:solidFill>
              <a:srgbClr val="E4EEF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D2B635-E8C6-4F52-82D9-13CFC424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71950"/>
            <a:ext cx="14962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9525">
            <a:solidFill>
              <a:srgbClr val="20A8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113634-662B-4CE9-813D-F5B8EF8D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148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A8C7"/>
                </a:solidFill>
                <a:latin typeface="Microsoft YaHei"/>
                <a:ea typeface="Microsoft YaHei"/>
                <a:cs typeface="Microsoft YaHei"/>
              </a:rPr>
              <a:t>0.006A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64E387-6A4F-4971-9E43-B7066CF4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148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约75h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D0E88B-DCC7-4D40-BAD4-0601A1C4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8392FB-7D27-4384-9669-BC2680E0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006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55A925-4F11-4796-B5E8-A067C87B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1435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亮度调节、WiFi按需启停、LightSleep短待机和DeepSleep长待机共同构成能耗管理方案，兼顾响应速度与续航。</a:t>
            </a:r>
          </a:p>
        </p:txBody>
      </p:sp>
    </p:spTree>
    <p:extLst>
      <p:ext uri="{BB962C8B-B14F-4D97-AF65-F5344CB8AC3E}">
        <p14:creationId xmlns:p14="http://schemas.microsoft.com/office/powerpoint/2010/main" val="72100380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EBBC68-FAFF-4023-B2A3-F2C41DB7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B43B2-27C2-48DD-8BA5-B5D8CEF5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254B0-AA69-4823-B91B-CED63589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68889-FA63-43FA-93AF-B729CA26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8223B-796B-44EE-A2BC-7E68BC63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1CB84-B2F6-4CF1-AF7D-296ECA74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4CE3D-066A-47FB-8518-66716D50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7D348-8E58-41B8-8723-FADE2BA3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668BD-6492-4133-BEDB-337EA241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ADB60-A45F-4DCF-9957-7B3BE88D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844F8-2180-470C-A6D2-222D1544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6AFA5-C641-45E6-8098-AD1A8600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912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B14B4-8FA0-4CA6-8702-5DE8231A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3246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DA945-C630-4779-8C8E-89DE2D48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45795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625AC-D98C-4311-BCDC-9C520759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06 总结与展望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A98A3B-2D78-4A77-BAD8-F34E04F7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FC691-1F32-4703-9AFC-1368B0F5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7067B-BB99-49D2-AF0D-3A33CA01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总结与未来展望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897800-5741-41BD-9773-77FDA044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本课题完成了从硬件搭建、软件实现到系统测试的完整闭环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D0A256-BA16-4B63-8F1D-8B4EBAEA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77B5A4-6F89-4D18-91C6-91E7CBBD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47625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D8DB68-DF8C-4ABA-8DD0-70287BDD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62999F-D2AE-4C4F-92D7-B5A01A55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66900"/>
            <a:ext cx="4400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62A8"/>
                </a:solidFill>
                <a:latin typeface="Microsoft YaHei"/>
                <a:ea typeface="Microsoft YaHei"/>
                <a:cs typeface="Microsoft YaHei"/>
              </a:rPr>
              <a:t>研究总结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DD5E2D-228B-4980-BFC3-DFC8D560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24100"/>
            <a:ext cx="4381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完成基于ESP32-S3R8的低功耗触控智能手表原型，实现表盘显示、触摸交互、SD卡多媒体、小说阅读、小游戏、网络校时、天气获取、OneNET通信、本地与云端OTA升级以及双级休眠管理。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6832F4-B2E4-4743-AB23-D910507E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954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13FE30-EAC0-4E15-8154-1EC02A43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954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F7420C-032F-484D-8DBD-10C9D095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19275"/>
            <a:ext cx="1047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性能优化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8ABB3C-6E7A-465B-81EF-82802317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276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继续优化SPI刷新、MJPEG解码和SD卡读取调度，减少高负载下卡顿与撕裂。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B11D15-4FB8-4AD9-8E98-E6637F85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546D97-AAF2-4B16-808C-4FB4492A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F3BBBC-47C1-4EE6-83AD-41DE8EE5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52725"/>
            <a:ext cx="1047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功耗优化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A5DFBD-F7C5-4F7C-B674-90F440AA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43200"/>
            <a:ext cx="276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细化外设电源门控与网络唤醒策略，提高实际穿戴场景下的续航。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1943CE-A702-4D78-8FFF-986D4145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2A3478-9077-449D-8CF0-28DA8D69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810E74-9872-499F-9BD9-FA5483E2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86175"/>
            <a:ext cx="1047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功能拓展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413E5E-1FC2-44F4-9C76-A01661DA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76650"/>
            <a:ext cx="276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7387"/>
                </a:solidFill>
                <a:latin typeface="Microsoft YaHei"/>
                <a:ea typeface="Microsoft YaHei"/>
                <a:cs typeface="Microsoft YaHei"/>
              </a:rPr>
              <a:t>增加传感器、健康监测、移动端同步和更完善的云端数据管理能力。</a:t>
            </a:r>
          </a:p>
        </p:txBody>
      </p:sp>
    </p:spTree>
    <p:extLst>
      <p:ext uri="{BB962C8B-B14F-4D97-AF65-F5344CB8AC3E}">
        <p14:creationId xmlns:p14="http://schemas.microsoft.com/office/powerpoint/2010/main" val="1158453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2026-05-25T17:00:38.7540000Z</dcterms:created>
  <dcterms:modified xsi:type="dcterms:W3CDTF">2026-05-25T17:00:38.7540000Z</dcterms:modified>
</coreProperties>
</file>