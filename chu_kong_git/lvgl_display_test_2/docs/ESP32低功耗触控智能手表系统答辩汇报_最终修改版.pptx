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9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26B6C-0979-40A8-9073-4A1087BD516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26B6C-0979-40A8-9073-4A1087BD516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041B7F-5A8D-4B3B-B29C-72AB6388C7A7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15B64B-DB18-4052-B355-66F082666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52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microsoft.com/office/2007/relationships/hdphoto" Target="../media/hdphoto1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33552" y="2276872"/>
            <a:ext cx="11855877" cy="4532670"/>
            <a:chOff x="133552" y="2276872"/>
            <a:chExt cx="11855877" cy="4532670"/>
          </a:xfrm>
        </p:grpSpPr>
        <p:grpSp>
          <p:nvGrpSpPr>
            <p:cNvPr id="7" name="组合 6"/>
            <p:cNvGrpSpPr/>
            <p:nvPr/>
          </p:nvGrpSpPr>
          <p:grpSpPr>
            <a:xfrm>
              <a:off x="4682790" y="4910887"/>
              <a:ext cx="2826415" cy="777197"/>
              <a:chOff x="4682790" y="4900498"/>
              <a:chExt cx="2826415" cy="777197"/>
            </a:xfrm>
          </p:grpSpPr>
          <p:sp>
            <p:nvSpPr>
              <p:cNvPr id="14" name="文本框 18"/>
              <p:cNvSpPr txBox="1">
                <a:spLocks noChangeArrowheads="1"/>
              </p:cNvSpPr>
              <p:nvPr/>
            </p:nvSpPr>
            <p:spPr bwMode="auto">
              <a:xfrm>
                <a:off x="4682790" y="5277585"/>
                <a:ext cx="28264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指导老师：微信公众号</a:t>
                </a:r>
              </a:p>
            </p:txBody>
          </p:sp>
          <p:sp>
            <p:nvSpPr>
              <p:cNvPr id="15" name="文本框 20"/>
              <p:cNvSpPr txBox="1">
                <a:spLocks noChangeArrowheads="1"/>
              </p:cNvSpPr>
              <p:nvPr/>
            </p:nvSpPr>
            <p:spPr bwMode="auto">
              <a:xfrm>
                <a:off x="4988558" y="4900498"/>
                <a:ext cx="2214880" cy="706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答辩人：河理星球</a:t>
                </a:r>
              </a:p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133552" y="2276872"/>
              <a:ext cx="11855877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72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河南理工大学答辩开题</a:t>
              </a:r>
              <a:endParaRPr lang="en-US" altLang="zh-CN" sz="7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72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工作汇报通用模板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5159896" y="6441242"/>
              <a:ext cx="1746919" cy="368300"/>
              <a:chOff x="5159896" y="6441242"/>
              <a:chExt cx="1746919" cy="36830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5485478" y="6441242"/>
                <a:ext cx="109728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</a:rPr>
                  <a:t>河理星球</a:t>
                </a:r>
                <a:endParaRPr lang="zh-CN" altLang="en-US" b="1" baseline="300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159896" y="6659618"/>
                <a:ext cx="32346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6583346" y="6640337"/>
                <a:ext cx="32346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直接连接符 9"/>
            <p:cNvCxnSpPr/>
            <p:nvPr/>
          </p:nvCxnSpPr>
          <p:spPr>
            <a:xfrm>
              <a:off x="1703512" y="4751980"/>
              <a:ext cx="8659688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757573" y="1245579"/>
            <a:ext cx="609600" cy="6096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9336" y="617772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Segoe UI Semilight" panose="020B0402040204020203" pitchFamily="34" charset="0"/>
              </a:rPr>
              <a:t>明德任责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 cstate="print">
            <a:alphaModFix amt="1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5162"/>
          <a:stretch>
            <a:fillRect/>
          </a:stretch>
        </p:blipFill>
        <p:spPr>
          <a:xfrm>
            <a:off x="-1680864" y="-1203999"/>
            <a:ext cx="4968552" cy="4899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525" y="836712"/>
            <a:ext cx="4644190" cy="113742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6" cstate="print">
            <a:alphaModFix amt="1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5162"/>
          <a:stretch>
            <a:fillRect/>
          </a:stretch>
        </p:blipFill>
        <p:spPr>
          <a:xfrm>
            <a:off x="8965283" y="2985401"/>
            <a:ext cx="4968552" cy="48991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-935644" y="-11216520"/>
            <a:ext cx="13681520" cy="136815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804174" y="113311"/>
            <a:ext cx="2583652" cy="1355945"/>
            <a:chOff x="4804174" y="116632"/>
            <a:chExt cx="2583652" cy="1355945"/>
          </a:xfrm>
        </p:grpSpPr>
        <p:sp>
          <p:nvSpPr>
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4804174" y="1010912"/>
              <a:ext cx="25836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865755" algn="l"/>
                </a:tabLst>
              </a:pPr>
              <a:r>
                <a:rPr lang="en-US" altLang="zh-CN" sz="2400" b="1" dirty="0">
                  <a:solidFill>
                    <a:srgbClr val="2F5597"/>
                  </a:solidFill>
                  <a:latin typeface="Arial" panose="020B0604020202020204"/>
                  <a:ea typeface="微软雅黑" panose="020B0503020204020204" pitchFamily="34" charset="-122"/>
                  <a:sym typeface="Calibri" panose="020F0502020204030204" pitchFamily="34" charset="0"/>
                </a:rPr>
                <a:t>CONTENTS</a:t>
              </a:r>
            </a:p>
          </p:txBody>
        </p:sp>
        <p:sp>
          <p:nvSpPr>
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4890870" y="116632"/>
              <a:ext cx="2410259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865755" algn="l"/>
                </a:tabLst>
              </a:pPr>
              <a:r>
                <a:rPr lang="zh-CN" altLang="en-US" sz="5400" b="1" dirty="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目 录</a:t>
              </a:r>
              <a:endParaRPr lang="en-US" altLang="zh-CN" sz="5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245727" y="1010912"/>
              <a:ext cx="1699856" cy="0"/>
            </a:xfrm>
            <a:prstGeom prst="line">
              <a:avLst/>
            </a:prstGeom>
            <a:ln w="38100">
              <a:solidFill>
                <a:srgbClr val="2F5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1055440" y="2780928"/>
            <a:ext cx="10309062" cy="3146107"/>
            <a:chOff x="1055440" y="2996952"/>
            <a:chExt cx="10309062" cy="3146107"/>
          </a:xfrm>
        </p:grpSpPr>
        <p:grpSp>
          <p:nvGrpSpPr>
            <p:cNvPr id="11" name="组合 10"/>
            <p:cNvGrpSpPr/>
            <p:nvPr/>
          </p:nvGrpSpPr>
          <p:grpSpPr>
            <a:xfrm>
              <a:off x="1055440" y="2996952"/>
              <a:ext cx="10309062" cy="3146107"/>
              <a:chOff x="1055440" y="2996952"/>
              <a:chExt cx="10309062" cy="3146107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1055440" y="2996952"/>
                <a:ext cx="4143251" cy="884773"/>
                <a:chOff x="856120" y="2669246"/>
                <a:chExt cx="4143251" cy="884773"/>
              </a:xfrm>
            </p:grpSpPr>
            <p:sp>
              <p:nvSpPr>
                <p:cNvPr id="32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705521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请输入你的标题</a:t>
                  </a: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705521" y="3184687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Calibri Light" panose="020F0302020204030204" pitchFamily="34" charset="0"/>
                      <a:ea typeface="方正兰亭黑_GBK"/>
                    </a:rPr>
                    <a:t>ADD YOUR TITLE HERE ADD YOUR</a:t>
                  </a:r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56120" y="2700642"/>
                  <a:ext cx="722490" cy="72249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1135B9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135B9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135B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1055440" y="4106650"/>
                <a:ext cx="4081138" cy="845400"/>
                <a:chOff x="856120" y="2669246"/>
                <a:chExt cx="4081138" cy="845400"/>
              </a:xfrm>
            </p:grpSpPr>
            <p:sp>
              <p:nvSpPr>
                <p:cNvPr id="29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705521" y="2669246"/>
                  <a:ext cx="2805576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请输入你的标题</a:t>
                  </a:r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1643408" y="3145314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Calibri Light" panose="020F0302020204030204" pitchFamily="34" charset="0"/>
                      <a:ea typeface="方正兰亭黑_GBK"/>
                    </a:rPr>
                    <a:t>ADD YOUR TITLE HERE ADD YOUR</a:t>
                  </a:r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>
                  <a:off x="856120" y="2700642"/>
                  <a:ext cx="722490" cy="72249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1135B9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135B9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135B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1055440" y="5274230"/>
                <a:ext cx="4081138" cy="868829"/>
                <a:chOff x="856120" y="2669246"/>
                <a:chExt cx="4081138" cy="868829"/>
              </a:xfrm>
            </p:grpSpPr>
            <p:sp>
              <p:nvSpPr>
                <p:cNvPr id="26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705521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请输入你的标题</a:t>
                  </a: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643408" y="3168743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Calibri Light" panose="020F0302020204030204" pitchFamily="34" charset="0"/>
                      <a:ea typeface="方正兰亭黑_GBK"/>
                    </a:rPr>
                    <a:t>ADD YOUR TITLE HERE ADD YOUR</a:t>
                  </a: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856120" y="2700642"/>
                  <a:ext cx="722490" cy="72249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1135B9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135B9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135B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176120" y="2996952"/>
                <a:ext cx="4188382" cy="875751"/>
                <a:chOff x="812733" y="2669246"/>
                <a:chExt cx="4188382" cy="875751"/>
              </a:xfrm>
            </p:grpSpPr>
            <p:sp>
              <p:nvSpPr>
                <p:cNvPr id="23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662134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请输入你的标题</a:t>
                  </a: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1707265" y="3175665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Calibri Light" panose="020F0302020204030204" pitchFamily="34" charset="0"/>
                      <a:ea typeface="方正兰亭黑_GBK"/>
                    </a:rPr>
                    <a:t>ADD YOUR TITLE HERE ADD YOUR</a:t>
                  </a:r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812733" y="2700642"/>
                  <a:ext cx="722490" cy="72249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1135B9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135B9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135B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7176277" y="4164081"/>
                <a:ext cx="4143680" cy="858950"/>
                <a:chOff x="812733" y="2669246"/>
                <a:chExt cx="4143680" cy="858950"/>
              </a:xfrm>
            </p:grpSpPr>
            <p:sp>
              <p:nvSpPr>
                <p:cNvPr id="20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662134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请输入你的标题</a:t>
                  </a: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1662563" y="3158864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Calibri Light" panose="020F0302020204030204" pitchFamily="34" charset="0"/>
                      <a:ea typeface="方正兰亭黑_GBK"/>
                    </a:rPr>
                    <a:t>ADD YOUR TITLE HERE ADD YOUR</a:t>
                  </a:r>
                </a:p>
              </p:txBody>
            </p:sp>
            <p:sp>
              <p:nvSpPr>
                <p:cNvPr id="22" name="椭圆 21"/>
                <p:cNvSpPr/>
                <p:nvPr/>
              </p:nvSpPr>
              <p:spPr>
                <a:xfrm>
                  <a:off x="812733" y="2700642"/>
                  <a:ext cx="722490" cy="72249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1135B9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135B9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135B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6"/>
            <p:cNvSpPr txBox="1">
              <a:spLocks noChangeArrowheads="1"/>
            </p:cNvSpPr>
            <p:nvPr/>
          </p:nvSpPr>
          <p:spPr bwMode="auto">
            <a:xfrm>
              <a:off x="8025092" y="5221552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请输入你的标题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8025521" y="5711170"/>
              <a:ext cx="3293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Calibri Light" panose="020F0302020204030204" pitchFamily="34" charset="0"/>
                  <a:ea typeface="方正兰亭黑_GBK"/>
                </a:rPr>
                <a:t>ADD YOUR TITLE HERE ADD YOUR</a:t>
              </a:r>
            </a:p>
          </p:txBody>
        </p:sp>
        <p:sp>
          <p:nvSpPr>
            <p:cNvPr id="14" name="椭圆 13"/>
            <p:cNvSpPr/>
            <p:nvPr/>
          </p:nvSpPr>
          <p:spPr>
            <a:xfrm>
              <a:off x="7175691" y="5252948"/>
              <a:ext cx="722490" cy="72249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1135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1135B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135B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09B134F-CED9-47A2-88F8-4CBF2055E8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02536E-2518-4F81-B82A-70E79D9D974C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42BFDE-E6D1-4556-BF80-4AAD99412E3A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3E15A0-EBC3-455E-86D0-647DDE3B846B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378CBF-3459-42FD-9C36-D2171B02CCCA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B4670D-6095-4B2B-91A1-E1C48E6DAC61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8407B9-6185-40A1-8DF6-43BCE6B1E29C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A273F2-C206-4D34-87DA-2D2696E10A65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057E89-3DDD-4188-9890-ADDD10FD66CB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DFE998-68D0-45A6-AD06-874BEEECB00F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4A6D8D-4BA2-4AE3-8F6A-2248E52D6EC7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950874-7C84-46CE-AFCE-5DF2A0AD45E9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ED53C1-349D-41D3-BD77-E6B6D4217DCA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57D39D-4195-4EF3-952F-7A012315D212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8FE2FA-615B-496D-A49D-D5E3F3DF9EE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AE4D21-325F-4B30-816F-E42ED149310E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绪论：研究背景与意义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650A3E-9AA2-4A6C-A40E-0E7EC0770383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F382F0-FE23-4D81-AF95-79ECF0F692CF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31432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134C9E-F69B-40FB-AB15-636F3360888B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76200" cy="43815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641CDA-E476-46FA-A72F-366E32BDE7A9}"/>
              </a:ext>
            </a:extLst>
          </p:cNvPr>
          <p:cNvSpPr>
            <a:spLocks noGrp="1"/>
          </p:cNvSpPr>
          <p:nvPr/>
        </p:nvSpPr>
        <p:spPr>
          <a:xfrm>
            <a:off x="1047750" y="196215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8400BB-137E-4190-BC24-0B56D84E0269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2743200" cy="194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物联网与微电子技术推动智能手表由计时工具发展为个人智能终端，可承担信息交互、健康监测、运动提醒和云端同步等任务</a:t>
            </a:r>
            <a:r>
              <a:rPr sz="1275" b="0" dirty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3F423C-EAF2-42C5-989C-B215542B2D92}"/>
              </a:ext>
            </a:extLst>
          </p:cNvPr>
          <p:cNvSpPr>
            <a:spLocks noGrp="1"/>
          </p:cNvSpPr>
          <p:nvPr/>
        </p:nvSpPr>
        <p:spPr>
          <a:xfrm>
            <a:off x="4533900" y="1790700"/>
            <a:ext cx="31432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CEE0AC-85F1-448B-BFC0-16BF871F9B66}"/>
              </a:ext>
            </a:extLst>
          </p:cNvPr>
          <p:cNvSpPr>
            <a:spLocks noGrp="1"/>
          </p:cNvSpPr>
          <p:nvPr/>
        </p:nvSpPr>
        <p:spPr>
          <a:xfrm>
            <a:off x="4533900" y="1943100"/>
            <a:ext cx="76200" cy="438150"/>
          </a:xfrm>
          <a:prstGeom prst="rect">
            <a:avLst/>
          </a:prstGeom>
          <a:solidFill>
            <a:srgbClr val="20A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89AADE-D35E-4EFC-AD0C-1685EBB1074F}"/>
              </a:ext>
            </a:extLst>
          </p:cNvPr>
          <p:cNvSpPr>
            <a:spLocks noGrp="1"/>
          </p:cNvSpPr>
          <p:nvPr/>
        </p:nvSpPr>
        <p:spPr>
          <a:xfrm>
            <a:off x="4762500" y="196215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现实问题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9F90D7-3D86-4F3E-BC4A-55AA253802CB}"/>
              </a:ext>
            </a:extLst>
          </p:cNvPr>
          <p:cNvSpPr>
            <a:spLocks noGrp="1"/>
          </p:cNvSpPr>
          <p:nvPr/>
        </p:nvSpPr>
        <p:spPr>
          <a:xfrm>
            <a:off x="4762500" y="2438400"/>
            <a:ext cx="2743200" cy="194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低功耗手环算力有限，图形交互和多媒体能力不足；高端智能手表性能强但成本高、系统复杂，不利于低成本嵌入式方案落地</a:t>
            </a:r>
            <a:r>
              <a:rPr sz="1275" b="0" dirty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9E139A-42C9-48CA-81B5-998F1E680398}"/>
              </a:ext>
            </a:extLst>
          </p:cNvPr>
          <p:cNvSpPr>
            <a:spLocks noGrp="1"/>
          </p:cNvSpPr>
          <p:nvPr/>
        </p:nvSpPr>
        <p:spPr>
          <a:xfrm>
            <a:off x="8248650" y="1790700"/>
            <a:ext cx="31432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6F8157-B36A-4816-A77F-EAB1BB525066}"/>
              </a:ext>
            </a:extLst>
          </p:cNvPr>
          <p:cNvSpPr>
            <a:spLocks noGrp="1"/>
          </p:cNvSpPr>
          <p:nvPr/>
        </p:nvSpPr>
        <p:spPr>
          <a:xfrm>
            <a:off x="8248650" y="1943100"/>
            <a:ext cx="76200" cy="438150"/>
          </a:xfrm>
          <a:prstGeom prst="rect">
            <a:avLst/>
          </a:prstGeom>
          <a:solidFill>
            <a:srgbClr val="18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AEC97C-6C59-408A-A485-EF89400191F3}"/>
              </a:ext>
            </a:extLst>
          </p:cNvPr>
          <p:cNvSpPr>
            <a:spLocks noGrp="1"/>
          </p:cNvSpPr>
          <p:nvPr/>
        </p:nvSpPr>
        <p:spPr>
          <a:xfrm>
            <a:off x="8477250" y="196215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课题意义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85A6227-E9C4-46FE-9B45-845CF44DE762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743200" cy="194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基于ESP32-S3R8、FreeRTOS和LVGL实现低功耗触控手表原型，验证MCU平台在图形界面、多媒体、网络协同和OTA维护方面的可行性。</a:t>
            </a:r>
          </a:p>
        </p:txBody>
      </p:sp>
    </p:spTree>
    <p:extLst>
      <p:ext uri="{BB962C8B-B14F-4D97-AF65-F5344CB8AC3E}">
        <p14:creationId xmlns:p14="http://schemas.microsoft.com/office/powerpoint/2010/main" val="495100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FD9EDD50-FFCE-493E-BCCB-496259EA91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23A17A-1FCB-4923-B2C0-7AC5995E1169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94590-9217-4E3B-AF26-0FBCB68904DF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9C3D18-0506-478F-A089-804A2A80575B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B7703C-3730-4DDF-8ECD-58753B0A4A63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1D7DD8-B7B8-445B-95B2-DFF85E6233B4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7EA990-54F4-4163-B76A-ACDDCFE25B7F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C1E803-58EF-411E-B5D6-3E2D328E32F9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6805C4-AA16-4AD2-940C-4CCFDF23CAA0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8E31E9-D48A-470B-9B9A-FEE07F522B68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511563-EEB0-4BAA-B428-983AE3AD7309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833A77-5C04-44A9-A913-27AB33F1EBA4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455FF4-7CEC-4A3D-BE0B-DED996B81DCF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0C135F-876E-434A-9F77-2E8298C35A1D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2C9134-1FE7-4C14-AE4F-148FBDC176B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C398F2-4CF5-4DF9-A7FB-BAB20270486A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总体需求：功能需求与性能指标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639499-D810-49FC-A4C8-A76C65F07606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901048-6010-4AAF-AE9D-88161807C0BD}"/>
              </a:ext>
            </a:extLst>
          </p:cNvPr>
          <p:cNvSpPr>
            <a:spLocks noGrp="1"/>
          </p:cNvSpPr>
          <p:nvPr/>
        </p:nvSpPr>
        <p:spPr>
          <a:xfrm>
            <a:off x="704850" y="16002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功能需求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275ACF-E62B-413F-9CA2-DB71DD86002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7837D6-4E60-4281-B8F0-5B56420CF098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D7DE7B-F580-4E64-BD6A-EF795BE16845}"/>
              </a:ext>
            </a:extLst>
          </p:cNvPr>
          <p:cNvSpPr>
            <a:spLocks noGrp="1"/>
          </p:cNvSpPr>
          <p:nvPr/>
        </p:nvSpPr>
        <p:spPr>
          <a:xfrm>
            <a:off x="1276350" y="2143125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时间天气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5F1B4D-8545-4A3A-BD85-BDD8619F4858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1409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RTC守时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NTP校时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天气获取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DF56333-E566-4F29-ADDB-397C25F9D1D7}"/>
              </a:ext>
            </a:extLst>
          </p:cNvPr>
          <p:cNvSpPr>
            <a:spLocks noGrp="1"/>
          </p:cNvSpPr>
          <p:nvPr/>
        </p:nvSpPr>
        <p:spPr>
          <a:xfrm>
            <a:off x="2876550" y="20002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440CF8-FB38-4EE7-B05C-E3114813EC07}"/>
              </a:ext>
            </a:extLst>
          </p:cNvPr>
          <p:cNvSpPr>
            <a:spLocks noGrp="1"/>
          </p:cNvSpPr>
          <p:nvPr/>
        </p:nvSpPr>
        <p:spPr>
          <a:xfrm>
            <a:off x="2990850" y="2143125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9BA605-97AD-41B9-8733-D51068F0325B}"/>
              </a:ext>
            </a:extLst>
          </p:cNvPr>
          <p:cNvSpPr>
            <a:spLocks noGrp="1"/>
          </p:cNvSpPr>
          <p:nvPr/>
        </p:nvSpPr>
        <p:spPr>
          <a:xfrm>
            <a:off x="3467100" y="2143125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图形交互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7440E2-6219-4C93-9382-1A49F8578047}"/>
              </a:ext>
            </a:extLst>
          </p:cNvPr>
          <p:cNvSpPr>
            <a:spLocks noGrp="1"/>
          </p:cNvSpPr>
          <p:nvPr/>
        </p:nvSpPr>
        <p:spPr>
          <a:xfrm>
            <a:off x="3048000" y="2552700"/>
            <a:ext cx="1409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LVGL界面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触控手势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全键盘输入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EED22D-E100-4D12-9609-1FB3007162E1}"/>
              </a:ext>
            </a:extLst>
          </p:cNvPr>
          <p:cNvSpPr>
            <a:spLocks noGrp="1"/>
          </p:cNvSpPr>
          <p:nvPr/>
        </p:nvSpPr>
        <p:spPr>
          <a:xfrm>
            <a:off x="5067300" y="20002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C8F290-CD13-434C-934C-77585DE6100A}"/>
              </a:ext>
            </a:extLst>
          </p:cNvPr>
          <p:cNvSpPr>
            <a:spLocks noGrp="1"/>
          </p:cNvSpPr>
          <p:nvPr/>
        </p:nvSpPr>
        <p:spPr>
          <a:xfrm>
            <a:off x="5181600" y="2143125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682AC4-2D67-4904-AE71-BCE66D45AA8D}"/>
              </a:ext>
            </a:extLst>
          </p:cNvPr>
          <p:cNvSpPr>
            <a:spLocks noGrp="1"/>
          </p:cNvSpPr>
          <p:nvPr/>
        </p:nvSpPr>
        <p:spPr>
          <a:xfrm>
            <a:off x="5657850" y="2143125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多媒体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0BF721-EB81-43CF-ACE5-DF27EFD7E929}"/>
              </a:ext>
            </a:extLst>
          </p:cNvPr>
          <p:cNvSpPr>
            <a:spLocks noGrp="1"/>
          </p:cNvSpPr>
          <p:nvPr/>
        </p:nvSpPr>
        <p:spPr>
          <a:xfrm>
            <a:off x="5238750" y="2552700"/>
            <a:ext cx="1409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SD卡资源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图片/小说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MJPEG视频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390D273-D719-46E8-8C83-F86B720F3DC3}"/>
              </a:ext>
            </a:extLst>
          </p:cNvPr>
          <p:cNvSpPr>
            <a:spLocks noGrp="1"/>
          </p:cNvSpPr>
          <p:nvPr/>
        </p:nvSpPr>
        <p:spPr>
          <a:xfrm>
            <a:off x="7258050" y="20002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D04965B-10D8-4205-B358-BEBEADC6EF8B}"/>
              </a:ext>
            </a:extLst>
          </p:cNvPr>
          <p:cNvSpPr>
            <a:spLocks noGrp="1"/>
          </p:cNvSpPr>
          <p:nvPr/>
        </p:nvSpPr>
        <p:spPr>
          <a:xfrm>
            <a:off x="7372350" y="2143125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E2C546-9596-4FD5-94D6-96AC128AC8E6}"/>
              </a:ext>
            </a:extLst>
          </p:cNvPr>
          <p:cNvSpPr>
            <a:spLocks noGrp="1"/>
          </p:cNvSpPr>
          <p:nvPr/>
        </p:nvSpPr>
        <p:spPr>
          <a:xfrm>
            <a:off x="7848600" y="2143125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云端协同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46A306D-F58C-4851-BB4C-66D1C69BCF40}"/>
              </a:ext>
            </a:extLst>
          </p:cNvPr>
          <p:cNvSpPr>
            <a:spLocks noGrp="1"/>
          </p:cNvSpPr>
          <p:nvPr/>
        </p:nvSpPr>
        <p:spPr>
          <a:xfrm>
            <a:off x="7429500" y="2552700"/>
            <a:ext cx="1409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WiFi管理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MQTT通信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OneNET OTA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91B9F96-63C3-43CF-8E86-95E0368D0E9A}"/>
              </a:ext>
            </a:extLst>
          </p:cNvPr>
          <p:cNvSpPr>
            <a:spLocks noGrp="1"/>
          </p:cNvSpPr>
          <p:nvPr/>
        </p:nvSpPr>
        <p:spPr>
          <a:xfrm>
            <a:off x="9448800" y="20002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EA7892-3DE0-4EC7-8C23-F9C2F87B3F59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A0067E-93C9-4E94-9541-D94FBF69D6B5}"/>
              </a:ext>
            </a:extLst>
          </p:cNvPr>
          <p:cNvSpPr>
            <a:spLocks noGrp="1"/>
          </p:cNvSpPr>
          <p:nvPr/>
        </p:nvSpPr>
        <p:spPr>
          <a:xfrm>
            <a:off x="10039350" y="2143125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系统维护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5F2E4A8-A24F-4875-B1B4-4AFE34FA649C}"/>
              </a:ext>
            </a:extLst>
          </p:cNvPr>
          <p:cNvSpPr>
            <a:spLocks noGrp="1"/>
          </p:cNvSpPr>
          <p:nvPr/>
        </p:nvSpPr>
        <p:spPr>
          <a:xfrm>
            <a:off x="9620250" y="2552700"/>
            <a:ext cx="1409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本地OTA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云端OTA</a:t>
            </a:r>
          </a:p>
          <a:p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554F56-D081-4551-B2C8-1531C2EC8F98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10572750" cy="14288"/>
          </a:xfrm>
          <a:prstGeom prst="rect">
            <a:avLst/>
          </a:prstGeom>
          <a:solidFill>
            <a:srgbClr val="CFE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145625E-BE12-4FDC-8940-19C3D2AE6BE4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FAF3A89-D188-4020-89CB-1EC96034D760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5049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953B3E9-BE1B-42E0-95BD-376EB4EB96DC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35CBF23-9AD8-40D9-B8B0-C9FB2A8D4779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28598F-6FBA-43AB-A686-D79241B28530}"/>
              </a:ext>
            </a:extLst>
          </p:cNvPr>
          <p:cNvSpPr>
            <a:spLocks noGrp="1"/>
          </p:cNvSpPr>
          <p:nvPr/>
        </p:nvSpPr>
        <p:spPr>
          <a:xfrm>
            <a:off x="971550" y="49911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多帧缓冲与异步刷新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52B7303-1F01-4BC7-8C58-82BEB5771556}"/>
              </a:ext>
            </a:extLst>
          </p:cNvPr>
          <p:cNvSpPr>
            <a:spLocks noGrp="1"/>
          </p:cNvSpPr>
          <p:nvPr/>
        </p:nvSpPr>
        <p:spPr>
          <a:xfrm>
            <a:off x="2590800" y="4095750"/>
            <a:ext cx="15049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0AB8274-BE11-4AF8-A6D6-FB38A243D052}"/>
              </a:ext>
            </a:extLst>
          </p:cNvPr>
          <p:cNvSpPr>
            <a:spLocks noGrp="1"/>
          </p:cNvSpPr>
          <p:nvPr/>
        </p:nvSpPr>
        <p:spPr>
          <a:xfrm>
            <a:off x="2686050" y="42291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BEB213F-99DC-4B3D-A9FF-AD8E7FF9E937}"/>
              </a:ext>
            </a:extLst>
          </p:cNvPr>
          <p:cNvSpPr>
            <a:spLocks noGrp="1"/>
          </p:cNvSpPr>
          <p:nvPr/>
        </p:nvSpPr>
        <p:spPr>
          <a:xfrm>
            <a:off x="2686050" y="464820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C7CB31C-612E-4933-93FF-1F6523C0D06A}"/>
              </a:ext>
            </a:extLst>
          </p:cNvPr>
          <p:cNvSpPr>
            <a:spLocks noGrp="1"/>
          </p:cNvSpPr>
          <p:nvPr/>
        </p:nvSpPr>
        <p:spPr>
          <a:xfrm>
            <a:off x="2743200" y="49911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点击、滑动及时响应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DAFEF3D-9C4D-4EB8-B33F-81455505D539}"/>
              </a:ext>
            </a:extLst>
          </p:cNvPr>
          <p:cNvSpPr>
            <a:spLocks noGrp="1"/>
          </p:cNvSpPr>
          <p:nvPr/>
        </p:nvSpPr>
        <p:spPr>
          <a:xfrm>
            <a:off x="4362450" y="4095750"/>
            <a:ext cx="15049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06B3827-6E65-4669-8104-60347C15E055}"/>
              </a:ext>
            </a:extLst>
          </p:cNvPr>
          <p:cNvSpPr>
            <a:spLocks noGrp="1"/>
          </p:cNvSpPr>
          <p:nvPr/>
        </p:nvSpPr>
        <p:spPr>
          <a:xfrm>
            <a:off x="4457700" y="42291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120s / 3s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80E5B08-51CD-4D06-89AA-C53C422E8BF6}"/>
              </a:ext>
            </a:extLst>
          </p:cNvPr>
          <p:cNvSpPr>
            <a:spLocks noGrp="1"/>
          </p:cNvSpPr>
          <p:nvPr/>
        </p:nvSpPr>
        <p:spPr>
          <a:xfrm>
            <a:off x="4457700" y="464820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休眠触发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1D1C32F-22C3-4F37-86B4-EE71CF474569}"/>
              </a:ext>
            </a:extLst>
          </p:cNvPr>
          <p:cNvSpPr>
            <a:spLocks noGrp="1"/>
          </p:cNvSpPr>
          <p:nvPr/>
        </p:nvSpPr>
        <p:spPr>
          <a:xfrm>
            <a:off x="4514850" y="49911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无操作轻休眠 / 长按深休眠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EFA4E1D-B28E-430E-BD65-B0D28A7D2C51}"/>
              </a:ext>
            </a:extLst>
          </p:cNvPr>
          <p:cNvSpPr>
            <a:spLocks noGrp="1"/>
          </p:cNvSpPr>
          <p:nvPr/>
        </p:nvSpPr>
        <p:spPr>
          <a:xfrm>
            <a:off x="6134100" y="4095750"/>
            <a:ext cx="15049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582FAC5-1759-4FCD-9906-5E3094BFF172}"/>
              </a:ext>
            </a:extLst>
          </p:cNvPr>
          <p:cNvSpPr>
            <a:spLocks noGrp="1"/>
          </p:cNvSpPr>
          <p:nvPr/>
        </p:nvSpPr>
        <p:spPr>
          <a:xfrm>
            <a:off x="6229350" y="42291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≥6次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1083B4-1C43-4A70-B50C-AB46FFCD4CFF}"/>
              </a:ext>
            </a:extLst>
          </p:cNvPr>
          <p:cNvSpPr>
            <a:spLocks noGrp="1"/>
          </p:cNvSpPr>
          <p:nvPr/>
        </p:nvSpPr>
        <p:spPr>
          <a:xfrm>
            <a:off x="6229350" y="464820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网络重连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F5F2A6D-F2D3-4F7C-A6AB-4CE2313E6730}"/>
              </a:ext>
            </a:extLst>
          </p:cNvPr>
          <p:cNvSpPr>
            <a:spLocks noGrp="1"/>
          </p:cNvSpPr>
          <p:nvPr/>
        </p:nvSpPr>
        <p:spPr>
          <a:xfrm>
            <a:off x="6286500" y="49911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弱网断连后自动重试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8D467F2-78AF-4FE9-A398-32F5AE1F1472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15049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F74E2D2-AAC8-446F-9083-471B57A29C63}"/>
              </a:ext>
            </a:extLst>
          </p:cNvPr>
          <p:cNvSpPr>
            <a:spLocks noGrp="1"/>
          </p:cNvSpPr>
          <p:nvPr/>
        </p:nvSpPr>
        <p:spPr>
          <a:xfrm>
            <a:off x="8001000" y="42291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备份分区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46D5740-DAFE-4515-9100-70F00498DD59}"/>
              </a:ext>
            </a:extLst>
          </p:cNvPr>
          <p:cNvSpPr>
            <a:spLocks noGrp="1"/>
          </p:cNvSpPr>
          <p:nvPr/>
        </p:nvSpPr>
        <p:spPr>
          <a:xfrm>
            <a:off x="8001000" y="464820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OTA保护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6A0D9A0-5B50-4ED2-85E5-256CEC5634AA}"/>
              </a:ext>
            </a:extLst>
          </p:cNvPr>
          <p:cNvSpPr>
            <a:spLocks noGrp="1"/>
          </p:cNvSpPr>
          <p:nvPr/>
        </p:nvSpPr>
        <p:spPr>
          <a:xfrm>
            <a:off x="8058150" y="49911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写入非活动分区并校验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B606E3E-19BA-4F83-BCD2-41687C5F7498}"/>
              </a:ext>
            </a:extLst>
          </p:cNvPr>
          <p:cNvSpPr>
            <a:spLocks noGrp="1"/>
          </p:cNvSpPr>
          <p:nvPr/>
        </p:nvSpPr>
        <p:spPr>
          <a:xfrm>
            <a:off x="9677400" y="4095750"/>
            <a:ext cx="15049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2257A17-FBDF-437B-8652-3E970D7080B1}"/>
              </a:ext>
            </a:extLst>
          </p:cNvPr>
          <p:cNvSpPr>
            <a:spLocks noGrp="1"/>
          </p:cNvSpPr>
          <p:nvPr/>
        </p:nvSpPr>
        <p:spPr>
          <a:xfrm>
            <a:off x="9772650" y="42291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  <a:p>
            <a:pPr algn="ctr">
              <a:def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BB66EB9-3830-4CE9-8368-87DBD6A6499A}"/>
              </a:ext>
            </a:extLst>
          </p:cNvPr>
          <p:cNvSpPr>
            <a:spLocks noGrp="1"/>
          </p:cNvSpPr>
          <p:nvPr/>
        </p:nvSpPr>
        <p:spPr>
          <a:xfrm>
            <a:off x="9772650" y="464820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休眠电流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C940024-B171-4AA7-AC64-3E2DBDD0DC88}"/>
              </a:ext>
            </a:extLst>
          </p:cNvPr>
          <p:cNvSpPr>
            <a:spLocks noGrp="1"/>
          </p:cNvSpPr>
          <p:nvPr/>
        </p:nvSpPr>
        <p:spPr>
          <a:xfrm>
            <a:off x="9829800" y="49911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LightSleep / DeepSleep测试值</a:t>
            </a:r>
          </a:p>
        </p:txBody>
      </p:sp>
    </p:spTree>
    <p:extLst>
      <p:ext uri="{BB962C8B-B14F-4D97-AF65-F5344CB8AC3E}">
        <p14:creationId xmlns:p14="http://schemas.microsoft.com/office/powerpoint/2010/main" val="476751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D2CD0C4E-04FC-4981-AF3F-B687DFFC61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3F1B47-46D6-44B4-A3F6-C68877D1001F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77467-EB2A-4DE9-A866-D258C6650AB1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10556A-547F-4D70-9632-8A969ADC80FD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99FA33-03D3-4748-A46D-40136C8F98B5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35515D-1A05-4FD6-ABD0-9D65A52D7650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2D9FE9-332B-4428-83A2-677580955AA4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3D0B68-1910-4D28-9716-C85933FEE509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36C8FB-9808-4435-AB1B-73142292C4E6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CDB86F-E249-40DC-8780-EE2208B60A83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CE42D1-5B3D-47AD-9174-3E40F489C497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E0F8CE-0E05-4657-BFB0-7F1C1AC9C8C8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FEEE5D-BED7-4963-84FC-905852DFB2AA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08147-AECF-4F77-9243-27EC724EFB90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1CBD66-E291-4526-BDEE-1DFED6E5230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5EE878-EAE7-4F60-9860-DE6BA5F0DF01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系统架构：硬件支撑、任务协同与显示刷新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F7E31B-D625-4960-8CA3-B3FEA50D5D7E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E677A8-424C-4980-8841-51FE4159CDD0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8953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FB0611-8FD5-4336-BBA6-97513C28C2F6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95250" cy="7239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ED1FD7-A580-4C1D-B3B8-2F66FF58334E}"/>
              </a:ext>
            </a:extLst>
          </p:cNvPr>
          <p:cNvSpPr>
            <a:spLocks noGrp="1"/>
          </p:cNvSpPr>
          <p:nvPr/>
        </p:nvSpPr>
        <p:spPr>
          <a:xfrm>
            <a:off x="1885950" y="466725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55EEA2-8EBA-41C7-A850-E88FB4710D4F}"/>
              </a:ext>
            </a:extLst>
          </p:cNvPr>
          <p:cNvSpPr>
            <a:spLocks noGrp="1"/>
          </p:cNvSpPr>
          <p:nvPr/>
        </p:nvSpPr>
        <p:spPr>
          <a:xfrm>
            <a:off x="3619500" y="4619625"/>
            <a:ext cx="6572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驱动LCD、触摸、SD卡、Flash、RTC、WiFi和电源模块；封装SPI、I2C、GPIO、文件系统和休眠唤醒接口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635C07-4E93-489E-82BC-4A970F277BC4}"/>
              </a:ext>
            </a:extLst>
          </p:cNvPr>
          <p:cNvSpPr>
            <a:spLocks noGrp="1"/>
          </p:cNvSpPr>
          <p:nvPr/>
        </p:nvSpPr>
        <p:spPr>
          <a:xfrm>
            <a:off x="6076950" y="4171950"/>
            <a:ext cx="28575" cy="26670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595F22-F3A2-4DF8-BC4D-6D7B5E830A73}"/>
              </a:ext>
            </a:extLst>
          </p:cNvPr>
          <p:cNvSpPr>
            <a:spLocks noGrp="1"/>
          </p:cNvSpPr>
          <p:nvPr/>
        </p:nvSpPr>
        <p:spPr>
          <a:xfrm>
            <a:off x="5905500" y="415290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2AD1E8B-FB16-48F8-AF62-3704C5B88A26}"/>
              </a:ext>
            </a:extLst>
          </p:cNvPr>
          <p:cNvSpPr>
            <a:spLocks noGrp="1"/>
          </p:cNvSpPr>
          <p:nvPr/>
        </p:nvSpPr>
        <p:spPr>
          <a:xfrm>
            <a:off x="1619250" y="3333750"/>
            <a:ext cx="8953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444587-C413-4427-AE9B-536BA3E96F4B}"/>
              </a:ext>
            </a:extLst>
          </p:cNvPr>
          <p:cNvSpPr>
            <a:spLocks noGrp="1"/>
          </p:cNvSpPr>
          <p:nvPr/>
        </p:nvSpPr>
        <p:spPr>
          <a:xfrm>
            <a:off x="1619250" y="3333750"/>
            <a:ext cx="95250" cy="7239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A900A39-772C-4AE1-8BBE-60A8865351F3}"/>
              </a:ext>
            </a:extLst>
          </p:cNvPr>
          <p:cNvSpPr>
            <a:spLocks noGrp="1"/>
          </p:cNvSpPr>
          <p:nvPr/>
        </p:nvSpPr>
        <p:spPr>
          <a:xfrm>
            <a:off x="1885950" y="352425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3BA78BF-B3B4-44AD-8B51-4381F5D4693B}"/>
              </a:ext>
            </a:extLst>
          </p:cNvPr>
          <p:cNvSpPr>
            <a:spLocks noGrp="1"/>
          </p:cNvSpPr>
          <p:nvPr/>
        </p:nvSpPr>
        <p:spPr>
          <a:xfrm>
            <a:off x="3619500" y="3476625"/>
            <a:ext cx="6572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FreeRTOS拆分时间、天气、存储、视频、OTA、功耗等任务；各任务彼此独立，任务间交互通过消息队列转发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3CB44C-E07D-4194-920C-298F0948BF5C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28575" cy="26670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3D19D2F-F891-4ECC-991F-969A3A0C3604}"/>
              </a:ext>
            </a:extLst>
          </p:cNvPr>
          <p:cNvSpPr>
            <a:spLocks noGrp="1"/>
          </p:cNvSpPr>
          <p:nvPr/>
        </p:nvSpPr>
        <p:spPr>
          <a:xfrm>
            <a:off x="5905500" y="300990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1D7FBB4-ED3B-4EF2-8A5A-0E40F430C4BD}"/>
              </a:ext>
            </a:extLst>
          </p:cNvPr>
          <p:cNvSpPr>
            <a:spLocks noGrp="1"/>
          </p:cNvSpPr>
          <p:nvPr/>
        </p:nvSpPr>
        <p:spPr>
          <a:xfrm>
            <a:off x="2543175" y="2190750"/>
            <a:ext cx="679132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8C2C5D5-0241-442D-B4CF-655E10CE10AD}"/>
              </a:ext>
            </a:extLst>
          </p:cNvPr>
          <p:cNvSpPr>
            <a:spLocks noGrp="1"/>
          </p:cNvSpPr>
          <p:nvPr/>
        </p:nvSpPr>
        <p:spPr>
          <a:xfrm>
            <a:off x="2571750" y="2190750"/>
            <a:ext cx="51707" cy="723900"/>
          </a:xfrm>
          <a:prstGeom prst="rect">
            <a:avLst/>
          </a:prstGeom>
          <a:solidFill>
            <a:srgbClr val="20A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4BB393-6236-490D-A1D2-A464890AD7B8}"/>
              </a:ext>
            </a:extLst>
          </p:cNvPr>
          <p:cNvSpPr>
            <a:spLocks noGrp="1"/>
          </p:cNvSpPr>
          <p:nvPr/>
        </p:nvSpPr>
        <p:spPr>
          <a:xfrm>
            <a:off x="2705100" y="2381250"/>
            <a:ext cx="1681841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异步消息</a:t>
            </a:r>
            <a:r>
              <a:rPr lang="zh-CN" altLang="en-US" sz="1875" b="1" dirty="0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队</a:t>
            </a:r>
            <a:r>
              <a:rPr sz="1875" b="1" dirty="0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列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11DC657-C0D0-43F5-B233-A42AC44FE35C}"/>
              </a:ext>
            </a:extLst>
          </p:cNvPr>
          <p:cNvSpPr>
            <a:spLocks noGrp="1"/>
          </p:cNvSpPr>
          <p:nvPr/>
        </p:nvSpPr>
        <p:spPr>
          <a:xfrm>
            <a:off x="4857750" y="2333625"/>
            <a:ext cx="4095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统一承接业务状态、页面请求、进度信息和应用间控制消息</a:t>
            </a:r>
            <a:endParaRPr sz="1350" b="0" dirty="0">
              <a:solidFill>
                <a:srgbClr val="1F2D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7E31511-987D-47B5-96B0-A843E230F6BE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28575" cy="26670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59B8581-C363-4DF8-A7BA-F3D220990312}"/>
              </a:ext>
            </a:extLst>
          </p:cNvPr>
          <p:cNvSpPr>
            <a:spLocks noGrp="1"/>
          </p:cNvSpPr>
          <p:nvPr/>
        </p:nvSpPr>
        <p:spPr>
          <a:xfrm>
            <a:off x="5905500" y="186690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99B2EA6-8B9E-4FF8-BE65-50634495D25A}"/>
              </a:ext>
            </a:extLst>
          </p:cNvPr>
          <p:cNvSpPr>
            <a:spLocks noGrp="1"/>
          </p:cNvSpPr>
          <p:nvPr/>
        </p:nvSpPr>
        <p:spPr>
          <a:xfrm>
            <a:off x="1619250" y="1047750"/>
            <a:ext cx="8953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D9CF506-F539-43C6-9A02-893C8ED718E4}"/>
              </a:ext>
            </a:extLst>
          </p:cNvPr>
          <p:cNvSpPr>
            <a:spLocks noGrp="1"/>
          </p:cNvSpPr>
          <p:nvPr/>
        </p:nvSpPr>
        <p:spPr>
          <a:xfrm>
            <a:off x="1619250" y="1047750"/>
            <a:ext cx="95250" cy="723900"/>
          </a:xfrm>
          <a:prstGeom prst="rect">
            <a:avLst/>
          </a:prstGeom>
          <a:solidFill>
            <a:srgbClr val="18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09A9D2F-7F71-4F69-8ADA-9732F9A6E08C}"/>
              </a:ext>
            </a:extLst>
          </p:cNvPr>
          <p:cNvSpPr>
            <a:spLocks noGrp="1"/>
          </p:cNvSpPr>
          <p:nvPr/>
        </p:nvSpPr>
        <p:spPr>
          <a:xfrm>
            <a:off x="1885950" y="123825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A8351DD-6A97-4AC6-9236-825FFCD3ADD6}"/>
              </a:ext>
            </a:extLst>
          </p:cNvPr>
          <p:cNvSpPr>
            <a:spLocks noGrp="1"/>
          </p:cNvSpPr>
          <p:nvPr/>
        </p:nvSpPr>
        <p:spPr>
          <a:xfrm>
            <a:off x="3619500" y="1190625"/>
            <a:ext cx="6572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LVGL显示线程读取队列消息，完成页面刷新、控件更新、事件分发和屏幕输出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29774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7B688969-550B-46B0-B11C-15D6A87246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E3C1BE-5844-4401-AFE2-CC3B346832E0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F28FA4-1BBB-4B84-9A6C-9E64456E6567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BC6BAD-1FE2-430C-B1C5-67805A54746D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E5606D-155D-462C-92D0-664F519B513B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5D7F4E-84BB-421D-A6EE-4F1EB214CF19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E1E666-F6D5-49CA-B73A-36FDC1757E61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3DECEA-A25E-4902-8ADC-1DB31797FE01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6B5BE6-95D0-49AC-8895-2E319D5CE2CB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4002AD-7620-47F9-876E-C52A44068217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6ECC6F-E27E-4A41-832B-76CBA13FEDC0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6086AE-BD6F-44A6-8528-106DAA2D2052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4429ED-1694-4BA3-A23A-BC9C5A199EE5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4C65C5-E244-4593-986D-46F7B7B3576C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16CF00-28AA-4F04-BB0A-6B967B09CAD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B6EC96-858F-406C-9F16-2E97F8B0FDC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硬件设计一：ESP32最小系统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434EDE-8276-4447-AE0E-05EA85E120F0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84DE8B-8EA9-49CA-8BAC-2BAAFDFE564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61937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8E72B4-0A13-442B-AACA-1BD5FFAC97B0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76200" cy="43815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D9E62A-B284-4914-9EB7-4C3443F30DD1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22002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主控与存储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D673ED-FC73-4225-B10A-F4E544C7D010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2219325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采用ESP32-S3R8作为主控，内部集成8MB高速PSRAM，用于显示帧缓冲、多媒体缓存和任务运行；外扩16MB串行Flash保存程序、资源和固件数据。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FB13EB-BEA6-4DB6-808F-4CAEA20141FB}"/>
              </a:ext>
            </a:extLst>
          </p:cNvPr>
          <p:cNvSpPr>
            <a:spLocks noGrp="1"/>
          </p:cNvSpPr>
          <p:nvPr/>
        </p:nvSpPr>
        <p:spPr>
          <a:xfrm>
            <a:off x="3581400" y="1676400"/>
            <a:ext cx="261937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C78B79-B8F9-4A11-8089-AD5530A77E15}"/>
              </a:ext>
            </a:extLst>
          </p:cNvPr>
          <p:cNvSpPr>
            <a:spLocks noGrp="1"/>
          </p:cNvSpPr>
          <p:nvPr/>
        </p:nvSpPr>
        <p:spPr>
          <a:xfrm>
            <a:off x="3581400" y="1828800"/>
            <a:ext cx="76200" cy="438150"/>
          </a:xfrm>
          <a:prstGeom prst="rect">
            <a:avLst/>
          </a:prstGeom>
          <a:solidFill>
            <a:srgbClr val="20A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EC76B6-D8ED-452A-9883-6D2F565A6921}"/>
              </a:ext>
            </a:extLst>
          </p:cNvPr>
          <p:cNvSpPr>
            <a:spLocks noGrp="1"/>
          </p:cNvSpPr>
          <p:nvPr/>
        </p:nvSpPr>
        <p:spPr>
          <a:xfrm>
            <a:off x="3810000" y="1847850"/>
            <a:ext cx="22002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时钟与下载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7FCB847-4025-480B-97E1-D418C9631A9B}"/>
              </a:ext>
            </a:extLst>
          </p:cNvPr>
          <p:cNvSpPr>
            <a:spLocks noGrp="1"/>
          </p:cNvSpPr>
          <p:nvPr/>
        </p:nvSpPr>
        <p:spPr>
          <a:xfrm>
            <a:off x="3810000" y="2324100"/>
            <a:ext cx="2219325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配置40MHz晶振提供稳定主时钟；复位、启动配置和Type-C下载调试接口统一规划，便于固件烧录、调试和后期维护。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BBADC3-D736-40F5-A932-0F4BA3FFB498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261937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F280C89-8A45-4C54-B397-102A8459D616}"/>
              </a:ext>
            </a:extLst>
          </p:cNvPr>
          <p:cNvSpPr>
            <a:spLocks noGrp="1"/>
          </p:cNvSpPr>
          <p:nvPr/>
        </p:nvSpPr>
        <p:spPr>
          <a:xfrm>
            <a:off x="6477000" y="1828800"/>
            <a:ext cx="76200" cy="438150"/>
          </a:xfrm>
          <a:prstGeom prst="rect">
            <a:avLst/>
          </a:prstGeom>
          <a:solidFill>
            <a:srgbClr val="18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46EDC7-5B52-443A-9739-417D40EEFBE4}"/>
              </a:ext>
            </a:extLst>
          </p:cNvPr>
          <p:cNvSpPr>
            <a:spLocks noGrp="1"/>
          </p:cNvSpPr>
          <p:nvPr/>
        </p:nvSpPr>
        <p:spPr>
          <a:xfrm>
            <a:off x="6705600" y="1847850"/>
            <a:ext cx="22002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673DBE-F4F9-4221-8C87-DE99F081CB16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2219325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主控集成2.4GHz WiFi无线能力，电路预留陶瓷天线及射频匹配网络，保证网络校时、天气获取、MQTT通信和OTA升级的连接基础。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C21EF6-6C1D-4DFC-82FC-823116A820FE}"/>
              </a:ext>
            </a:extLst>
          </p:cNvPr>
          <p:cNvSpPr>
            <a:spLocks noGrp="1"/>
          </p:cNvSpPr>
          <p:nvPr/>
        </p:nvSpPr>
        <p:spPr>
          <a:xfrm>
            <a:off x="9372600" y="1676400"/>
            <a:ext cx="213360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1CB8C0-ED55-4731-A394-8DBC001A775D}"/>
              </a:ext>
            </a:extLst>
          </p:cNvPr>
          <p:cNvSpPr>
            <a:spLocks noGrp="1"/>
          </p:cNvSpPr>
          <p:nvPr/>
        </p:nvSpPr>
        <p:spPr>
          <a:xfrm>
            <a:off x="9372600" y="1828800"/>
            <a:ext cx="76200" cy="4381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4471498-0E63-4466-834A-38D8F0FA5487}"/>
              </a:ext>
            </a:extLst>
          </p:cNvPr>
          <p:cNvSpPr>
            <a:spLocks noGrp="1"/>
          </p:cNvSpPr>
          <p:nvPr/>
        </p:nvSpPr>
        <p:spPr>
          <a:xfrm>
            <a:off x="9601200" y="18478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供电与滤波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C3F4C0-05AE-4B3C-9AB9-8BB0BDA944AA}"/>
              </a:ext>
            </a:extLst>
          </p:cNvPr>
          <p:cNvSpPr>
            <a:spLocks noGrp="1"/>
          </p:cNvSpPr>
          <p:nvPr/>
        </p:nvSpPr>
        <p:spPr>
          <a:xfrm>
            <a:off x="9601200" y="2324100"/>
            <a:ext cx="17335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3.3V电源域配合去耦与滤波网络，降低纹波和高频干扰，提升高速SPI、外部存储和无线通信稳定性。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A2218B-A68C-4531-BF55-A0B198036AA6}"/>
              </a:ext>
            </a:extLst>
          </p:cNvPr>
          <p:cNvSpPr>
            <a:spLocks noGrp="1"/>
          </p:cNvSpPr>
          <p:nvPr/>
        </p:nvSpPr>
        <p:spPr>
          <a:xfrm>
            <a:off x="1066800" y="4876800"/>
            <a:ext cx="10048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B90B5B-DF96-4028-8564-958BD831443B}"/>
              </a:ext>
            </a:extLst>
          </p:cNvPr>
          <p:cNvSpPr>
            <a:spLocks noGrp="1"/>
          </p:cNvSpPr>
          <p:nvPr/>
        </p:nvSpPr>
        <p:spPr>
          <a:xfrm>
            <a:off x="1314450" y="5038725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设计重点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226FFF-7365-4216-B8A7-29A706CE34D9}"/>
              </a:ext>
            </a:extLst>
          </p:cNvPr>
          <p:cNvSpPr>
            <a:spLocks noGrp="1"/>
          </p:cNvSpPr>
          <p:nvPr/>
        </p:nvSpPr>
        <p:spPr>
          <a:xfrm>
            <a:off x="2609850" y="5038725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最小系统围绕算力、存储带宽、下载调试、射频连接和电源稳定性构建整机硬件基础。</a:t>
            </a:r>
          </a:p>
        </p:txBody>
      </p:sp>
    </p:spTree>
    <p:extLst>
      <p:ext uri="{BB962C8B-B14F-4D97-AF65-F5344CB8AC3E}">
        <p14:creationId xmlns:p14="http://schemas.microsoft.com/office/powerpoint/2010/main" val="737486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E6237A49-08B5-487E-A3DF-1503A450F3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CA68B-5B18-4C06-8DD3-5EBA32B572DB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F2C4D3-C93C-4787-9AF8-4DBEAB6451F8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55E991-930D-47CA-B4F3-433D93D3BE31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CB6780-B9E3-4029-A16E-C4D501AF6FB5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ABA230-9C0F-4738-AFE6-6232B8D390B8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EC44A6-4E07-4B5E-88A4-07E077642D5D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AAF537-8A0D-48E7-8C2E-23C1E301BD37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672ECE-0308-427F-9A4C-3C91DB5497D2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08553F-AFF9-43CC-8DA3-BCE7C7B0D2E4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3DE67A-F17F-4999-BB02-172F9E6BF319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738E00-1A66-4388-B7C4-7511021B9815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6666DC-9136-4F81-B639-1415B34D7E9B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9BB00A-7AF9-442C-A589-ABF2B31F49CC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ED358E-BE0C-472D-87B4-F49C240C3DF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89A809-B235-447F-BBEA-C03F3F13CC41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硬件设计二：显示触控、时间存储与电源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F39A0F-382F-4160-BAE5-D3772EEC00B9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4189BB6-78E7-4AE7-BA7F-58B06C17F375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3048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388C91-A9A6-45A8-AD25-BCC2534317F9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3048000" cy="43815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3BF9D9-C263-48DB-817F-6C637A0D8DED}"/>
              </a:ext>
            </a:extLst>
          </p:cNvPr>
          <p:cNvSpPr>
            <a:spLocks noGrp="1"/>
          </p:cNvSpPr>
          <p:nvPr/>
        </p:nvSpPr>
        <p:spPr>
          <a:xfrm>
            <a:off x="971550" y="1781175"/>
            <a:ext cx="2819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显示触控屏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C65C3A-EAE6-462D-8F7C-49F96126AE69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2514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1.83英寸240×284一体化模组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ST7789P3负责LCD显示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CST816T负责电容触摸检测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SPI-DMA刷新 + I2C中断触控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C8F257-4E0A-449C-BCAA-797F81F8C09F}"/>
              </a:ext>
            </a:extLst>
          </p:cNvPr>
          <p:cNvSpPr>
            <a:spLocks noGrp="1"/>
          </p:cNvSpPr>
          <p:nvPr/>
        </p:nvSpPr>
        <p:spPr>
          <a:xfrm>
            <a:off x="4572000" y="1695450"/>
            <a:ext cx="3048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8654B0-D58E-4B72-898B-940A2B77944B}"/>
              </a:ext>
            </a:extLst>
          </p:cNvPr>
          <p:cNvSpPr>
            <a:spLocks noGrp="1"/>
          </p:cNvSpPr>
          <p:nvPr/>
        </p:nvSpPr>
        <p:spPr>
          <a:xfrm>
            <a:off x="4572000" y="1695450"/>
            <a:ext cx="3048000" cy="438150"/>
          </a:xfrm>
          <a:prstGeom prst="rect">
            <a:avLst/>
          </a:prstGeom>
          <a:solidFill>
            <a:srgbClr val="20A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80DF71-3D0F-4197-9CA1-43E746C88900}"/>
              </a:ext>
            </a:extLst>
          </p:cNvPr>
          <p:cNvSpPr>
            <a:spLocks noGrp="1"/>
          </p:cNvSpPr>
          <p:nvPr/>
        </p:nvSpPr>
        <p:spPr>
          <a:xfrm>
            <a:off x="4686300" y="1781175"/>
            <a:ext cx="2819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RTC与SD存储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6B556DE-8471-42E4-A6BD-FC1F517D9997}"/>
              </a:ext>
            </a:extLst>
          </p:cNvPr>
          <p:cNvSpPr>
            <a:spLocks noGrp="1"/>
          </p:cNvSpPr>
          <p:nvPr/>
        </p:nvSpPr>
        <p:spPr>
          <a:xfrm>
            <a:off x="4838700" y="2419350"/>
            <a:ext cx="2514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SD3078独立RTC断电守时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Micro SD通过SPI挂载FatFS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保存图片、视频、小说和本地OTA固件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00C48E-37BC-481C-8746-6C11716BE22D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3048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E19595-1CC4-43E8-A769-C31F85D268BE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3048000" cy="438150"/>
          </a:xfrm>
          <a:prstGeom prst="rect">
            <a:avLst/>
          </a:prstGeom>
          <a:solidFill>
            <a:srgbClr val="18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24D563-697C-4BD4-B428-652DCE7FF00A}"/>
              </a:ext>
            </a:extLst>
          </p:cNvPr>
          <p:cNvSpPr>
            <a:spLocks noGrp="1"/>
          </p:cNvSpPr>
          <p:nvPr/>
        </p:nvSpPr>
        <p:spPr>
          <a:xfrm>
            <a:off x="8401050" y="1781175"/>
            <a:ext cx="2819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电源与休眠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115A3E-86F1-49FD-98D8-7AC483D06680}"/>
              </a:ext>
            </a:extLst>
          </p:cNvPr>
          <p:cNvSpPr>
            <a:spLocks noGrp="1"/>
          </p:cNvSpPr>
          <p:nvPr/>
        </p:nvSpPr>
        <p:spPr>
          <a:xfrm>
            <a:off x="8553450" y="2419350"/>
            <a:ext cx="2514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锂电池充电模块提供安全充电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ME6217输出稳定3.3V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背光、WiFi和外设按需启停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48BA31-8377-45EA-B582-4960F18B2AF0}"/>
              </a:ext>
            </a:extLst>
          </p:cNvPr>
          <p:cNvSpPr>
            <a:spLocks noGrp="1"/>
          </p:cNvSpPr>
          <p:nvPr/>
        </p:nvSpPr>
        <p:spPr>
          <a:xfrm>
            <a:off x="1200150" y="4743450"/>
            <a:ext cx="97917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6B0E87-AECC-4E07-A66B-D01BB2B7DCBD}"/>
              </a:ext>
            </a:extLst>
          </p:cNvPr>
          <p:cNvSpPr>
            <a:spLocks noGrp="1"/>
          </p:cNvSpPr>
          <p:nvPr/>
        </p:nvSpPr>
        <p:spPr>
          <a:xfrm>
            <a:off x="1409700" y="4876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硬件链路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112341C-0969-4212-AF19-474A854860AB}"/>
              </a:ext>
            </a:extLst>
          </p:cNvPr>
          <p:cNvSpPr>
            <a:spLocks noGrp="1"/>
          </p:cNvSpPr>
          <p:nvPr/>
        </p:nvSpPr>
        <p:spPr>
          <a:xfrm>
            <a:off x="2705100" y="4876800"/>
            <a:ext cx="7448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主控提供算力和通信接口，显示触控负责交互入口，RTC与SD卡保障时间和资源，电源模块支撑低功耗运行。</a:t>
            </a:r>
          </a:p>
        </p:txBody>
      </p:sp>
    </p:spTree>
    <p:extLst>
      <p:ext uri="{BB962C8B-B14F-4D97-AF65-F5344CB8AC3E}">
        <p14:creationId xmlns:p14="http://schemas.microsoft.com/office/powerpoint/2010/main" val="139470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0BE2094C-85FE-4F88-BE70-A72F2A0BCF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C95BC5-B136-4E11-8E19-08B2BD6093E8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4FFFAC-851F-42DD-8130-95ABDD2A43F4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9F71B7-D3BE-4856-AD6F-C9D081D13109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385AE7-E1AF-4973-B073-860A20358F00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274158-0FCC-488F-B6D6-E793DFF6C6B0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FC3CB4-5793-4BED-899A-C0089F848D21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CECB13-F031-42BE-9D79-3E6A3F0B9B1F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FF2583-EB41-409F-8123-5CE76E1426C5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A0682A-0C0B-4190-9922-DA1CAF9B8493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0D1B95-7FE8-45FA-AF64-2B48C0225454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9F8FC5-C767-42D5-B656-7B9329E941A6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906EAB-6EFF-4B39-9CEE-D52837446EF8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E07DD6-259C-4EA2-A14E-F05ECED972E6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4CB0FB-4DD3-49EF-A5F6-D6DCE927C48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5B5BC7-43A6-401F-9954-B542B4708119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软件设计一：分层架构与任务划分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D774CC-69E3-44B8-A835-D6FCC508CED9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6A17C0-906D-49FC-91B5-B8DF361E64A7}"/>
              </a:ext>
            </a:extLst>
          </p:cNvPr>
          <p:cNvSpPr>
            <a:spLocks noGrp="1"/>
          </p:cNvSpPr>
          <p:nvPr/>
        </p:nvSpPr>
        <p:spPr>
          <a:xfrm>
            <a:off x="1428750" y="1104900"/>
            <a:ext cx="9334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B70904-0239-4E0B-A285-59355B95A14B}"/>
              </a:ext>
            </a:extLst>
          </p:cNvPr>
          <p:cNvSpPr>
            <a:spLocks noGrp="1"/>
          </p:cNvSpPr>
          <p:nvPr/>
        </p:nvSpPr>
        <p:spPr>
          <a:xfrm>
            <a:off x="1428750" y="1104900"/>
            <a:ext cx="95250" cy="666750"/>
          </a:xfrm>
          <a:prstGeom prst="rect">
            <a:avLst/>
          </a:prstGeom>
          <a:solidFill>
            <a:srgbClr val="18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BA736E-E8BF-4D54-8E6E-10EFA6D997C5}"/>
              </a:ext>
            </a:extLst>
          </p:cNvPr>
          <p:cNvSpPr>
            <a:spLocks noGrp="1"/>
          </p:cNvSpPr>
          <p:nvPr/>
        </p:nvSpPr>
        <p:spPr>
          <a:xfrm>
            <a:off x="1695450" y="1295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DCD5937-3EDA-4C8D-8344-7DE489F05984}"/>
              </a:ext>
            </a:extLst>
          </p:cNvPr>
          <p:cNvSpPr>
            <a:spLocks noGrp="1"/>
          </p:cNvSpPr>
          <p:nvPr/>
        </p:nvSpPr>
        <p:spPr>
          <a:xfrm>
            <a:off x="3429000" y="1247775"/>
            <a:ext cx="695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LVGL统一显示刷新线程读取队列消息，完成页面刷新、控件更新、触控事件分发和屏幕输出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101824-FCE1-49B2-B34E-E43A2D0A6020}"/>
              </a:ext>
            </a:extLst>
          </p:cNvPr>
          <p:cNvSpPr>
            <a:spLocks noGrp="1"/>
          </p:cNvSpPr>
          <p:nvPr/>
        </p:nvSpPr>
        <p:spPr>
          <a:xfrm>
            <a:off x="6076950" y="1809750"/>
            <a:ext cx="28575" cy="3238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D1479C-2B5D-4EA5-8E54-97092F00B71C}"/>
              </a:ext>
            </a:extLst>
          </p:cNvPr>
          <p:cNvSpPr>
            <a:spLocks noGrp="1"/>
          </p:cNvSpPr>
          <p:nvPr/>
        </p:nvSpPr>
        <p:spPr>
          <a:xfrm>
            <a:off x="5905500" y="179070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4279813-6D4F-4A8E-9105-CB23A951CD6D}"/>
              </a:ext>
            </a:extLst>
          </p:cNvPr>
          <p:cNvSpPr>
            <a:spLocks noGrp="1"/>
          </p:cNvSpPr>
          <p:nvPr/>
        </p:nvSpPr>
        <p:spPr>
          <a:xfrm>
            <a:off x="2857500" y="2152650"/>
            <a:ext cx="6477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7A565F-646D-4689-915B-F879CD1F2D2A}"/>
              </a:ext>
            </a:extLst>
          </p:cNvPr>
          <p:cNvSpPr>
            <a:spLocks noGrp="1"/>
          </p:cNvSpPr>
          <p:nvPr/>
        </p:nvSpPr>
        <p:spPr>
          <a:xfrm>
            <a:off x="2857500" y="2152650"/>
            <a:ext cx="95250" cy="666750"/>
          </a:xfrm>
          <a:prstGeom prst="rect">
            <a:avLst/>
          </a:prstGeom>
          <a:solidFill>
            <a:srgbClr val="20A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88551CE-B01E-48FA-9CAC-F2E43D1983DA}"/>
              </a:ext>
            </a:extLst>
          </p:cNvPr>
          <p:cNvSpPr>
            <a:spLocks noGrp="1"/>
          </p:cNvSpPr>
          <p:nvPr/>
        </p:nvSpPr>
        <p:spPr>
          <a:xfrm>
            <a:off x="3124200" y="234315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3577F1-62B8-477D-AEC2-C50EC71B760A}"/>
              </a:ext>
            </a:extLst>
          </p:cNvPr>
          <p:cNvSpPr>
            <a:spLocks noGrp="1"/>
          </p:cNvSpPr>
          <p:nvPr/>
        </p:nvSpPr>
        <p:spPr>
          <a:xfrm>
            <a:off x="4857750" y="2295525"/>
            <a:ext cx="4095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统一承接业务状态、页面请求、进度信息和应用间控制消息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015FC2-3C70-4AB4-99AC-8E7BFC48E8F5}"/>
              </a:ext>
            </a:extLst>
          </p:cNvPr>
          <p:cNvSpPr>
            <a:spLocks noGrp="1"/>
          </p:cNvSpPr>
          <p:nvPr/>
        </p:nvSpPr>
        <p:spPr>
          <a:xfrm>
            <a:off x="6076950" y="2857500"/>
            <a:ext cx="28575" cy="3238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9D9A8A-9155-45CE-B4CB-DD8A0BAFBD78}"/>
              </a:ext>
            </a:extLst>
          </p:cNvPr>
          <p:cNvSpPr>
            <a:spLocks noGrp="1"/>
          </p:cNvSpPr>
          <p:nvPr/>
        </p:nvSpPr>
        <p:spPr>
          <a:xfrm>
            <a:off x="5905500" y="283845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340A5BA-44FD-4EA7-A032-0EEC82E501F5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10553700" cy="1200150"/>
          </a:xfrm>
          <a:prstGeom prst="rect">
            <a:avLst/>
          </a:prstGeom>
          <a:solidFill>
            <a:srgbClr val="F4F9FD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11A4415-BEF3-411F-837A-BB0FF022D701}"/>
              </a:ext>
            </a:extLst>
          </p:cNvPr>
          <p:cNvSpPr>
            <a:spLocks noGrp="1"/>
          </p:cNvSpPr>
          <p:nvPr/>
        </p:nvSpPr>
        <p:spPr>
          <a:xfrm>
            <a:off x="1066800" y="33909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8588A4-5C02-4DBE-9081-4DE101B1ECCC}"/>
              </a:ext>
            </a:extLst>
          </p:cNvPr>
          <p:cNvSpPr>
            <a:spLocks noGrp="1"/>
          </p:cNvSpPr>
          <p:nvPr/>
        </p:nvSpPr>
        <p:spPr>
          <a:xfrm>
            <a:off x="2286000" y="3486150"/>
            <a:ext cx="176212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E80CC8-F56F-4B7C-B4DE-5E163A18AFB9}"/>
              </a:ext>
            </a:extLst>
          </p:cNvPr>
          <p:cNvSpPr>
            <a:spLocks noGrp="1"/>
          </p:cNvSpPr>
          <p:nvPr/>
        </p:nvSpPr>
        <p:spPr>
          <a:xfrm>
            <a:off x="2381250" y="3581400"/>
            <a:ext cx="1571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系统服务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AA62CC2-F628-4329-B149-035C4C604D13}"/>
              </a:ext>
            </a:extLst>
          </p:cNvPr>
          <p:cNvSpPr>
            <a:spLocks noGrp="1"/>
          </p:cNvSpPr>
          <p:nvPr/>
        </p:nvSpPr>
        <p:spPr>
          <a:xfrm>
            <a:off x="2381250" y="3848100"/>
            <a:ext cx="1571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时间 / 天气 / WiFi状态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70B2707-7B1F-4635-B46A-6D9BB53A7917}"/>
              </a:ext>
            </a:extLst>
          </p:cNvPr>
          <p:cNvSpPr>
            <a:spLocks noGrp="1"/>
          </p:cNvSpPr>
          <p:nvPr/>
        </p:nvSpPr>
        <p:spPr>
          <a:xfrm>
            <a:off x="4381500" y="3486150"/>
            <a:ext cx="176212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195A81C-D975-4661-B635-83CCB66F9FF4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1571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存储与多媒体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2DF58BD-C376-44C3-9597-BD35B66FC143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1571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SD扫描 / 小说 / 图片 / 视频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9349BF-57EC-4EAF-847B-02C4FA0B8445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176212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3C22EDC-FC7C-47EB-AFE9-4B8A8BE9EB23}"/>
              </a:ext>
            </a:extLst>
          </p:cNvPr>
          <p:cNvSpPr>
            <a:spLocks noGrp="1"/>
          </p:cNvSpPr>
          <p:nvPr/>
        </p:nvSpPr>
        <p:spPr>
          <a:xfrm>
            <a:off x="6572250" y="3581400"/>
            <a:ext cx="1571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OTA与网络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2CF46F8-BD77-4BD6-8C1E-5DE04411A8F3}"/>
              </a:ext>
            </a:extLst>
          </p:cNvPr>
          <p:cNvSpPr>
            <a:spLocks noGrp="1"/>
          </p:cNvSpPr>
          <p:nvPr/>
        </p:nvSpPr>
        <p:spPr>
          <a:xfrm>
            <a:off x="6572250" y="3848100"/>
            <a:ext cx="1571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本地升级 / 云端升级 / MQTT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F9B78DB-AC2B-4691-AF8C-0AA7624764BF}"/>
              </a:ext>
            </a:extLst>
          </p:cNvPr>
          <p:cNvSpPr>
            <a:spLocks noGrp="1"/>
          </p:cNvSpPr>
          <p:nvPr/>
        </p:nvSpPr>
        <p:spPr>
          <a:xfrm>
            <a:off x="8572500" y="3486150"/>
            <a:ext cx="176212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3F8E8A-7597-45BE-A7FD-FF322C48B116}"/>
              </a:ext>
            </a:extLst>
          </p:cNvPr>
          <p:cNvSpPr>
            <a:spLocks noGrp="1"/>
          </p:cNvSpPr>
          <p:nvPr/>
        </p:nvSpPr>
        <p:spPr>
          <a:xfrm>
            <a:off x="8667750" y="3581400"/>
            <a:ext cx="1571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功耗与游戏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DCD2A5A-7E50-41E7-83A7-F874A720714A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1571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休眠唤醒 / 页面状态 / 游戏逻辑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BA5970B-FFE6-4FBB-B482-DCE761D35447}"/>
              </a:ext>
            </a:extLst>
          </p:cNvPr>
          <p:cNvSpPr>
            <a:spLocks noGrp="1"/>
          </p:cNvSpPr>
          <p:nvPr/>
        </p:nvSpPr>
        <p:spPr>
          <a:xfrm>
            <a:off x="6076950" y="4438650"/>
            <a:ext cx="28575" cy="3238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D5CBE49-E7EF-49E0-A4E9-0BDCA457AD48}"/>
              </a:ext>
            </a:extLst>
          </p:cNvPr>
          <p:cNvSpPr>
            <a:spLocks noGrp="1"/>
          </p:cNvSpPr>
          <p:nvPr/>
        </p:nvSpPr>
        <p:spPr>
          <a:xfrm>
            <a:off x="5905500" y="441960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CB6EE00-E6C0-4006-ABF8-ED5B9979C75E}"/>
              </a:ext>
            </a:extLst>
          </p:cNvPr>
          <p:cNvSpPr>
            <a:spLocks noGrp="1"/>
          </p:cNvSpPr>
          <p:nvPr/>
        </p:nvSpPr>
        <p:spPr>
          <a:xfrm>
            <a:off x="819150" y="4781550"/>
            <a:ext cx="10553700" cy="895350"/>
          </a:xfrm>
          <a:prstGeom prst="rect">
            <a:avLst/>
          </a:prstGeom>
          <a:solidFill>
            <a:srgbClr val="F4F9FD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AC74AD9-FE9F-4A29-8E8A-381274AE9E15}"/>
              </a:ext>
            </a:extLst>
          </p:cNvPr>
          <p:cNvSpPr>
            <a:spLocks noGrp="1"/>
          </p:cNvSpPr>
          <p:nvPr/>
        </p:nvSpPr>
        <p:spPr>
          <a:xfrm>
            <a:off x="1066800" y="50101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75FAEEA-3C1E-4FA5-8BAF-2273FF3D5F32}"/>
              </a:ext>
            </a:extLst>
          </p:cNvPr>
          <p:cNvSpPr>
            <a:spLocks noGrp="1"/>
          </p:cNvSpPr>
          <p:nvPr/>
        </p:nvSpPr>
        <p:spPr>
          <a:xfrm>
            <a:off x="2286000" y="495300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2CE919F-E145-47C0-8D2B-025B8A599263}"/>
              </a:ext>
            </a:extLst>
          </p:cNvPr>
          <p:cNvSpPr>
            <a:spLocks noGrp="1"/>
          </p:cNvSpPr>
          <p:nvPr/>
        </p:nvSpPr>
        <p:spPr>
          <a:xfrm>
            <a:off x="2381250" y="501015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显示触控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12D5907-AE0F-40F3-8DF7-796BEB823E6A}"/>
              </a:ext>
            </a:extLst>
          </p:cNvPr>
          <p:cNvSpPr>
            <a:spLocks noGrp="1"/>
          </p:cNvSpPr>
          <p:nvPr/>
        </p:nvSpPr>
        <p:spPr>
          <a:xfrm>
            <a:off x="2381250" y="5219700"/>
            <a:ext cx="1571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LCD / 触摸 / 背光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3B35D76-AB7D-4B57-B0D6-6A51D4F5F343}"/>
              </a:ext>
            </a:extLst>
          </p:cNvPr>
          <p:cNvSpPr>
            <a:spLocks noGrp="1"/>
          </p:cNvSpPr>
          <p:nvPr/>
        </p:nvSpPr>
        <p:spPr>
          <a:xfrm>
            <a:off x="4381500" y="495300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ACDFF09-AB21-428C-BC2B-F238CB49B96D}"/>
              </a:ext>
            </a:extLst>
          </p:cNvPr>
          <p:cNvSpPr>
            <a:spLocks noGrp="1"/>
          </p:cNvSpPr>
          <p:nvPr/>
        </p:nvSpPr>
        <p:spPr>
          <a:xfrm>
            <a:off x="4476750" y="501015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存储时钟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2DAFEE-1B0F-466F-8D49-8BC5AE5305C9}"/>
              </a:ext>
            </a:extLst>
          </p:cNvPr>
          <p:cNvSpPr>
            <a:spLocks noGrp="1"/>
          </p:cNvSpPr>
          <p:nvPr/>
        </p:nvSpPr>
        <p:spPr>
          <a:xfrm>
            <a:off x="4476750" y="5219700"/>
            <a:ext cx="1571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SD卡 / Flash / RTC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621D2CD-584F-48E6-A3AD-F87ADB753B91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A5A2177-387F-4174-9D99-6D5F01865CDE}"/>
              </a:ext>
            </a:extLst>
          </p:cNvPr>
          <p:cNvSpPr>
            <a:spLocks noGrp="1"/>
          </p:cNvSpPr>
          <p:nvPr/>
        </p:nvSpPr>
        <p:spPr>
          <a:xfrm>
            <a:off x="6572250" y="501015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总线接口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BDAD4D4-3A49-4F3E-926C-DB88D8F0F769}"/>
              </a:ext>
            </a:extLst>
          </p:cNvPr>
          <p:cNvSpPr>
            <a:spLocks noGrp="1"/>
          </p:cNvSpPr>
          <p:nvPr/>
        </p:nvSpPr>
        <p:spPr>
          <a:xfrm>
            <a:off x="6572250" y="5219700"/>
            <a:ext cx="1571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SPI / I2C / GPIO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0522E96-837F-4CB6-A17C-2034D4411C7D}"/>
              </a:ext>
            </a:extLst>
          </p:cNvPr>
          <p:cNvSpPr>
            <a:spLocks noGrp="1"/>
          </p:cNvSpPr>
          <p:nvPr/>
        </p:nvSpPr>
        <p:spPr>
          <a:xfrm>
            <a:off x="8572500" y="495300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8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B68E995-FC34-415E-A79D-BD3F4A9692B9}"/>
              </a:ext>
            </a:extLst>
          </p:cNvPr>
          <p:cNvSpPr>
            <a:spLocks noGrp="1"/>
          </p:cNvSpPr>
          <p:nvPr/>
        </p:nvSpPr>
        <p:spPr>
          <a:xfrm>
            <a:off x="8667750" y="501015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网络电源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CEFF213-75CC-45D3-85FD-078DC30724AE}"/>
              </a:ext>
            </a:extLst>
          </p:cNvPr>
          <p:cNvSpPr>
            <a:spLocks noGrp="1"/>
          </p:cNvSpPr>
          <p:nvPr/>
        </p:nvSpPr>
        <p:spPr>
          <a:xfrm>
            <a:off x="8667750" y="5219700"/>
            <a:ext cx="1571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WiFi / 供电 / 唤醒</a:t>
            </a:r>
          </a:p>
        </p:txBody>
      </p:sp>
    </p:spTree>
    <p:extLst>
      <p:ext uri="{BB962C8B-B14F-4D97-AF65-F5344CB8AC3E}">
        <p14:creationId xmlns:p14="http://schemas.microsoft.com/office/powerpoint/2010/main" val="130560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2F023094-2898-4E19-944E-E0E1CBAF1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4A9E91-ABC8-4BED-BA67-1EB1DB7BCA56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198705-7C44-4473-9164-709D0B6DB343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1F0210-6F37-48DA-9EE3-BEC23A49DF2D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C433D3-BBDE-48F1-B66A-73024CE9B0BF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20A8F2-B803-4464-A68D-054C9D2D9B45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D2E2C1-DFB1-4913-ADBE-F0E8B20F3E84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28191B-7BF7-4697-BC2F-6799841A67A6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51580C-3BDA-4E82-870C-1A21FEDE9BCB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C731BA-2582-4E79-8E8C-DAB6444C2A12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C4939B-6EA3-47BB-B565-EFBE36C19884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FF2DDB-1136-4714-983C-6003C3566054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ED9325-B0E7-41D6-A0E1-05D1D884E4BB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7034B0-F6C1-4EF7-AFB1-C19EFF9B0F31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C3C9FD-EEEC-4260-A2B5-4A27FA1DD00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10C0E2-B6B1-4BF3-B158-3DA039356AB1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软件设计二：核心应用流程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B32340-C0D5-4DBA-8FBA-AC8D8DE5EE36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CD0A4A-B4E1-4609-AD9F-DECD3A68A22D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2266950" cy="264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437508-0932-44F1-AA0C-CEE076BD6DA7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2266950" cy="40005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36EAB6-166D-4F74-9A51-7B81F01CEB4A}"/>
              </a:ext>
            </a:extLst>
          </p:cNvPr>
          <p:cNvSpPr>
            <a:spLocks noGrp="1"/>
          </p:cNvSpPr>
          <p:nvPr/>
        </p:nvSpPr>
        <p:spPr>
          <a:xfrm>
            <a:off x="857250" y="18669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多媒体资源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675156-0E3C-4A54-8C8A-5B39F15598D5}"/>
              </a:ext>
            </a:extLst>
          </p:cNvPr>
          <p:cNvSpPr>
            <a:spLocks noGrp="1"/>
          </p:cNvSpPr>
          <p:nvPr/>
        </p:nvSpPr>
        <p:spPr>
          <a:xfrm>
            <a:off x="971550" y="24574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SD卡扫描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路径解析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分块读取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图片/视频/小说显示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9F3299C-4FA8-4199-9A04-D88501814420}"/>
              </a:ext>
            </a:extLst>
          </p:cNvPr>
          <p:cNvSpPr>
            <a:spLocks noGrp="1"/>
          </p:cNvSpPr>
          <p:nvPr/>
        </p:nvSpPr>
        <p:spPr>
          <a:xfrm>
            <a:off x="3600450" y="1790700"/>
            <a:ext cx="2266950" cy="264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61BDE48-69DA-480E-AE47-A374E039E959}"/>
              </a:ext>
            </a:extLst>
          </p:cNvPr>
          <p:cNvSpPr>
            <a:spLocks noGrp="1"/>
          </p:cNvSpPr>
          <p:nvPr/>
        </p:nvSpPr>
        <p:spPr>
          <a:xfrm>
            <a:off x="3600450" y="1790700"/>
            <a:ext cx="2266950" cy="400050"/>
          </a:xfrm>
          <a:prstGeom prst="rect">
            <a:avLst/>
          </a:prstGeom>
          <a:solidFill>
            <a:srgbClr val="20A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94E584-D188-4824-B18A-5C6E2F62898A}"/>
              </a:ext>
            </a:extLst>
          </p:cNvPr>
          <p:cNvSpPr>
            <a:spLocks noGrp="1"/>
          </p:cNvSpPr>
          <p:nvPr/>
        </p:nvSpPr>
        <p:spPr>
          <a:xfrm>
            <a:off x="3714750" y="18669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时间同步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C289991-CF2D-4FB4-85B3-D2466D24E364}"/>
              </a:ext>
            </a:extLst>
          </p:cNvPr>
          <p:cNvSpPr>
            <a:spLocks noGrp="1"/>
          </p:cNvSpPr>
          <p:nvPr/>
        </p:nvSpPr>
        <p:spPr>
          <a:xfrm>
            <a:off x="3829050" y="24574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RTC读时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SNTP校准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写入SD3078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表盘同步显示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5CE18A9-A051-4888-82F2-A7147D864981}"/>
              </a:ext>
            </a:extLst>
          </p:cNvPr>
          <p:cNvSpPr>
            <a:spLocks noGrp="1"/>
          </p:cNvSpPr>
          <p:nvPr/>
        </p:nvSpPr>
        <p:spPr>
          <a:xfrm>
            <a:off x="6457950" y="1790700"/>
            <a:ext cx="2266950" cy="264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9174A4-71EC-4A60-BE8C-C64459A8F53C}"/>
              </a:ext>
            </a:extLst>
          </p:cNvPr>
          <p:cNvSpPr>
            <a:spLocks noGrp="1"/>
          </p:cNvSpPr>
          <p:nvPr/>
        </p:nvSpPr>
        <p:spPr>
          <a:xfrm>
            <a:off x="6457950" y="1790700"/>
            <a:ext cx="2266950" cy="400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A713791-B3AB-4C20-8FDF-33DA7F47D782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OTA升级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8CC2FD-47F2-4FEC-8986-C2CA2F8275B6}"/>
              </a:ext>
            </a:extLst>
          </p:cNvPr>
          <p:cNvSpPr>
            <a:spLocks noGrp="1"/>
          </p:cNvSpPr>
          <p:nvPr/>
        </p:nvSpPr>
        <p:spPr>
          <a:xfrm>
            <a:off x="6686550" y="24574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本地或云端输入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写入备份分区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固件校验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重启或点击跳转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6617DED-2672-4429-936D-AE0175DF7587}"/>
              </a:ext>
            </a:extLst>
          </p:cNvPr>
          <p:cNvSpPr>
            <a:spLocks noGrp="1"/>
          </p:cNvSpPr>
          <p:nvPr/>
        </p:nvSpPr>
        <p:spPr>
          <a:xfrm>
            <a:off x="9315450" y="1790700"/>
            <a:ext cx="2266950" cy="264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84FC95B-BFA1-434D-99D5-F64814F53F81}"/>
              </a:ext>
            </a:extLst>
          </p:cNvPr>
          <p:cNvSpPr>
            <a:spLocks noGrp="1"/>
          </p:cNvSpPr>
          <p:nvPr/>
        </p:nvSpPr>
        <p:spPr>
          <a:xfrm>
            <a:off x="9315450" y="1790700"/>
            <a:ext cx="2266950" cy="400050"/>
          </a:xfrm>
          <a:prstGeom prst="rect">
            <a:avLst/>
          </a:prstGeom>
          <a:solidFill>
            <a:srgbClr val="18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A587DC-13AF-43E3-81F7-620C3A8CD434}"/>
              </a:ext>
            </a:extLst>
          </p:cNvPr>
          <p:cNvSpPr>
            <a:spLocks noGrp="1"/>
          </p:cNvSpPr>
          <p:nvPr/>
        </p:nvSpPr>
        <p:spPr>
          <a:xfrm>
            <a:off x="9429750" y="18669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低功耗管理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FACA0EA-C903-4190-80FC-77AED07F438E}"/>
              </a:ext>
            </a:extLst>
          </p:cNvPr>
          <p:cNvSpPr>
            <a:spLocks noGrp="1"/>
          </p:cNvSpPr>
          <p:nvPr/>
        </p:nvSpPr>
        <p:spPr>
          <a:xfrm>
            <a:off x="9544050" y="24574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空闲检测/长按按键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关闭背光与外设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设置唤醒源</a:t>
            </a:r>
          </a:p>
          <a:p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进入休眠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0569C09-EDB5-427B-AB16-5E0609CE8ECC}"/>
              </a:ext>
            </a:extLst>
          </p:cNvPr>
          <p:cNvSpPr>
            <a:spLocks noGrp="1"/>
          </p:cNvSpPr>
          <p:nvPr/>
        </p:nvSpPr>
        <p:spPr>
          <a:xfrm>
            <a:off x="1181100" y="4972050"/>
            <a:ext cx="981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队列作用：业务任务只负责产生状态和数据，显示层只负责消费消息并刷新界面，从而降低多任务并发下的UI阻塞风险。</a:t>
            </a:r>
          </a:p>
        </p:txBody>
      </p:sp>
    </p:spTree>
    <p:extLst>
      <p:ext uri="{BB962C8B-B14F-4D97-AF65-F5344CB8AC3E}">
        <p14:creationId xmlns:p14="http://schemas.microsoft.com/office/powerpoint/2010/main" val="582712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1EDBD50A-DB40-436C-B985-4A4F9A1625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501A99-7650-40B2-B641-0E820D902F1F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2D3CD9-61E7-44BC-9553-5C9E1C66F17C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F27811-FD51-4A75-84D1-5ACEBF897D7F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F98AE7-AA67-4E18-B3D3-A74C4687076C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120588-A060-4736-84BB-1B3D7E5EB2CE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963C03-A3EC-481F-92B2-50A73843B413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0E922A-9810-46F2-A22D-B7FE10B8B7BD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F3C988-4292-4453-A515-266721CDE917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4D9AFC-36BF-401E-A18D-61F3FE6B44EE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2B0723-DB10-41E2-B43A-053BC645AB0C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38743B-6C5F-4D3D-BE68-BC1C2BFE9E50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E50DA6-B20B-4192-A0A0-4446FCED894B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96B251-84E1-4BE7-9679-C7B344980CEC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953EDA-7805-4B1A-9169-5D19BE5C794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980E2B-D20F-4570-A84D-CBAB08B6078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系统调试一：功能测试结果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ADAA4B-1079-449C-AE45-AD0E63C2DE70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2CA475-EB77-4A2A-B725-5B0AFE0339FE}"/>
              </a:ext>
            </a:extLst>
          </p:cNvPr>
          <p:cNvSpPr>
            <a:spLocks noGrp="1"/>
          </p:cNvSpPr>
          <p:nvPr/>
        </p:nvSpPr>
        <p:spPr>
          <a:xfrm>
            <a:off x="1000125" y="1657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287A65-39E8-40F6-B56A-4641EB34AEDE}"/>
              </a:ext>
            </a:extLst>
          </p:cNvPr>
          <p:cNvSpPr>
            <a:spLocks noGrp="1"/>
          </p:cNvSpPr>
          <p:nvPr/>
        </p:nvSpPr>
        <p:spPr>
          <a:xfrm>
            <a:off x="2381250" y="1714500"/>
            <a:ext cx="4476750" cy="19050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175B98-B893-4A7F-BBF2-126494BAB1C7}"/>
              </a:ext>
            </a:extLst>
          </p:cNvPr>
          <p:cNvSpPr>
            <a:spLocks noGrp="1"/>
          </p:cNvSpPr>
          <p:nvPr/>
        </p:nvSpPr>
        <p:spPr>
          <a:xfrm>
            <a:off x="2381250" y="1714500"/>
            <a:ext cx="4118610" cy="190500"/>
          </a:xfrm>
          <a:prstGeom prst="rect">
            <a:avLst/>
          </a:prstGeom>
          <a:solidFill>
            <a:srgbClr val="18A66A"/>
          </a:solidFill>
          <a:ln w="9525">
            <a:solidFill>
              <a:srgbClr val="18A66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762630-B4B7-40D8-9083-ED64B1645A12}"/>
              </a:ext>
            </a:extLst>
          </p:cNvPr>
          <p:cNvSpPr>
            <a:spLocks noGrp="1"/>
          </p:cNvSpPr>
          <p:nvPr/>
        </p:nvSpPr>
        <p:spPr>
          <a:xfrm>
            <a:off x="7029450" y="1628775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E2E64C-3D71-486A-A666-A2BDCF3BB424}"/>
              </a:ext>
            </a:extLst>
          </p:cNvPr>
          <p:cNvSpPr>
            <a:spLocks noGrp="1"/>
          </p:cNvSpPr>
          <p:nvPr/>
        </p:nvSpPr>
        <p:spPr>
          <a:xfrm>
            <a:off x="7905750" y="16002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表盘、主菜单、快捷面板切换正常；快速滑动时偶有轻微撕裂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E0ADCE-5018-4BD3-9464-B52E8893D9C8}"/>
              </a:ext>
            </a:extLst>
          </p:cNvPr>
          <p:cNvSpPr>
            <a:spLocks noGrp="1"/>
          </p:cNvSpPr>
          <p:nvPr/>
        </p:nvSpPr>
        <p:spPr>
          <a:xfrm>
            <a:off x="1000125" y="23622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A3BB20-88E9-4471-8E44-2FA86B655607}"/>
              </a:ext>
            </a:extLst>
          </p:cNvPr>
          <p:cNvSpPr>
            <a:spLocks noGrp="1"/>
          </p:cNvSpPr>
          <p:nvPr/>
        </p:nvSpPr>
        <p:spPr>
          <a:xfrm>
            <a:off x="2381250" y="2419350"/>
            <a:ext cx="4476750" cy="19050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8D3BD3-8FAA-49F8-8CA0-DA7D8A91E596}"/>
              </a:ext>
            </a:extLst>
          </p:cNvPr>
          <p:cNvSpPr>
            <a:spLocks noGrp="1"/>
          </p:cNvSpPr>
          <p:nvPr/>
        </p:nvSpPr>
        <p:spPr>
          <a:xfrm>
            <a:off x="2381250" y="2419350"/>
            <a:ext cx="3760470" cy="190500"/>
          </a:xfrm>
          <a:prstGeom prst="rect">
            <a:avLst/>
          </a:prstGeom>
          <a:solidFill>
            <a:srgbClr val="20A8C7"/>
          </a:solidFill>
          <a:ln w="9525">
            <a:solidFill>
              <a:srgbClr val="20A8C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AC1256-4FE8-415E-8368-67B60131556C}"/>
              </a:ext>
            </a:extLst>
          </p:cNvPr>
          <p:cNvSpPr>
            <a:spLocks noGrp="1"/>
          </p:cNvSpPr>
          <p:nvPr/>
        </p:nvSpPr>
        <p:spPr>
          <a:xfrm>
            <a:off x="7029450" y="2333625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070575-612C-43DA-90DC-C082F3BA9D4C}"/>
              </a:ext>
            </a:extLst>
          </p:cNvPr>
          <p:cNvSpPr>
            <a:spLocks noGrp="1"/>
          </p:cNvSpPr>
          <p:nvPr/>
        </p:nvSpPr>
        <p:spPr>
          <a:xfrm>
            <a:off x="7905750" y="23050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支持SD卡图片浏览和壁纸更换；大图快速翻页存在读取延迟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D2EA89D-08FD-43F7-8B64-B1398C2F01D0}"/>
              </a:ext>
            </a:extLst>
          </p:cNvPr>
          <p:cNvSpPr>
            <a:spLocks noGrp="1"/>
          </p:cNvSpPr>
          <p:nvPr/>
        </p:nvSpPr>
        <p:spPr>
          <a:xfrm>
            <a:off x="1000125" y="30670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4FD0B7-5BF1-45E1-AE7B-ED7FED483223}"/>
              </a:ext>
            </a:extLst>
          </p:cNvPr>
          <p:cNvSpPr>
            <a:spLocks noGrp="1"/>
          </p:cNvSpPr>
          <p:nvPr/>
        </p:nvSpPr>
        <p:spPr>
          <a:xfrm>
            <a:off x="2381250" y="3124200"/>
            <a:ext cx="4476750" cy="19050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2454E86-3ECF-482A-9A70-95BEAC8B8569}"/>
              </a:ext>
            </a:extLst>
          </p:cNvPr>
          <p:cNvSpPr>
            <a:spLocks noGrp="1"/>
          </p:cNvSpPr>
          <p:nvPr/>
        </p:nvSpPr>
        <p:spPr>
          <a:xfrm>
            <a:off x="2381250" y="3124200"/>
            <a:ext cx="3670935" cy="1905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B7E480B-636E-4853-A30B-92409FEEF9D2}"/>
              </a:ext>
            </a:extLst>
          </p:cNvPr>
          <p:cNvSpPr>
            <a:spLocks noGrp="1"/>
          </p:cNvSpPr>
          <p:nvPr/>
        </p:nvSpPr>
        <p:spPr>
          <a:xfrm>
            <a:off x="7029450" y="3038475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6032DE-B59E-45D5-9F38-A28EF13BD75B}"/>
              </a:ext>
            </a:extLst>
          </p:cNvPr>
          <p:cNvSpPr>
            <a:spLocks noGrp="1"/>
          </p:cNvSpPr>
          <p:nvPr/>
        </p:nvSpPr>
        <p:spPr>
          <a:xfrm>
            <a:off x="7905750" y="30099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MJPEG可连续播放，平均约25fps；高负载下会少量掉帧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7B4EB5-A001-4943-A02C-621364A4EBB9}"/>
              </a:ext>
            </a:extLst>
          </p:cNvPr>
          <p:cNvSpPr>
            <a:spLocks noGrp="1"/>
          </p:cNvSpPr>
          <p:nvPr/>
        </p:nvSpPr>
        <p:spPr>
          <a:xfrm>
            <a:off x="1000125" y="37719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30FCBA-2864-4AAF-8485-5E90EB8D92CE}"/>
              </a:ext>
            </a:extLst>
          </p:cNvPr>
          <p:cNvSpPr>
            <a:spLocks noGrp="1"/>
          </p:cNvSpPr>
          <p:nvPr/>
        </p:nvSpPr>
        <p:spPr>
          <a:xfrm>
            <a:off x="2381250" y="3829050"/>
            <a:ext cx="4476750" cy="19050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6FBE51-B6E9-458D-A0BF-2C1187666361}"/>
              </a:ext>
            </a:extLst>
          </p:cNvPr>
          <p:cNvSpPr>
            <a:spLocks noGrp="1"/>
          </p:cNvSpPr>
          <p:nvPr/>
        </p:nvSpPr>
        <p:spPr>
          <a:xfrm>
            <a:off x="2381250" y="3829050"/>
            <a:ext cx="4208145" cy="190500"/>
          </a:xfrm>
          <a:prstGeom prst="rect">
            <a:avLst/>
          </a:prstGeom>
          <a:solidFill>
            <a:srgbClr val="18A66A"/>
          </a:solidFill>
          <a:ln w="9525">
            <a:solidFill>
              <a:srgbClr val="18A66A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63638F-7109-4A19-B26A-085BEFEE9F87}"/>
              </a:ext>
            </a:extLst>
          </p:cNvPr>
          <p:cNvSpPr>
            <a:spLocks noGrp="1"/>
          </p:cNvSpPr>
          <p:nvPr/>
        </p:nvSpPr>
        <p:spPr>
          <a:xfrm>
            <a:off x="7029450" y="3743325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EC155C-DA9F-4C00-8D5F-3371E3108852}"/>
              </a:ext>
            </a:extLst>
          </p:cNvPr>
          <p:cNvSpPr>
            <a:spLocks noGrp="1"/>
          </p:cNvSpPr>
          <p:nvPr/>
        </p:nvSpPr>
        <p:spPr>
          <a:xfrm>
            <a:off x="7905750" y="37147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TXT分屏读取稳定，支持断点续读和阅读位置保存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B7CED4D-4517-42BE-93B3-5393F4588C9C}"/>
              </a:ext>
            </a:extLst>
          </p:cNvPr>
          <p:cNvSpPr>
            <a:spLocks noGrp="1"/>
          </p:cNvSpPr>
          <p:nvPr/>
        </p:nvSpPr>
        <p:spPr>
          <a:xfrm>
            <a:off x="1000125" y="4476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2AA2D09-8B51-47B2-BDB3-69668683BF37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4476750" cy="19050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3E59340-4AA3-4708-A0B6-54074D0944FA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4029075" cy="19050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C542B96-688C-4C30-93DA-2BC2021B5A3C}"/>
              </a:ext>
            </a:extLst>
          </p:cNvPr>
          <p:cNvSpPr>
            <a:spLocks noGrp="1"/>
          </p:cNvSpPr>
          <p:nvPr/>
        </p:nvSpPr>
        <p:spPr>
          <a:xfrm>
            <a:off x="7029450" y="4448175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BDBD6D7-F6CA-46A3-AAE1-2012525DBCD1}"/>
              </a:ext>
            </a:extLst>
          </p:cNvPr>
          <p:cNvSpPr>
            <a:spLocks noGrp="1"/>
          </p:cNvSpPr>
          <p:nvPr/>
        </p:nvSpPr>
        <p:spPr>
          <a:xfrm>
            <a:off x="7905750" y="44196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WiFi、天气、NTP、OneNET通信、本地与云端OTA完成验证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FA54970-30FE-4078-A94A-917937EF4754}"/>
              </a:ext>
            </a:extLst>
          </p:cNvPr>
          <p:cNvSpPr>
            <a:spLocks noGrp="1"/>
          </p:cNvSpPr>
          <p:nvPr/>
        </p:nvSpPr>
        <p:spPr>
          <a:xfrm>
            <a:off x="990600" y="5353050"/>
            <a:ext cx="99822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8507DAC-8D08-4DCE-8D84-5D9FD4699D31}"/>
              </a:ext>
            </a:extLst>
          </p:cNvPr>
          <p:cNvSpPr>
            <a:spLocks noGrp="1"/>
          </p:cNvSpPr>
          <p:nvPr/>
        </p:nvSpPr>
        <p:spPr>
          <a:xfrm>
            <a:off x="1200150" y="5476875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9F585CA-80F8-4531-8E37-BDCA25F2CC2C}"/>
              </a:ext>
            </a:extLst>
          </p:cNvPr>
          <p:cNvSpPr>
            <a:spLocks noGrp="1"/>
          </p:cNvSpPr>
          <p:nvPr/>
        </p:nvSpPr>
        <p:spPr>
          <a:xfrm>
            <a:off x="2476500" y="5429250"/>
            <a:ext cx="7334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核心功能均能运行，主要瓶颈集中在SD卡大文件读取、MJPEG解码刷新和快速手势下的局部显示撕裂。</a:t>
            </a:r>
          </a:p>
        </p:txBody>
      </p:sp>
    </p:spTree>
    <p:extLst>
      <p:ext uri="{BB962C8B-B14F-4D97-AF65-F5344CB8AC3E}">
        <p14:creationId xmlns:p14="http://schemas.microsoft.com/office/powerpoint/2010/main" val="172987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B32D6649-A5D2-4640-BF28-20CE1F83E9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83C57-BB2D-4D60-A7C3-3573E00F64CC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392449-22E2-4246-A4D8-25FDCFF03113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D9631-AC39-45BB-8D2C-2B4862EB3C71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50B85B-3D73-4950-96F0-80195E527734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99BF24-0FB0-4806-B895-2EA954F9D6DF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267E58-7555-432F-8526-A264B078941B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03BB2F-480C-40A6-95D1-9792CD28526A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9E850C-C5C2-4ADC-A470-1E8E3778ABBA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440E93-BD31-44E8-B3FA-3F65C1CEE807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478FC7-D8AB-4915-8FD7-6FDA42290107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88D2E4-EF33-4D35-91A2-7C3C1DA40C69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668028-EA4D-463C-8A02-2307C6306395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4707C8-8CF3-401B-8A32-EEDA12DB5D0C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E7F24B-78B5-4BC8-B17B-99AD6A94BBF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412F18-950D-4BFF-A506-7FCAE405082D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系统调试二：功耗与续航测试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771D4F-6F4F-4FB0-B69E-C19279EF5182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8A5FC4-F225-4D1E-938D-86BD63CAEF40}"/>
              </a:ext>
            </a:extLst>
          </p:cNvPr>
          <p:cNvSpPr>
            <a:spLocks noGrp="1"/>
          </p:cNvSpPr>
          <p:nvPr/>
        </p:nvSpPr>
        <p:spPr>
          <a:xfrm>
            <a:off x="1104900" y="17716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100%亮度+WiFi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6249C4-9D23-4D13-A1ED-7A5A48EEB811}"/>
              </a:ext>
            </a:extLst>
          </p:cNvPr>
          <p:cNvSpPr>
            <a:spLocks noGrp="1"/>
          </p:cNvSpPr>
          <p:nvPr/>
        </p:nvSpPr>
        <p:spPr>
          <a:xfrm>
            <a:off x="3143250" y="1828800"/>
            <a:ext cx="5334000" cy="20955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E20D50-7D18-452D-A409-8B012FFBFEA5}"/>
              </a:ext>
            </a:extLst>
          </p:cNvPr>
          <p:cNvSpPr>
            <a:spLocks noGrp="1"/>
          </p:cNvSpPr>
          <p:nvPr/>
        </p:nvSpPr>
        <p:spPr>
          <a:xfrm>
            <a:off x="3143250" y="1828800"/>
            <a:ext cx="5334000" cy="209550"/>
          </a:xfrm>
          <a:prstGeom prst="rect">
            <a:avLst/>
          </a:prstGeom>
          <a:solidFill>
            <a:srgbClr val="E25555"/>
          </a:solidFill>
          <a:ln w="9525">
            <a:solidFill>
              <a:srgbClr val="E255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5780D0-B588-4E96-9C88-7BAFA4A0949B}"/>
              </a:ext>
            </a:extLst>
          </p:cNvPr>
          <p:cNvSpPr>
            <a:spLocks noGrp="1"/>
          </p:cNvSpPr>
          <p:nvPr/>
        </p:nvSpPr>
        <p:spPr>
          <a:xfrm>
            <a:off x="8705850" y="177165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0.233A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3B0D9F-26CE-4528-9419-D017682E2140}"/>
              </a:ext>
            </a:extLst>
          </p:cNvPr>
          <p:cNvSpPr>
            <a:spLocks noGrp="1"/>
          </p:cNvSpPr>
          <p:nvPr/>
        </p:nvSpPr>
        <p:spPr>
          <a:xfrm>
            <a:off x="9810750" y="177165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约1.9h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B74C8B-C5DB-4E2E-8FF5-3F60AAFA6289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10%亮度+无WiFi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2D7298-2F7C-4193-8018-4A419E988DA9}"/>
              </a:ext>
            </a:extLst>
          </p:cNvPr>
          <p:cNvSpPr>
            <a:spLocks noGrp="1"/>
          </p:cNvSpPr>
          <p:nvPr/>
        </p:nvSpPr>
        <p:spPr>
          <a:xfrm>
            <a:off x="3143250" y="2533650"/>
            <a:ext cx="5334000" cy="20955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D77C3F-8422-44E0-917F-0A99505DE6A7}"/>
              </a:ext>
            </a:extLst>
          </p:cNvPr>
          <p:cNvSpPr>
            <a:spLocks noGrp="1"/>
          </p:cNvSpPr>
          <p:nvPr/>
        </p:nvSpPr>
        <p:spPr>
          <a:xfrm>
            <a:off x="3143250" y="2533650"/>
            <a:ext cx="1327777" cy="209550"/>
          </a:xfrm>
          <a:prstGeom prst="rect">
            <a:avLst/>
          </a:prstGeom>
          <a:solidFill>
            <a:srgbClr val="18A66A"/>
          </a:solidFill>
          <a:ln w="9525">
            <a:solidFill>
              <a:srgbClr val="18A66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4D474D-DAE7-453C-9B5C-5C60FEDABDC1}"/>
              </a:ext>
            </a:extLst>
          </p:cNvPr>
          <p:cNvSpPr>
            <a:spLocks noGrp="1"/>
          </p:cNvSpPr>
          <p:nvPr/>
        </p:nvSpPr>
        <p:spPr>
          <a:xfrm>
            <a:off x="8705850" y="24765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0.058A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D8EA105-2F4A-4CB2-9C89-51192549467F}"/>
              </a:ext>
            </a:extLst>
          </p:cNvPr>
          <p:cNvSpPr>
            <a:spLocks noGrp="1"/>
          </p:cNvSpPr>
          <p:nvPr/>
        </p:nvSpPr>
        <p:spPr>
          <a:xfrm>
            <a:off x="9810750" y="24765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约7.7h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189D1D5-C890-4B0E-9035-20D14047B25C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LightSleep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12D4DF-2DA6-4C55-80F3-D636DA1E4316}"/>
              </a:ext>
            </a:extLst>
          </p:cNvPr>
          <p:cNvSpPr>
            <a:spLocks noGrp="1"/>
          </p:cNvSpPr>
          <p:nvPr/>
        </p:nvSpPr>
        <p:spPr>
          <a:xfrm>
            <a:off x="3143250" y="3238500"/>
            <a:ext cx="5334000" cy="20955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97DD0A0-9A4B-4770-97CA-C5A2DE17A71E}"/>
              </a:ext>
            </a:extLst>
          </p:cNvPr>
          <p:cNvSpPr>
            <a:spLocks noGrp="1"/>
          </p:cNvSpPr>
          <p:nvPr/>
        </p:nvSpPr>
        <p:spPr>
          <a:xfrm>
            <a:off x="3143250" y="3238500"/>
            <a:ext cx="183142" cy="2095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E49916-6531-470B-A32D-719E9EB6B223}"/>
              </a:ext>
            </a:extLst>
          </p:cNvPr>
          <p:cNvSpPr>
            <a:spLocks noGrp="1"/>
          </p:cNvSpPr>
          <p:nvPr/>
        </p:nvSpPr>
        <p:spPr>
          <a:xfrm>
            <a:off x="8705850" y="318135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FCB642-EF4B-4630-A364-7B3C1202D99D}"/>
              </a:ext>
            </a:extLst>
          </p:cNvPr>
          <p:cNvSpPr>
            <a:spLocks noGrp="1"/>
          </p:cNvSpPr>
          <p:nvPr/>
        </p:nvSpPr>
        <p:spPr>
          <a:xfrm>
            <a:off x="9810750" y="318135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约56h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4ED658-3AA9-4054-9CE5-00A4AF69466A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DeepSleep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6846335-A94B-4777-BB79-617C219C6F4B}"/>
              </a:ext>
            </a:extLst>
          </p:cNvPr>
          <p:cNvSpPr>
            <a:spLocks noGrp="1"/>
          </p:cNvSpPr>
          <p:nvPr/>
        </p:nvSpPr>
        <p:spPr>
          <a:xfrm>
            <a:off x="3143250" y="3943350"/>
            <a:ext cx="5334000" cy="209550"/>
          </a:xfrm>
          <a:prstGeom prst="rect">
            <a:avLst/>
          </a:prstGeom>
          <a:solidFill>
            <a:srgbClr val="DDEBF5"/>
          </a:solidFill>
          <a:ln w="9525">
            <a:solidFill>
              <a:srgbClr val="DDEBF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C204022-3D4E-425C-9208-83112E39FD1E}"/>
              </a:ext>
            </a:extLst>
          </p:cNvPr>
          <p:cNvSpPr>
            <a:spLocks noGrp="1"/>
          </p:cNvSpPr>
          <p:nvPr/>
        </p:nvSpPr>
        <p:spPr>
          <a:xfrm>
            <a:off x="3143250" y="3943350"/>
            <a:ext cx="137356" cy="209550"/>
          </a:xfrm>
          <a:prstGeom prst="rect">
            <a:avLst/>
          </a:prstGeom>
          <a:solidFill>
            <a:srgbClr val="20A8C7"/>
          </a:solidFill>
          <a:ln w="9525">
            <a:solidFill>
              <a:srgbClr val="20A8C7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D061D03-AADD-4796-AB94-129D9BF7DBE9}"/>
              </a:ext>
            </a:extLst>
          </p:cNvPr>
          <p:cNvSpPr>
            <a:spLocks noGrp="1"/>
          </p:cNvSpPr>
          <p:nvPr/>
        </p:nvSpPr>
        <p:spPr>
          <a:xfrm>
            <a:off x="8705850" y="38862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2ED5158-00AA-4707-845B-68948A675C78}"/>
              </a:ext>
            </a:extLst>
          </p:cNvPr>
          <p:cNvSpPr>
            <a:spLocks noGrp="1"/>
          </p:cNvSpPr>
          <p:nvPr/>
        </p:nvSpPr>
        <p:spPr>
          <a:xfrm>
            <a:off x="9810750" y="38862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约75h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E7B8D1B-CB1E-4D08-853C-801148BD1104}"/>
              </a:ext>
            </a:extLst>
          </p:cNvPr>
          <p:cNvSpPr>
            <a:spLocks noGrp="1"/>
          </p:cNvSpPr>
          <p:nvPr/>
        </p:nvSpPr>
        <p:spPr>
          <a:xfrm>
            <a:off x="1200150" y="464820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理论续航变化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A232300-D8D5-4ED4-BB46-AAAB2B0494FA}"/>
              </a:ext>
            </a:extLst>
          </p:cNvPr>
          <p:cNvSpPr>
            <a:spLocks noGrp="1"/>
          </p:cNvSpPr>
          <p:nvPr/>
        </p:nvSpPr>
        <p:spPr>
          <a:xfrm>
            <a:off x="2724150" y="5543550"/>
            <a:ext cx="6096000" cy="14288"/>
          </a:xfrm>
          <a:prstGeom prst="rect">
            <a:avLst/>
          </a:prstGeom>
          <a:solidFill>
            <a:srgbClr val="CFE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8C32E63-5DF8-40AA-A1C2-7334323A36CA}"/>
              </a:ext>
            </a:extLst>
          </p:cNvPr>
          <p:cNvSpPr>
            <a:spLocks noGrp="1"/>
          </p:cNvSpPr>
          <p:nvPr/>
        </p:nvSpPr>
        <p:spPr>
          <a:xfrm>
            <a:off x="2724150" y="4476750"/>
            <a:ext cx="14288" cy="1066800"/>
          </a:xfrm>
          <a:prstGeom prst="rect">
            <a:avLst/>
          </a:prstGeom>
          <a:solidFill>
            <a:srgbClr val="CFE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7C961C7-CFDE-4CF3-9DE1-AA7A5B672E46}"/>
              </a:ext>
            </a:extLst>
          </p:cNvPr>
          <p:cNvSpPr>
            <a:spLocks noGrp="1"/>
          </p:cNvSpPr>
          <p:nvPr/>
        </p:nvSpPr>
        <p:spPr>
          <a:xfrm>
            <a:off x="2867025" y="5381625"/>
            <a:ext cx="95250" cy="952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CC7073A-AFF3-45ED-A665-AC4213017708}"/>
              </a:ext>
            </a:extLst>
          </p:cNvPr>
          <p:cNvSpPr>
            <a:spLocks noGrp="1"/>
          </p:cNvSpPr>
          <p:nvPr/>
        </p:nvSpPr>
        <p:spPr>
          <a:xfrm>
            <a:off x="2647950" y="51054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1.9h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49254C5-35BB-4293-A1F1-320FDFEB66D9}"/>
              </a:ext>
            </a:extLst>
          </p:cNvPr>
          <p:cNvSpPr>
            <a:spLocks noGrp="1"/>
          </p:cNvSpPr>
          <p:nvPr/>
        </p:nvSpPr>
        <p:spPr>
          <a:xfrm>
            <a:off x="2914650" y="5162550"/>
            <a:ext cx="1771650" cy="28575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E373F48-F06B-4C29-B69A-B3A09753766C}"/>
              </a:ext>
            </a:extLst>
          </p:cNvPr>
          <p:cNvSpPr>
            <a:spLocks noGrp="1"/>
          </p:cNvSpPr>
          <p:nvPr/>
        </p:nvSpPr>
        <p:spPr>
          <a:xfrm>
            <a:off x="4638675" y="5114925"/>
            <a:ext cx="95250" cy="952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F67626-4CAB-4C61-8873-F0A7DCFF6415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7.7h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C108963-C430-4F21-BA55-502B4F515450}"/>
              </a:ext>
            </a:extLst>
          </p:cNvPr>
          <p:cNvSpPr>
            <a:spLocks noGrp="1"/>
          </p:cNvSpPr>
          <p:nvPr/>
        </p:nvSpPr>
        <p:spPr>
          <a:xfrm>
            <a:off x="4686300" y="4857750"/>
            <a:ext cx="1771650" cy="28575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73F879C-369C-4A67-90F3-CE76C2250FE4}"/>
              </a:ext>
            </a:extLst>
          </p:cNvPr>
          <p:cNvSpPr>
            <a:spLocks noGrp="1"/>
          </p:cNvSpPr>
          <p:nvPr/>
        </p:nvSpPr>
        <p:spPr>
          <a:xfrm>
            <a:off x="6410325" y="4810125"/>
            <a:ext cx="95250" cy="952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B46BA65-B5B1-4959-85F9-167CC5374F46}"/>
              </a:ext>
            </a:extLst>
          </p:cNvPr>
          <p:cNvSpPr>
            <a:spLocks noGrp="1"/>
          </p:cNvSpPr>
          <p:nvPr/>
        </p:nvSpPr>
        <p:spPr>
          <a:xfrm>
            <a:off x="6191250" y="45339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56h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46A9DA5-4D12-4C95-A972-1C4C1D83FFA2}"/>
              </a:ext>
            </a:extLst>
          </p:cNvPr>
          <p:cNvSpPr>
            <a:spLocks noGrp="1"/>
          </p:cNvSpPr>
          <p:nvPr/>
        </p:nvSpPr>
        <p:spPr>
          <a:xfrm>
            <a:off x="6457950" y="4610100"/>
            <a:ext cx="1771650" cy="28575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D6775D3-D1A6-4C4A-B99C-6FB41742A04F}"/>
              </a:ext>
            </a:extLst>
          </p:cNvPr>
          <p:cNvSpPr>
            <a:spLocks noGrp="1"/>
          </p:cNvSpPr>
          <p:nvPr/>
        </p:nvSpPr>
        <p:spPr>
          <a:xfrm>
            <a:off x="8181975" y="4562475"/>
            <a:ext cx="95250" cy="95250"/>
          </a:xfrm>
          <a:prstGeom prst="rect">
            <a:avLst/>
          </a:prstGeom>
          <a:solidFill>
            <a:srgbClr val="0B62A8"/>
          </a:solidFill>
          <a:ln w="9525">
            <a:solidFill>
              <a:srgbClr val="0B62A8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C0EA53F-9F83-493A-85A5-AD0935AB605F}"/>
              </a:ext>
            </a:extLst>
          </p:cNvPr>
          <p:cNvSpPr>
            <a:spLocks noGrp="1"/>
          </p:cNvSpPr>
          <p:nvPr/>
        </p:nvSpPr>
        <p:spPr>
          <a:xfrm>
            <a:off x="7962900" y="42862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75h</a:t>
            </a:r>
          </a:p>
        </p:txBody>
      </p:sp>
    </p:spTree>
    <p:extLst>
      <p:ext uri="{BB962C8B-B14F-4D97-AF65-F5344CB8AC3E}">
        <p14:creationId xmlns:p14="http://schemas.microsoft.com/office/powerpoint/2010/main" val="98768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E5E51D4-1221-43CB-A7E1-F12452CAE3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3D9412-5F3F-4C65-BCA9-274D6F7656BE}"/>
              </a:ext>
            </a:extLst>
          </p:cNvPr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EAF5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C19490-B8EA-4407-99F1-75A752C399D5}"/>
              </a:ext>
            </a:extLst>
          </p:cNvPr>
          <p:cNvSpPr>
            <a:spLocks noGrp="1"/>
          </p:cNvSpPr>
          <p:nvPr/>
        </p:nvSpPr>
        <p:spPr>
          <a:xfrm>
            <a:off x="3238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D066AC-196B-4001-A3F9-D903848F684F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7FFE99-F68D-451A-B1DB-20DE69A568C5}"/>
              </a:ext>
            </a:extLst>
          </p:cNvPr>
          <p:cNvSpPr>
            <a:spLocks noGrp="1"/>
          </p:cNvSpPr>
          <p:nvPr/>
        </p:nvSpPr>
        <p:spPr>
          <a:xfrm>
            <a:off x="13525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1EA672-A0B7-4CF0-B89C-1CAE12AB68C7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0BA09E-31A3-4EEF-9B36-56BFF47F205A}"/>
              </a:ext>
            </a:extLst>
          </p:cNvPr>
          <p:cNvSpPr>
            <a:spLocks noGrp="1"/>
          </p:cNvSpPr>
          <p:nvPr/>
        </p:nvSpPr>
        <p:spPr>
          <a:xfrm>
            <a:off x="23812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21D058-19D9-422A-BD56-DFF6F302DE8D}"/>
              </a:ext>
            </a:extLst>
          </p:cNvPr>
          <p:cNvSpPr>
            <a:spLocks noGrp="1"/>
          </p:cNvSpPr>
          <p:nvPr/>
        </p:nvSpPr>
        <p:spPr>
          <a:xfrm>
            <a:off x="28956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A0A4B6-6B36-40AA-B1D9-B72AD9A5426C}"/>
              </a:ext>
            </a:extLst>
          </p:cNvPr>
          <p:cNvSpPr>
            <a:spLocks noGrp="1"/>
          </p:cNvSpPr>
          <p:nvPr/>
        </p:nvSpPr>
        <p:spPr>
          <a:xfrm>
            <a:off x="340995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16139-865A-4127-938E-F1A915E04FD5}"/>
              </a:ext>
            </a:extLst>
          </p:cNvPr>
          <p:cNvSpPr>
            <a:spLocks noGrp="1"/>
          </p:cNvSpPr>
          <p:nvPr/>
        </p:nvSpPr>
        <p:spPr>
          <a:xfrm>
            <a:off x="392430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2549BC-2B3E-4B06-A33B-FC8B7F279172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7849AA-0AA7-4101-B9AE-A2889DA237CB}"/>
              </a:ext>
            </a:extLst>
          </p:cNvPr>
          <p:cNvSpPr>
            <a:spLocks noGrp="1"/>
          </p:cNvSpPr>
          <p:nvPr/>
        </p:nvSpPr>
        <p:spPr>
          <a:xfrm>
            <a:off x="4953000" y="62293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B3409C-EB5F-4DFB-847C-B2A182CBECC6}"/>
              </a:ext>
            </a:extLst>
          </p:cNvPr>
          <p:cNvSpPr>
            <a:spLocks noGrp="1"/>
          </p:cNvSpPr>
          <p:nvPr/>
        </p:nvSpPr>
        <p:spPr>
          <a:xfrm>
            <a:off x="5467350" y="636270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F53238-2776-43E9-B590-A4EDCF714243}"/>
              </a:ext>
            </a:extLst>
          </p:cNvPr>
          <p:cNvSpPr>
            <a:spLocks noGrp="1"/>
          </p:cNvSpPr>
          <p:nvPr/>
        </p:nvSpPr>
        <p:spPr>
          <a:xfrm>
            <a:off x="5981700" y="6496050"/>
            <a:ext cx="323850" cy="14288"/>
          </a:xfrm>
          <a:prstGeom prst="rect">
            <a:avLst/>
          </a:prstGeom>
          <a:solidFill>
            <a:srgbClr val="B7D7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B349A8-8E2E-487D-9E86-AABF11C740B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FCF80F-CAE6-454D-AC6F-2BD12A59129D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914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D14155-0C52-4396-AB10-F60F93F6DD25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8100"/>
          </a:xfrm>
          <a:prstGeom prst="rect">
            <a:avLst/>
          </a:prstGeom>
          <a:solidFill>
            <a:srgbClr val="0B62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14F06B-5206-47D6-8197-D53B6D4BC06E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4762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577ACC-3934-4108-84C2-A489DB0907E8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85725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97060D-A5C7-417D-B416-8B085BEF007C}"/>
              </a:ext>
            </a:extLst>
          </p:cNvPr>
          <p:cNvSpPr>
            <a:spLocks noGrp="1"/>
          </p:cNvSpPr>
          <p:nvPr/>
        </p:nvSpPr>
        <p:spPr>
          <a:xfrm>
            <a:off x="1123950" y="18478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显示同步与总线带宽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5F4BCB-9E43-4FF4-A63D-ED64777427DA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4095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高负载下仍会出现画面撕裂、短暂停顿和掉帧。后续可引出LCD TE同步信号并接入ESP32-S3外部中断，在LVGL刷新中加入垂直同步；SD卡可由SPI升级为4-bit SDMMC接口，提高图片和视频读取带宽。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446D2A-16AB-42F7-A6CB-4FFE3A502E3E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4762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A8FBD4C-955A-4330-A0B9-A8B25679A551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85725" cy="1257300"/>
          </a:xfrm>
          <a:prstGeom prst="rect">
            <a:avLst/>
          </a:prstGeom>
          <a:solidFill>
            <a:srgbClr val="18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D6261D-02D2-41D3-B51B-7B91FA1015A7}"/>
              </a:ext>
            </a:extLst>
          </p:cNvPr>
          <p:cNvSpPr>
            <a:spLocks noGrp="1"/>
          </p:cNvSpPr>
          <p:nvPr/>
        </p:nvSpPr>
        <p:spPr>
          <a:xfrm>
            <a:off x="6648450" y="18478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75241F-A1BA-428E-A8C2-5B81C9520340}"/>
              </a:ext>
            </a:extLst>
          </p:cNvPr>
          <p:cNvSpPr>
            <a:spLocks noGrp="1"/>
          </p:cNvSpPr>
          <p:nvPr/>
        </p:nvSpPr>
        <p:spPr>
          <a:xfrm>
            <a:off x="6648450" y="2209800"/>
            <a:ext cx="4095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当前LightSleep约0.008A、DeepSleep约0.006A，仍有优化空间。后续可加入负载开关或PMOS电源门控，在DeepSleep中切断非必要外设供电，仅保留按键或RTC域唤醒电路。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B45F65-E9D5-4173-BBC6-22EB321F6C86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4762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9183F1-33FF-42F9-A729-4FBC5C2877C6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85725" cy="1257300"/>
          </a:xfrm>
          <a:prstGeom prst="rect">
            <a:avLst/>
          </a:prstGeom>
          <a:solidFill>
            <a:srgbClr val="20A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7DB2EB-A6B4-4C1F-9D46-C6320005B17E}"/>
              </a:ext>
            </a:extLst>
          </p:cNvPr>
          <p:cNvSpPr>
            <a:spLocks noGrp="1"/>
          </p:cNvSpPr>
          <p:nvPr/>
        </p:nvSpPr>
        <p:spPr>
          <a:xfrm>
            <a:off x="1123950" y="35623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RTC备用电源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252BB90-80F4-4F8F-BEE3-61C1DF20FD6C}"/>
              </a:ext>
            </a:extLst>
          </p:cNvPr>
          <p:cNvSpPr>
            <a:spLocks noGrp="1"/>
          </p:cNvSpPr>
          <p:nvPr/>
        </p:nvSpPr>
        <p:spPr>
          <a:xfrm>
            <a:off x="1123950" y="3924300"/>
            <a:ext cx="4095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现阶段RTC仍依赖主电池供电，主电池耗尽后可能丢失时间。后续可增加小容量法拉电容或贴片式可充电备用电池，保证断电后仍能维持基本走时。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14724C-4ABD-4849-8501-8DB975219C59}"/>
              </a:ext>
            </a:extLst>
          </p:cNvPr>
          <p:cNvSpPr>
            <a:spLocks noGrp="1"/>
          </p:cNvSpPr>
          <p:nvPr/>
        </p:nvSpPr>
        <p:spPr>
          <a:xfrm>
            <a:off x="6381750" y="3409950"/>
            <a:ext cx="4762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FB50C1-7D64-482B-9712-D4A62E8F47F7}"/>
              </a:ext>
            </a:extLst>
          </p:cNvPr>
          <p:cNvSpPr>
            <a:spLocks noGrp="1"/>
          </p:cNvSpPr>
          <p:nvPr/>
        </p:nvSpPr>
        <p:spPr>
          <a:xfrm>
            <a:off x="6381750" y="3409950"/>
            <a:ext cx="85725" cy="1257300"/>
          </a:xfrm>
          <a:prstGeom prst="rect">
            <a:avLst/>
          </a:prstGeom>
          <a:solidFill>
            <a:srgbClr val="E255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3549544-6EEF-4357-BFF2-3617B52AE5BA}"/>
              </a:ext>
            </a:extLst>
          </p:cNvPr>
          <p:cNvSpPr>
            <a:spLocks noGrp="1"/>
          </p:cNvSpPr>
          <p:nvPr/>
        </p:nvSpPr>
        <p:spPr>
          <a:xfrm>
            <a:off x="6648450" y="35623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EEC451-C284-47D6-8A52-66CF0EDBADBF}"/>
              </a:ext>
            </a:extLst>
          </p:cNvPr>
          <p:cNvSpPr>
            <a:spLocks noGrp="1"/>
          </p:cNvSpPr>
          <p:nvPr/>
        </p:nvSpPr>
        <p:spPr>
          <a:xfrm>
            <a:off x="6648450" y="3924300"/>
            <a:ext cx="4095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3D打印外壳壁厚和装配间隙较大，屏幕FPC与主板存在垂直空间占用。后续可优化PCB和外壳结构，将FPC座移至主板背面并开过线孔，降低整机厚度。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90B5F00-695F-47E5-B1F1-A33BF8E20F6F}"/>
              </a:ext>
            </a:extLst>
          </p:cNvPr>
          <p:cNvSpPr>
            <a:spLocks noGrp="1"/>
          </p:cNvSpPr>
          <p:nvPr/>
        </p:nvSpPr>
        <p:spPr>
          <a:xfrm>
            <a:off x="2571750" y="52197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0656665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746</Words>
  <Application>Microsoft Office PowerPoint</Application>
  <DocSecurity>0</DocSecurity>
  <PresentationFormat>宽屏</PresentationFormat>
  <Paragraphs>225</Paragraphs>
  <Slides>12</Slides>
  <Notes>12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华文行楷</vt:lpstr>
      <vt:lpstr>微软雅黑</vt:lpstr>
      <vt:lpstr>微软雅黑</vt:lpstr>
      <vt:lpstr>Arial</vt:lpstr>
      <vt:lpstr>Calibri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zd w</cp:lastModifiedBy>
  <cp:revision>2</cp:revision>
  <dcterms:created xsi:type="dcterms:W3CDTF">2026-05-26T05:21:37Z</dcterms:created>
  <dcterms:modified xsi:type="dcterms:W3CDTF">2026-05-27T16:22:54Z</dcterms:modified>
</cp:coreProperties>
</file>