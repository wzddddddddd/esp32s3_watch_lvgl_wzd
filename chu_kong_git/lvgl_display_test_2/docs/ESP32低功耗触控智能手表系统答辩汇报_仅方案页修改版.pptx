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3" r:id="rId6"/>
    <p:sldId id="261" r:id="rId7"/>
    <p:sldId id="264" r:id="rId8"/>
    <p:sldId id="266" r:id="rId9"/>
    <p:sldId id="267" r:id="rId10"/>
    <p:sldId id="269" r:id="rId11"/>
    <p:sldId id="272" r:id="rId12"/>
    <p:sldId id="273" r:id="rId13"/>
    <p:sldId id="274" r:id="rId14"/>
    <p:sldId id="275" r:id="rId15"/>
    <p:sldId id="278" r:id="rId16"/>
    <p:sldId id="279" r:id="rId17"/>
    <p:sldId id="280" r:id="rId18"/>
    <p:sldId id="28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6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357D53D-250F-4251-8C83-D8536DB7B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F7EA5A7-2DA4-4655-9497-DE98D5175973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522E05D-2FC7-452A-9717-9FADED1CDD3B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7076B16-8DD1-4AF7-8A73-8CCFA6A7C483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7B853C-548A-479D-9EF0-913FB7F5E792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1E51D-E889-44E8-ADB9-4BC82231C105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D3ED0-399F-4CEF-8E83-04D471CBB8C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200252-A3CD-46DE-A492-0CB46661768F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96DAE-8A3D-41E6-B9A3-CD86BBC6D2C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C4F346-A970-4F52-A7B8-1F78FFF18DDE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CDAF5A-377C-404E-90D4-BEEA34C31E31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7C532-E40D-48C3-AA9E-2CC3E0BFA16B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96212D-8F4D-4E8B-B7E6-CDDE601EDD1A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1F587C-8A14-474E-B9AC-B283D84BCEB2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CC1FFD-4FEA-4E59-94A5-CD3DE1FD5959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D7A1F5-4542-416B-AFAA-E898D8EDC505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BF347F-5DB0-40BF-90C0-B1BF0C80EC86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C74A7C-A0F5-4FD5-9393-F8F16BA21FD3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72997C-52B7-4322-9972-97F85BB3C2E5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F660E1-D313-4371-AEAA-C2B06A0B7D04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AABBF9-0636-4428-9C4B-146D7E701C0D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0F958E-FA05-4946-8B7B-8605317DD847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3A19D3-E81A-4055-A73B-2806F93E52AE}"/>
              </a:ext>
            </a:extLst>
          </p:cNvPr>
          <p:cNvSpPr>
            <a:spLocks noGrp="1"/>
          </p:cNvSpPr>
          <p:nvPr/>
        </p:nvSpPr>
        <p:spPr>
          <a:xfrm>
            <a:off x="1409700" y="5905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BCD4F0-B1AF-4DA0-8D84-402438414A4E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552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749FC-09B6-4D58-984A-279B1E43C4A4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AE9DAB-DF34-4785-B2A8-4231547E1D17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00500" cy="38100"/>
          </a:xfrm>
          <a:prstGeom prst="rect">
            <a:avLst/>
          </a:prstGeom>
          <a:solidFill>
            <a:srgbClr val="DDE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B5CB5A-F9BA-4917-B75A-227F6459959D}"/>
              </a:ext>
            </a:extLst>
          </p:cNvPr>
          <p:cNvSpPr>
            <a:spLocks noGrp="1"/>
          </p:cNvSpPr>
          <p:nvPr/>
        </p:nvSpPr>
        <p:spPr>
          <a:xfrm>
            <a:off x="1447800" y="32194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D34634-1348-453D-B733-BFC6EF805D99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钟锭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FB2CE-1336-4D3D-92F7-3C2F11AB1C41}"/>
              </a:ext>
            </a:extLst>
          </p:cNvPr>
          <p:cNvSpPr>
            <a:spLocks noGrp="1"/>
          </p:cNvSpPr>
          <p:nvPr/>
        </p:nvSpPr>
        <p:spPr>
          <a:xfrm>
            <a:off x="1485900" y="45720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D4F88D-72D0-4194-B488-D83213887988}"/>
              </a:ext>
            </a:extLst>
          </p:cNvPr>
          <p:cNvSpPr>
            <a:spLocks noGrp="1"/>
          </p:cNvSpPr>
          <p:nvPr/>
        </p:nvSpPr>
        <p:spPr>
          <a:xfrm>
            <a:off x="1409700" y="60769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82402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DF62D7A-DE19-4632-A0F8-EA5D5CDCC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433B71B-3FE0-4409-BA5F-832D8005FB90}"/>
              </a:ext>
            </a:extLst>
          </p:cNvPr>
          <p:cNvSpPr>
            <a:spLocks noGrp="1"/>
          </p:cNvSpPr>
          <p:nvPr/>
        </p:nvSpPr>
        <p:spPr>
          <a:xfrm>
            <a:off x="2238375" y="-2476500"/>
            <a:ext cx="7715250" cy="4191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B08C7-67AA-4DC6-B019-66DB0B8C24F1}"/>
              </a:ext>
            </a:extLst>
          </p:cNvPr>
          <p:cNvSpPr>
            <a:spLocks noGrp="1"/>
          </p:cNvSpPr>
          <p:nvPr/>
        </p:nvSpPr>
        <p:spPr>
          <a:xfrm>
            <a:off x="5429250" y="419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FFEF1-7678-41AF-9FF8-25B8428785BB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09A6E3C-3E61-4A40-AD76-6A591C951069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18BC2-D082-4AC5-B2B3-C82FCF207296}"/>
              </a:ext>
            </a:extLst>
          </p:cNvPr>
          <p:cNvSpPr>
            <a:spLocks noGrp="1"/>
          </p:cNvSpPr>
          <p:nvPr/>
        </p:nvSpPr>
        <p:spPr>
          <a:xfrm>
            <a:off x="212407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C0876-D6F2-4957-AD37-6397D34CD90D}"/>
              </a:ext>
            </a:extLst>
          </p:cNvPr>
          <p:cNvSpPr>
            <a:spLocks noGrp="1"/>
          </p:cNvSpPr>
          <p:nvPr/>
        </p:nvSpPr>
        <p:spPr>
          <a:xfrm>
            <a:off x="278130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4883DC-B58A-493E-9983-FCBB27828295}"/>
              </a:ext>
            </a:extLst>
          </p:cNvPr>
          <p:cNvSpPr>
            <a:spLocks noGrp="1"/>
          </p:cNvSpPr>
          <p:nvPr/>
        </p:nvSpPr>
        <p:spPr>
          <a:xfrm>
            <a:off x="280035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01B271-8296-4D4B-9264-EA7E1378EBC0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2C6A8-7F99-465D-A860-C5212AE769BE}"/>
              </a:ext>
            </a:extLst>
          </p:cNvPr>
          <p:cNvSpPr>
            <a:spLocks noGrp="1"/>
          </p:cNvSpPr>
          <p:nvPr/>
        </p:nvSpPr>
        <p:spPr>
          <a:xfrm>
            <a:off x="212407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C84E54-8CE5-4987-BA85-B215C693F284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B4919-C1D5-4FD2-A9B0-71B959E54FED}"/>
              </a:ext>
            </a:extLst>
          </p:cNvPr>
          <p:cNvSpPr>
            <a:spLocks noGrp="1"/>
          </p:cNvSpPr>
          <p:nvPr/>
        </p:nvSpPr>
        <p:spPr>
          <a:xfrm>
            <a:off x="280035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72E3316-0EBF-4FF6-A4B8-7178D68B2B71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87CC6C-B19A-4A85-8FC9-9FEDFD6BD2AE}"/>
              </a:ext>
            </a:extLst>
          </p:cNvPr>
          <p:cNvSpPr>
            <a:spLocks noGrp="1"/>
          </p:cNvSpPr>
          <p:nvPr/>
        </p:nvSpPr>
        <p:spPr>
          <a:xfrm>
            <a:off x="212407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757AC-7015-49E3-A533-F9DFD7510EC6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FBB48E-FE14-44F9-970D-CAE9F009980F}"/>
              </a:ext>
            </a:extLst>
          </p:cNvPr>
          <p:cNvSpPr>
            <a:spLocks noGrp="1"/>
          </p:cNvSpPr>
          <p:nvPr/>
        </p:nvSpPr>
        <p:spPr>
          <a:xfrm>
            <a:off x="280035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FFE443F-CF1E-4E36-931C-BD035AFF8FD4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3E5571-7C88-45A3-B090-E69EA7C30BA4}"/>
              </a:ext>
            </a:extLst>
          </p:cNvPr>
          <p:cNvSpPr>
            <a:spLocks noGrp="1"/>
          </p:cNvSpPr>
          <p:nvPr/>
        </p:nvSpPr>
        <p:spPr>
          <a:xfrm>
            <a:off x="698182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95EC0-6B9F-4F87-BCED-9989585F423C}"/>
              </a:ext>
            </a:extLst>
          </p:cNvPr>
          <p:cNvSpPr>
            <a:spLocks noGrp="1"/>
          </p:cNvSpPr>
          <p:nvPr/>
        </p:nvSpPr>
        <p:spPr>
          <a:xfrm>
            <a:off x="763905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3AC429-C18A-4FB0-9EC3-FBBA5D650DD8}"/>
              </a:ext>
            </a:extLst>
          </p:cNvPr>
          <p:cNvSpPr>
            <a:spLocks noGrp="1"/>
          </p:cNvSpPr>
          <p:nvPr/>
        </p:nvSpPr>
        <p:spPr>
          <a:xfrm>
            <a:off x="765810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13987E4-2349-4F63-B465-95E557C2CBE8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DD3A-F903-4D66-A50B-45EB65E11417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7F26A1-05D9-44C0-8093-756FEDB09A3D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B4E1F-567B-4B9F-90E3-8D97FDCE0818}"/>
              </a:ext>
            </a:extLst>
          </p:cNvPr>
          <p:cNvSpPr>
            <a:spLocks noGrp="1"/>
          </p:cNvSpPr>
          <p:nvPr/>
        </p:nvSpPr>
        <p:spPr>
          <a:xfrm>
            <a:off x="765810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2D3A075-ED3B-4EF4-88FC-8384075BC04C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E25FAB-62E8-497A-970F-5D83B3788883}"/>
              </a:ext>
            </a:extLst>
          </p:cNvPr>
          <p:cNvSpPr>
            <a:spLocks noGrp="1"/>
          </p:cNvSpPr>
          <p:nvPr/>
        </p:nvSpPr>
        <p:spPr>
          <a:xfrm>
            <a:off x="698182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099A3-9631-45FB-ADCF-9D02D029BA7B}"/>
              </a:ext>
            </a:extLst>
          </p:cNvPr>
          <p:cNvSpPr>
            <a:spLocks noGrp="1"/>
          </p:cNvSpPr>
          <p:nvPr/>
        </p:nvSpPr>
        <p:spPr>
          <a:xfrm>
            <a:off x="763905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79BC42-583E-4742-840F-A506F0FDE9CC}"/>
              </a:ext>
            </a:extLst>
          </p:cNvPr>
          <p:cNvSpPr>
            <a:spLocks noGrp="1"/>
          </p:cNvSpPr>
          <p:nvPr/>
        </p:nvSpPr>
        <p:spPr>
          <a:xfrm>
            <a:off x="765810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</a:p>
        </p:txBody>
      </p:sp>
    </p:spTree>
    <p:extLst>
      <p:ext uri="{BB962C8B-B14F-4D97-AF65-F5344CB8AC3E}">
        <p14:creationId xmlns:p14="http://schemas.microsoft.com/office/powerpoint/2010/main" val="1551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133BAF3-572E-456F-9EC1-07C352BF5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F0457F-9799-432A-B8BE-398652CD510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DD7629-69BC-40CA-A19B-4DECD29FF8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B3CA4E-F977-4EE3-85F0-7B1EDEADAA1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89DF9-6D21-4636-BB79-0624EC8201D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76A618-5FF3-4F47-80CB-949221CFF47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D4FC1-B3A8-4AEB-B2A2-FA3C7CF2FB1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29EDF-9148-499C-BEB7-91EF24DC88C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945169-EA83-4A10-831E-25E22874F68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29E4C-0F53-4F7A-AFF0-2DC74937524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47625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7411A1-1104-4A6C-A0FB-8DED3683FD8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718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0BA945-19D6-4975-BE32-C5E8C2969D2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426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516C0-599C-416D-90E9-FA43E1B058C7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42672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33A34D-386D-4F24-99D2-8875222D77BA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3340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F3C2B6-63A0-43B9-A802-4D8526138AC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95250" cy="29718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7EA57E-85C8-4394-AC0C-6E98FAA32F3A}"/>
              </a:ext>
            </a:extLst>
          </p:cNvPr>
          <p:cNvSpPr>
            <a:spLocks noGrp="1"/>
          </p:cNvSpPr>
          <p:nvPr/>
        </p:nvSpPr>
        <p:spPr>
          <a:xfrm>
            <a:off x="6400800" y="1866900"/>
            <a:ext cx="483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BA0496-C4BE-4C48-83CE-FA33CFDA1356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8387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低成本手表市场常采用杰理、珠海鸿芯等定制化手表芯片。芯片厂商通常同步提供已写好的手表Demo SDK，厂家通过宏定义配置、界面素材替换、表盘资源替换和局部功能微调，就能较快形成可量产产品。该路线开发周期短、投入少、落地快，但底层架构、交互方式和产品基调容易被SDK锁定，深度定制需要重新理解厂商封装逻辑，产品也更容易趋于同质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302C0E-0758-42E7-BDFB-9AD1EE696C18}"/>
              </a:ext>
            </a:extLst>
          </p:cNvPr>
          <p:cNvSpPr>
            <a:spLocks noGrp="1"/>
          </p:cNvSpPr>
          <p:nvPr/>
        </p:nvSpPr>
        <p:spPr>
          <a:xfrm>
            <a:off x="1200150" y="5067300"/>
            <a:ext cx="97917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567FE9-A471-4DFF-B660-CDD43AF30827}"/>
              </a:ext>
            </a:extLst>
          </p:cNvPr>
          <p:cNvSpPr>
            <a:spLocks noGrp="1"/>
          </p:cNvSpPr>
          <p:nvPr/>
        </p:nvSpPr>
        <p:spPr>
          <a:xfrm>
            <a:off x="1466850" y="5210175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  <a:endParaRPr sz="1650" b="1" dirty="0">
              <a:solidFill>
                <a:srgbClr val="223B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8154E4-4325-4689-A988-B6D38D6207A7}"/>
              </a:ext>
            </a:extLst>
          </p:cNvPr>
          <p:cNvSpPr>
            <a:spLocks noGrp="1"/>
          </p:cNvSpPr>
          <p:nvPr/>
        </p:nvSpPr>
        <p:spPr>
          <a:xfrm>
            <a:off x="2724150" y="5162550"/>
            <a:ext cx="800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现成SDK适合快速量产，但难以展开更深层的二次设计；本课题转向开放MCU平台，从硬件、任务调度和UI刷新机制出发验证另一种实现路径。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5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2E2A8D2-8F7A-4EFE-BAF8-21DD4670CB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5B6319B-F020-435A-ACC7-068B3210357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A853AB-8CFB-4744-94D3-40E82430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345DC7-8D90-428C-A7AD-2991EE04C5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F5DC5-B9FA-4621-A2C6-DCAFCB42C1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99473-45DC-49E3-A4AC-6752E23DD4B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7745B8-1FED-4C5E-830A-937CEC01FE4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3C3EA-99EC-439A-BA32-FDE81A182D56}"/>
              </a:ext>
            </a:extLst>
          </p:cNvPr>
          <p:cNvSpPr>
            <a:spLocks noGrp="1"/>
          </p:cNvSpPr>
          <p:nvPr/>
        </p:nvSpPr>
        <p:spPr>
          <a:xfrm>
            <a:off x="658586" y="647700"/>
            <a:ext cx="9200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本课题方案：开放 MCU 平台下的手表原型</a:t>
            </a:r>
            <a:r>
              <a:rPr lang="zh-CN" altLang="en-US"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25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18522-86AD-4872-9E19-D5167DD7B83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3F696-956B-4583-B87E-A39DAB02CD84}"/>
              </a:ext>
            </a:extLst>
          </p:cNvPr>
          <p:cNvSpPr>
            <a:spLocks noGrp="1"/>
          </p:cNvSpPr>
          <p:nvPr/>
        </p:nvSpPr>
        <p:spPr>
          <a:xfrm>
            <a:off x="990600" y="1550000"/>
            <a:ext cx="1020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ESP-IDF + FreeRTOS + LVGL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CD3C2-CC98-4363-B09F-30B11345DAAB}"/>
              </a:ext>
            </a:extLst>
          </p:cNvPr>
          <p:cNvSpPr>
            <a:spLocks noGrp="1"/>
          </p:cNvSpPr>
          <p:nvPr/>
        </p:nvSpPr>
        <p:spPr>
          <a:xfrm>
            <a:off x="1009650" y="2200000"/>
            <a:ext cx="5200000" cy="47625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535FC43-4975-44B6-815D-1686B1683F56}"/>
              </a:ext>
            </a:extLst>
          </p:cNvPr>
          <p:cNvSpPr>
            <a:spLocks noGrp="1"/>
          </p:cNvSpPr>
          <p:nvPr/>
        </p:nvSpPr>
        <p:spPr>
          <a:xfrm>
            <a:off x="1066800" y="2580000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05ED3C-BD4C-46A2-9315-3ED1833924B5}"/>
              </a:ext>
            </a:extLst>
          </p:cNvPr>
          <p:cNvSpPr>
            <a:spLocks noGrp="1"/>
          </p:cNvSpPr>
          <p:nvPr/>
        </p:nvSpPr>
        <p:spPr>
          <a:xfrm>
            <a:off x="1276350" y="2494275"/>
            <a:ext cx="9600000" cy="5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趋势基础：MCU 集成度和性能提升，开放 MCU 已能承担图形界面、联网通信、本地存储与多任务调度。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9A95D3-F55B-47E0-AB63-E934E406CC35}"/>
              </a:ext>
            </a:extLst>
          </p:cNvPr>
          <p:cNvSpPr>
            <a:spLocks noGrp="1"/>
          </p:cNvSpPr>
          <p:nvPr/>
        </p:nvSpPr>
        <p:spPr>
          <a:xfrm>
            <a:off x="1066800" y="3190000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1A8694-56A0-41A3-A1D9-F2AA186C94F4}"/>
              </a:ext>
            </a:extLst>
          </p:cNvPr>
          <p:cNvSpPr>
            <a:spLocks noGrp="1"/>
          </p:cNvSpPr>
          <p:nvPr/>
        </p:nvSpPr>
        <p:spPr>
          <a:xfrm>
            <a:off x="1276350" y="3104275"/>
            <a:ext cx="9600000" cy="5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 生态：控件丰富、适配范围扩大，芯片厂商和屏幕器件厂商持续兼容；GUI Guider 等工具降低小屏 UI 开发难度。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BA0F983-C237-4A60-B82B-D0081D63F646}"/>
              </a:ext>
            </a:extLst>
          </p:cNvPr>
          <p:cNvSpPr>
            <a:spLocks noGrp="1"/>
          </p:cNvSpPr>
          <p:nvPr/>
        </p:nvSpPr>
        <p:spPr>
          <a:xfrm>
            <a:off x="1066800" y="3800000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0B84DA-813B-4EAF-879D-9A96CF336136}"/>
              </a:ext>
            </a:extLst>
          </p:cNvPr>
          <p:cNvSpPr>
            <a:spLocks noGrp="1"/>
          </p:cNvSpPr>
          <p:nvPr/>
        </p:nvSpPr>
        <p:spPr>
          <a:xfrm>
            <a:off x="1276350" y="3714275"/>
            <a:ext cx="9600000" cy="5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ESP-IDF 支撑：提供 WiFi、文件系统、NTP、MQTT、OTA 和外设驱动组件，减少底层驱动重复编写。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13EDA7F-18E8-4C1E-9181-10655DD225D2}"/>
              </a:ext>
            </a:extLst>
          </p:cNvPr>
          <p:cNvSpPr>
            <a:spLocks noGrp="1"/>
          </p:cNvSpPr>
          <p:nvPr/>
        </p:nvSpPr>
        <p:spPr>
          <a:xfrm>
            <a:off x="1066800" y="4410000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FC3D1C-2C62-4142-B6B7-09F69D6063A3}"/>
              </a:ext>
            </a:extLst>
          </p:cNvPr>
          <p:cNvSpPr>
            <a:spLocks noGrp="1"/>
          </p:cNvSpPr>
          <p:nvPr/>
        </p:nvSpPr>
        <p:spPr>
          <a:xfrm>
            <a:off x="1276350" y="4324275"/>
            <a:ext cx="9600000" cy="5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FreeRTOS 调度：将显示、触摸、SD 读取、网络、OTA 和低功耗拆为独立任务，便于功能添加、调试和优化。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28C97A1-1B86-4A9D-B01C-1B4B8A41C529}"/>
              </a:ext>
            </a:extLst>
          </p:cNvPr>
          <p:cNvSpPr>
            <a:spLocks noGrp="1"/>
          </p:cNvSpPr>
          <p:nvPr/>
        </p:nvSpPr>
        <p:spPr>
          <a:xfrm>
            <a:off x="1066800" y="5020000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61A1D4-7C9D-4E45-9D55-8B1BE33B207B}"/>
              </a:ext>
            </a:extLst>
          </p:cNvPr>
          <p:cNvSpPr>
            <a:spLocks noGrp="1"/>
          </p:cNvSpPr>
          <p:nvPr/>
        </p:nvSpPr>
        <p:spPr>
          <a:xfrm>
            <a:off x="1276350" y="4934275"/>
            <a:ext cx="9600000" cy="5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方案价值：相比封闭手表 Demo SDK，可自主设计硬件接口、任务调度、UI 页面和业务逻辑，更适合课题验证与功能拓展。</a:t>
            </a:r>
          </a:p>
        </p:txBody>
      </p:sp>
    </p:spTree>
    <p:extLst>
      <p:ext uri="{BB962C8B-B14F-4D97-AF65-F5344CB8AC3E}">
        <p14:creationId xmlns:p14="http://schemas.microsoft.com/office/powerpoint/2010/main" val="2164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1A5AB4D-8ECF-4EF1-9AF2-302E9DDDDE0B}"/>
              </a:ext>
            </a:extLst>
          </p:cNvPr>
          <p:cNvSpPr>
            <a:spLocks noGrp="1"/>
          </p:cNvSpPr>
          <p:nvPr/>
        </p:nvSpPr>
        <p:spPr>
          <a:xfrm>
            <a:off x="0" y="-16329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32F1F51-373F-447B-BF68-24E7185D6D1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06127E-13F0-4E60-B0D8-065E0D4316BD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2FB2C-AD18-41B0-8511-42FE639D500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58684-71A0-4176-8020-F4676AADAB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410AE-0B9C-4BC2-8523-54597597FD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B3B307-FE30-4ABB-BA10-337EE0E3B63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C1A67-88FD-443A-8E57-84E2F37003E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5F4A77-F1ED-4080-9821-72AABE43E030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545BF6-554A-4221-BF92-56B1AA5296E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F1664A-6E8A-4B47-9B5B-F7E417590630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4953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9DF69-1E84-4278-8F91-C4B095C3A579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DA4FF-94CE-4BCF-9703-600AEEA24C20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  <a:endParaRPr lang="en-US"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C9BC03-A30C-4196-842F-DEF2B99E1C03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CEE2A3-05E8-4EEA-9CA0-BB19A414C84F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4953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60CCB-CFAF-4E02-84D3-95BD95DCA109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A151D-E47A-4151-83BE-CA61CDC19E10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D959E-CC52-4798-ACEC-B27E9CD1E4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949F83-F03F-4908-93D5-4417F279F3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4953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4D7DA4-DE2E-4BB9-A919-FD7994E5C031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15EFD9-5917-4A95-8BA7-DDD45ABC3B51}"/>
              </a:ext>
            </a:extLst>
          </p:cNvPr>
          <p:cNvSpPr>
            <a:spLocks noGrp="1"/>
          </p:cNvSpPr>
          <p:nvPr/>
        </p:nvSpPr>
        <p:spPr>
          <a:xfrm>
            <a:off x="53530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E028EA-3CFB-4C14-8431-67D3B62A1DFE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CC0638-8EB1-4CCE-AF1C-B07E887EE7B1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4953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4D3246-68F3-4F72-8BCD-C5B58BB0EBA3}"/>
              </a:ext>
            </a:extLst>
          </p:cNvPr>
          <p:cNvSpPr>
            <a:spLocks noGrp="1"/>
          </p:cNvSpPr>
          <p:nvPr/>
        </p:nvSpPr>
        <p:spPr>
          <a:xfrm>
            <a:off x="75819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39EB9D-4893-469E-9325-1EEF7B40051D}"/>
              </a:ext>
            </a:extLst>
          </p:cNvPr>
          <p:cNvSpPr>
            <a:spLocks noGrp="1"/>
          </p:cNvSpPr>
          <p:nvPr/>
        </p:nvSpPr>
        <p:spPr>
          <a:xfrm>
            <a:off x="76200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ESP32-idf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Guider辅助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B6BFE8-068B-4E10-9139-93E7CDDF964C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4B1110-44CE-4374-9AA2-215437CAFF3A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4953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03E4D8-41FB-492F-80B2-C5EC7868DB8E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B28181-0B6C-4C97-A2D7-9707344DFA13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/NTP/MQTT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DC6B6-ED3C-4E7D-B420-6E76683B096A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99060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D3AC75-C1EC-4F1E-81F1-AAA22F5C7F07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395907-6C15-43BC-B7FF-F606B99A8033}"/>
              </a:ext>
            </a:extLst>
          </p:cNvPr>
          <p:cNvSpPr>
            <a:spLocks noGrp="1"/>
          </p:cNvSpPr>
          <p:nvPr/>
        </p:nvSpPr>
        <p:spPr>
          <a:xfrm>
            <a:off x="2686050" y="4933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98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2CA1690-EECE-4111-8204-EDDB2B4C6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CE4823E-5403-4725-90EB-EF9C1E0644E5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8E4B14E-1167-4781-BABD-48B163571D93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22B39-4408-4D77-914C-1AA91F92E5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6C8080-094C-4297-B67C-83E3CB8C65D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4F63F9-EA60-48C1-9B93-A73595EC82A8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8022B3-8E3F-49CE-8B26-34058BDFCEE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9D410A-0229-46D7-AD77-8BD0E259ACE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F28AA-2FBB-4A70-8E9A-E475EB28497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0113B8-B99A-4370-AF6B-A79EDD910375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79EF3-FCF8-4D1C-90E9-D7DA8026F9E5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1B4B5C-67FC-42B7-95D8-9D4BF38413F7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F7AF0D-F6FB-47C8-87D2-B86007E412A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表盘/菜单/键盘/游戏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8E1D6-C25A-4490-8425-F5F6A9A19DF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629ECC-B1C4-471C-B027-F73F23028D7A}"/>
              </a:ext>
            </a:extLst>
          </p:cNvPr>
          <p:cNvSpPr>
            <a:spLocks noGrp="1"/>
          </p:cNvSpPr>
          <p:nvPr/>
        </p:nvSpPr>
        <p:spPr>
          <a:xfrm>
            <a:off x="33909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多媒体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DB07C5-EB37-45FE-B030-F61594DA5FD5}"/>
              </a:ext>
            </a:extLst>
          </p:cNvPr>
          <p:cNvSpPr>
            <a:spLocks noGrp="1"/>
          </p:cNvSpPr>
          <p:nvPr/>
        </p:nvSpPr>
        <p:spPr>
          <a:xfrm>
            <a:off x="30861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图片/视频/小说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30022-BD70-4B73-94CF-5A13F9FC909B}"/>
              </a:ext>
            </a:extLst>
          </p:cNvPr>
          <p:cNvSpPr>
            <a:spLocks noGrp="1"/>
          </p:cNvSpPr>
          <p:nvPr/>
        </p:nvSpPr>
        <p:spPr>
          <a:xfrm>
            <a:off x="51244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8E635F-0BC0-4340-BA90-562411CEAD61}"/>
              </a:ext>
            </a:extLst>
          </p:cNvPr>
          <p:cNvSpPr>
            <a:spLocks noGrp="1"/>
          </p:cNvSpPr>
          <p:nvPr/>
        </p:nvSpPr>
        <p:spPr>
          <a:xfrm>
            <a:off x="56007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CDFF1-3F0D-4086-B3DD-2B48B5D92DF1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WiFi/MQTT/OTA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06AE58-6F3D-4892-B04E-D8C8D73BD98D}"/>
              </a:ext>
            </a:extLst>
          </p:cNvPr>
          <p:cNvSpPr>
            <a:spLocks noGrp="1"/>
          </p:cNvSpPr>
          <p:nvPr/>
        </p:nvSpPr>
        <p:spPr>
          <a:xfrm>
            <a:off x="73342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53E397-1363-4773-8599-C4CB41EF4E3F}"/>
              </a:ext>
            </a:extLst>
          </p:cNvPr>
          <p:cNvSpPr>
            <a:spLocks noGrp="1"/>
          </p:cNvSpPr>
          <p:nvPr/>
        </p:nvSpPr>
        <p:spPr>
          <a:xfrm>
            <a:off x="78105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B83D8-66D9-433E-9E82-1E6341D67525}"/>
              </a:ext>
            </a:extLst>
          </p:cNvPr>
          <p:cNvSpPr>
            <a:spLocks noGrp="1"/>
          </p:cNvSpPr>
          <p:nvPr/>
        </p:nvSpPr>
        <p:spPr>
          <a:xfrm>
            <a:off x="75057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NTP/RTC/天气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061212-B784-443E-ACC2-C680D32F2F66}"/>
              </a:ext>
            </a:extLst>
          </p:cNvPr>
          <p:cNvSpPr>
            <a:spLocks noGrp="1"/>
          </p:cNvSpPr>
          <p:nvPr/>
        </p:nvSpPr>
        <p:spPr>
          <a:xfrm>
            <a:off x="95440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16154B-A298-4A8F-AEDA-5A83449F6A0B}"/>
              </a:ext>
            </a:extLst>
          </p:cNvPr>
          <p:cNvSpPr>
            <a:spLocks noGrp="1"/>
          </p:cNvSpPr>
          <p:nvPr/>
        </p:nvSpPr>
        <p:spPr>
          <a:xfrm>
            <a:off x="9927771" y="2114550"/>
            <a:ext cx="1140279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642B12-3DAF-4593-BBC8-C7D049496F36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轻休眠/深休眠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73AAB0-6E80-4729-9F15-5CF2FD64DF4A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553700" cy="19050"/>
          </a:xfrm>
          <a:prstGeom prst="rect">
            <a:avLst/>
          </a:prstGeom>
          <a:solidFill>
            <a:srgbClr val="C9D9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229C78-2626-47B6-9640-861D204418FF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79109C-E73E-4733-BE87-C77BD315A5E8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AA389B-80CB-4996-B470-AD582A6AB130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0D0202-6733-49A2-8296-FC47341FE170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7564FA-A018-4AF4-9307-08E55CEB833F}"/>
              </a:ext>
            </a:extLst>
          </p:cNvPr>
          <p:cNvSpPr>
            <a:spLocks noGrp="1"/>
          </p:cNvSpPr>
          <p:nvPr/>
        </p:nvSpPr>
        <p:spPr>
          <a:xfrm>
            <a:off x="9906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F958994-DFBA-4B9B-9F1D-FFF80DBD3CA1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EA62056-CBEF-47F8-B162-99F719CEFCEF}"/>
              </a:ext>
            </a:extLst>
          </p:cNvPr>
          <p:cNvSpPr>
            <a:spLocks noGrp="1"/>
          </p:cNvSpPr>
          <p:nvPr/>
        </p:nvSpPr>
        <p:spPr>
          <a:xfrm>
            <a:off x="26860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B79DB7-2652-491C-BACA-E05C9A8F7820}"/>
              </a:ext>
            </a:extLst>
          </p:cNvPr>
          <p:cNvSpPr>
            <a:spLocks noGrp="1"/>
          </p:cNvSpPr>
          <p:nvPr/>
        </p:nvSpPr>
        <p:spPr>
          <a:xfrm>
            <a:off x="27051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A2567E-B63B-4B07-9475-C646BE8BEEA0}"/>
              </a:ext>
            </a:extLst>
          </p:cNvPr>
          <p:cNvSpPr>
            <a:spLocks noGrp="1"/>
          </p:cNvSpPr>
          <p:nvPr/>
        </p:nvSpPr>
        <p:spPr>
          <a:xfrm>
            <a:off x="27622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23664C-8C3A-4400-85AB-D72CCBACA2F6}"/>
              </a:ext>
            </a:extLst>
          </p:cNvPr>
          <p:cNvSpPr>
            <a:spLocks noGrp="1"/>
          </p:cNvSpPr>
          <p:nvPr/>
        </p:nvSpPr>
        <p:spPr>
          <a:xfrm>
            <a:off x="43624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6028C5-3BDA-43EC-BEAC-DFE96946C046}"/>
              </a:ext>
            </a:extLst>
          </p:cNvPr>
          <p:cNvSpPr>
            <a:spLocks noGrp="1"/>
          </p:cNvSpPr>
          <p:nvPr/>
        </p:nvSpPr>
        <p:spPr>
          <a:xfrm>
            <a:off x="44577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0831A4-6A23-4804-9064-251BDBE1AFBE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14BC8C-BAD0-41C0-AE75-684D60938D1E}"/>
              </a:ext>
            </a:extLst>
          </p:cNvPr>
          <p:cNvSpPr>
            <a:spLocks noGrp="1"/>
          </p:cNvSpPr>
          <p:nvPr/>
        </p:nvSpPr>
        <p:spPr>
          <a:xfrm>
            <a:off x="45339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120秒无操作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33756F-D7A3-4B97-81DA-73E6B91229D6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D057C0B-2FB4-43E4-8279-F87976B27214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98D83A-B0EB-449B-93F9-1F3DD7587A10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D87765-5936-4402-B33B-0FAC29A11553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201B5D-AFF9-4535-B1CC-0A9D3D69EA49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7ADF8D-6BA3-442E-8FC6-A54725F2DD70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9317DE-ED85-42C6-8CE5-C8E9AAB0EE56}"/>
              </a:ext>
            </a:extLst>
          </p:cNvPr>
          <p:cNvSpPr>
            <a:spLocks noGrp="1"/>
          </p:cNvSpPr>
          <p:nvPr/>
        </p:nvSpPr>
        <p:spPr>
          <a:xfrm>
            <a:off x="80200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轻休眠电流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6C56210-866E-4165-8CB2-4F5B3D6D9934}"/>
              </a:ext>
            </a:extLst>
          </p:cNvPr>
          <p:cNvSpPr>
            <a:spLocks noGrp="1"/>
          </p:cNvSpPr>
          <p:nvPr/>
        </p:nvSpPr>
        <p:spPr>
          <a:xfrm>
            <a:off x="80772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关背光/外设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E55D18-6E23-479A-ABC2-83DF80CB47C8}"/>
              </a:ext>
            </a:extLst>
          </p:cNvPr>
          <p:cNvSpPr>
            <a:spLocks noGrp="1"/>
          </p:cNvSpPr>
          <p:nvPr/>
        </p:nvSpPr>
        <p:spPr>
          <a:xfrm>
            <a:off x="96774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678349-3732-4373-AB29-A83D844F266A}"/>
              </a:ext>
            </a:extLst>
          </p:cNvPr>
          <p:cNvSpPr>
            <a:spLocks noGrp="1"/>
          </p:cNvSpPr>
          <p:nvPr/>
        </p:nvSpPr>
        <p:spPr>
          <a:xfrm>
            <a:off x="97726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59FD5BD-755D-4EF9-A4BD-63A18278FB41}"/>
              </a:ext>
            </a:extLst>
          </p:cNvPr>
          <p:cNvSpPr>
            <a:spLocks noGrp="1"/>
          </p:cNvSpPr>
          <p:nvPr/>
        </p:nvSpPr>
        <p:spPr>
          <a:xfrm>
            <a:off x="97917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深休眠电流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B524881-C1EA-4E71-AE3B-356B24325FF2}"/>
              </a:ext>
            </a:extLst>
          </p:cNvPr>
          <p:cNvSpPr>
            <a:spLocks noGrp="1"/>
          </p:cNvSpPr>
          <p:nvPr/>
        </p:nvSpPr>
        <p:spPr>
          <a:xfrm>
            <a:off x="98488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保留按键唤醒</a:t>
            </a:r>
          </a:p>
        </p:txBody>
      </p:sp>
    </p:spTree>
    <p:extLst>
      <p:ext uri="{BB962C8B-B14F-4D97-AF65-F5344CB8AC3E}">
        <p14:creationId xmlns:p14="http://schemas.microsoft.com/office/powerpoint/2010/main" val="145422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AF24DD-42D4-4C02-8A56-BF04EED1E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21B9123-BF10-405F-8F69-65993F94BC9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CC26D3-9F3B-435A-878B-9A3BCD936E1B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300C3-C074-40F9-9DB7-707844B54E5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BF3CAF-957A-4F55-881E-7FD8B2BB4D1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E895-10D4-4E32-862A-6E57B6C967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D91A6-CC7B-4496-A72B-D3B622A365D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31B30-D884-4266-AC3B-FF57C4ECB25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BF2C0-71A2-41B1-9241-4397B3ED634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318D2-154B-432D-ABD7-64F164151A14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8096250" cy="4343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955" y="1581150"/>
            <a:ext cx="7306940" cy="41148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460DA0-74BC-4898-A1C3-D8CD6C3E352B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1FDB741-6E32-4BB6-9157-ED079F8F0F41}"/>
              </a:ext>
            </a:extLst>
          </p:cNvPr>
          <p:cNvSpPr>
            <a:spLocks noGrp="1"/>
          </p:cNvSpPr>
          <p:nvPr/>
        </p:nvSpPr>
        <p:spPr>
          <a:xfrm>
            <a:off x="8991600" y="2257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A5E01-5E6D-41CD-A5CA-8F3DA0747612}"/>
              </a:ext>
            </a:extLst>
          </p:cNvPr>
          <p:cNvSpPr>
            <a:spLocks noGrp="1"/>
          </p:cNvSpPr>
          <p:nvPr/>
        </p:nvSpPr>
        <p:spPr>
          <a:xfrm>
            <a:off x="9201150" y="21717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E71B69-AB1C-4CF1-BF3B-841F796C3439}"/>
              </a:ext>
            </a:extLst>
          </p:cNvPr>
          <p:cNvSpPr>
            <a:spLocks noGrp="1"/>
          </p:cNvSpPr>
          <p:nvPr/>
        </p:nvSpPr>
        <p:spPr>
          <a:xfrm>
            <a:off x="899160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E5C7E2-414B-4A3C-8906-C271A554F82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0E41BC3-B0E4-413A-B5DF-0B767B366FE3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2B8500-17DF-487C-A04E-1317F718404D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56E76F7-059B-40D1-8EE8-023912072B1D}"/>
              </a:ext>
            </a:extLst>
          </p:cNvPr>
          <p:cNvSpPr>
            <a:spLocks noGrp="1"/>
          </p:cNvSpPr>
          <p:nvPr/>
        </p:nvSpPr>
        <p:spPr>
          <a:xfrm>
            <a:off x="8991600" y="4314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02B045-FE30-4875-B090-A4A4D0637DC8}"/>
              </a:ext>
            </a:extLst>
          </p:cNvPr>
          <p:cNvSpPr>
            <a:spLocks noGrp="1"/>
          </p:cNvSpPr>
          <p:nvPr/>
        </p:nvSpPr>
        <p:spPr>
          <a:xfrm>
            <a:off x="9201150" y="42291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73332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9816352-DA53-4E80-B392-3767AE9F3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CAE666A-5FC4-47D6-AA22-4DA14F29B25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C8CDBE8-3425-4E7C-B454-5D423181B164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BD49FC-B0C9-433C-8F74-098DCD86161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5B4520-AA59-4593-AD00-8064744222D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9A0D06-0560-4B61-849C-CD550570AE6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EACFE-ABC1-4E84-906E-27A1CBD1910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9FD715-2CF6-4E3F-933C-B76318FE5D8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7D0D67-85E7-4C4B-BD58-84387E29743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28C658-F002-45E6-A5AF-F76708D0615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DCFA4-A1FB-457E-A925-80E780AAE32E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5250" cy="1219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D5D695-2BCB-4973-9AC0-3DC1BDA9F1C3}"/>
              </a:ext>
            </a:extLst>
          </p:cNvPr>
          <p:cNvSpPr>
            <a:spLocks noGrp="1"/>
          </p:cNvSpPr>
          <p:nvPr/>
        </p:nvSpPr>
        <p:spPr>
          <a:xfrm>
            <a:off x="108585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D1B301-939A-41B7-A028-96C95296E173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PSRAM，用于图形缓存、多媒体缓冲和任务运行空间。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A228C4-B8DE-4A90-9982-2F837F6E6263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15B659-591A-47AC-835C-A5F1C4C0DD07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95250" cy="12192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CC2A9C-80C2-45DA-B4F8-85DC6EB78D44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7403FA-6B32-45A8-9ECB-5EBB65605953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248678-DE19-46C8-A48F-4ED8A0C599E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993EA7-311B-4D43-BB64-D8BA08321A4D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95250" cy="12192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0CEE7-EBF5-4758-A60B-D1EF705A8FAD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8F2555-CC37-4B15-8504-2946C54C33CE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1C1777-5B72-492A-A77A-B7BEE682BE1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27A349-2ACD-4238-8A92-7013A42523DC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12192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A48A6D-70C7-4134-980D-682B715F3BF0}"/>
              </a:ext>
            </a:extLst>
          </p:cNvPr>
          <p:cNvSpPr>
            <a:spLocks noGrp="1"/>
          </p:cNvSpPr>
          <p:nvPr/>
        </p:nvSpPr>
        <p:spPr>
          <a:xfrm>
            <a:off x="670560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9ED705-4C5F-41A5-9A5E-ADBDB1710749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89407A-3B2C-4D1F-9366-9E844AC300B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4B071C-6030-4E52-9CFC-359CDCABFBB9}"/>
              </a:ext>
            </a:extLst>
          </p:cNvPr>
          <p:cNvSpPr>
            <a:spLocks noGrp="1"/>
          </p:cNvSpPr>
          <p:nvPr/>
        </p:nvSpPr>
        <p:spPr>
          <a:xfrm>
            <a:off x="1676400" y="5410200"/>
            <a:ext cx="885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54087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2C1156-DFBD-4903-A7AA-40081E07C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EA19EB6-70E7-450F-AAC8-0A9ECE469AE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93C6DD-0E47-4627-96C6-FBD7466B5B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C06C7-EEB8-46E6-94E7-EC27A2361BB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96E2A-5B39-4E8A-A7C6-20056B5D18F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CBBB7-6807-441F-9DB7-1EE009ADF48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F0E58A-6C77-4E0B-8BEC-54DDBA21A78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D383F-1298-4352-AE01-66603BAD5E2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E01A1A-F2F9-41F2-BCE2-1EE226160E0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0943EF-7F58-4809-B9D2-8F4D3BE9567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91FA7-192F-4F3C-A69E-4D1A4D071F9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527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79F83-8385-4881-9E35-A9ECD99A1A0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BE878E-CF0B-40BF-BD74-4114C72C23AA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5F3089-913A-469B-A99C-B49C9AFAF4ED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30E814-BD11-41B3-BB58-CC9B75F56487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95250" cy="29527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938BB7-DCBD-4E3B-A831-CCB6A36E19BF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SD卡存储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23CDBC-6A43-4274-B86F-2800366DA13F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SD卡用于图片、MJPEG视频、TXT小说和本地OTA固件；挂载FatFS后支持文件扫描、分块读取和断点续读。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972D42-32C7-4310-B859-EC7103657A72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FC2D22-31AF-49D4-A534-DBC8DC3A086D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95250" cy="29527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2EF034-7F69-4240-AE6A-51470F79611F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时间管理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04EC86-2051-4E57-8348-5DBD3AD5F128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系统上电读取SD3078 RTC并同步到C语言time库；联网后NTP校时并写回RTC，断网或休眠恢复仍保持时间连续。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C6C28D-AC4C-4F4E-9DE9-0DF803D2085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96012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42F461-1438-436A-B2CF-D397E3ED472A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硬件链路：SPI负责LCD显示和SD卡存储，I2C负责触摸与SD3078 RTC，GPIO负责背光、卡检测和休眠唤醒。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44037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EE70730-CA9A-4118-B46A-9B56F8ACF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C96233D-AE9E-4A76-B281-B83C90210B22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586E11-BF98-466E-8E71-E2A66F42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072E9-6FEC-4907-AE46-10CD378FC4F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ED572-6EE5-40AE-9618-2259DC503EE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5D8BF-6992-4B94-8E26-78C07A73F7AC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A447C-A512-47D5-88A2-A45ECF0934D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FC7AA7-780A-4883-9652-E057570ECF0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CD434-C2A2-4E01-9549-38E64235F56E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DA26C-12FD-499D-BF8B-ABB62B8F0A01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6004" y="1581150"/>
            <a:ext cx="2770692" cy="36957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A4A22C5-D638-46CA-8538-52EA4DACF1E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9F719-D700-4092-ADF0-B9C6BA6B4514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1CE53-832B-4E96-A5BB-47EFEE5DD837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15754" y="1581150"/>
            <a:ext cx="2770692" cy="3695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6DF65E9-165D-41CF-9F4E-5B814AF9A9F8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670ACC-70F0-4EF7-B9FB-EE4283C199BB}"/>
              </a:ext>
            </a:extLst>
          </p:cNvPr>
          <p:cNvSpPr>
            <a:spLocks noGrp="1"/>
          </p:cNvSpPr>
          <p:nvPr/>
        </p:nvSpPr>
        <p:spPr>
          <a:xfrm>
            <a:off x="645795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31A291-F4EA-48FC-9215-73E97C709867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8298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77E3AC-A714-44E1-8F91-23482974AF2B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52329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B0ACDD1-3152-4243-BE24-9DE49BCA84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61EAE15-2B97-4641-BBBE-48F42306B23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6FDC9-EEEE-49AD-A668-A68F688E766A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F32371-21E7-4F9D-9F97-44CFA137E7C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4BF9E-0189-415F-9C7D-552E6AEE727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539952-D772-4D99-A394-35000051F027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213553-1792-4859-B834-CB4C345D5B6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BEEB60-2030-4F47-B355-E99A0776AE26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7F2B23-446B-483E-BF46-87685483669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15AE03-DA67-48F6-B78A-E39579559F1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996" y="1543049"/>
            <a:ext cx="3598318" cy="432435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3A921F4-3C3C-4BD7-9A69-4639138FB025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1F17712-3727-447C-BFDA-305CCD229C26}"/>
              </a:ext>
            </a:extLst>
          </p:cNvPr>
          <p:cNvSpPr>
            <a:spLocks noGrp="1"/>
          </p:cNvSpPr>
          <p:nvPr/>
        </p:nvSpPr>
        <p:spPr>
          <a:xfrm>
            <a:off x="8820150" y="2295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C7A584-E004-47C3-ADB9-718E53E598CA}"/>
              </a:ext>
            </a:extLst>
          </p:cNvPr>
          <p:cNvSpPr>
            <a:spLocks noGrp="1"/>
          </p:cNvSpPr>
          <p:nvPr/>
        </p:nvSpPr>
        <p:spPr>
          <a:xfrm>
            <a:off x="9029700" y="22098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5635142-D790-4052-9BD9-B882FCFAFAE9}"/>
              </a:ext>
            </a:extLst>
          </p:cNvPr>
          <p:cNvSpPr>
            <a:spLocks noGrp="1"/>
          </p:cNvSpPr>
          <p:nvPr/>
        </p:nvSpPr>
        <p:spPr>
          <a:xfrm>
            <a:off x="882015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489D80-374F-4679-9595-344C33768B90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143331A-8746-4E50-A7F3-EA7B640B302B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EC8147-D2DD-4457-BEEE-F521AE7117D9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AF3BF70-E67B-4222-8B36-94A9CA8CCC30}"/>
              </a:ext>
            </a:extLst>
          </p:cNvPr>
          <p:cNvSpPr>
            <a:spLocks noGrp="1"/>
          </p:cNvSpPr>
          <p:nvPr/>
        </p:nvSpPr>
        <p:spPr>
          <a:xfrm>
            <a:off x="8820150" y="4124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CD40F2-3EA5-438C-9AFC-FAD2008CE54C}"/>
              </a:ext>
            </a:extLst>
          </p:cNvPr>
          <p:cNvSpPr>
            <a:spLocks noGrp="1"/>
          </p:cNvSpPr>
          <p:nvPr/>
        </p:nvSpPr>
        <p:spPr>
          <a:xfrm>
            <a:off x="9029700" y="40386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87470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F9EB788-F58C-420F-8168-3B620E7D76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A26627-241C-43AC-9708-7C9F3E608468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82638E6-2549-423B-AA51-7A13A57A50C5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9B235C-7A9E-4874-9F3C-F1E0872BEFF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4756E8-EF84-4AF9-9012-544130CB070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99593-5905-44F0-AF60-026C155123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0E894D-3AC6-47E2-B61D-4E70E6BBD81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56301-2F86-490B-B9AF-CB20B0C5EF2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A73575-2C07-49CD-BFD1-4583DB0766F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73B34-AF05-4848-BDCF-70EF559094A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93054" y="1543050"/>
            <a:ext cx="225309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F6C9BC-3C69-4F2C-B070-4905D6DBC732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4A36E11-CC90-4570-9A78-F3549A555885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EF586A-F947-4441-B80D-64E37A5CB6A8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E79FC8F-2B73-401D-8401-819C9AC0E76C}"/>
              </a:ext>
            </a:extLst>
          </p:cNvPr>
          <p:cNvSpPr>
            <a:spLocks noGrp="1"/>
          </p:cNvSpPr>
          <p:nvPr/>
        </p:nvSpPr>
        <p:spPr>
          <a:xfrm>
            <a:off x="8820150" y="29241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704D5E-5C49-40C0-8B08-FE9C1E0EB666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CA0921B-60DF-43AC-A0C8-340139086E7F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04133E-0EAA-4EA2-8418-89F2961C9401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C13AFA1-C96F-4DF1-86B1-61BAAAE832DA}"/>
              </a:ext>
            </a:extLst>
          </p:cNvPr>
          <p:cNvSpPr>
            <a:spLocks noGrp="1"/>
          </p:cNvSpPr>
          <p:nvPr/>
        </p:nvSpPr>
        <p:spPr>
          <a:xfrm>
            <a:off x="8820150" y="41052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38BB4A-291E-4607-AD92-68682387F0B8}"/>
              </a:ext>
            </a:extLst>
          </p:cNvPr>
          <p:cNvSpPr>
            <a:spLocks noGrp="1"/>
          </p:cNvSpPr>
          <p:nvPr/>
        </p:nvSpPr>
        <p:spPr>
          <a:xfrm>
            <a:off x="9029700" y="40195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7232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E44ED22-F54C-4B1A-94BA-89A89546C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D3F0052-4650-4486-AC71-9A8466C7433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ACBEB3A-99A2-43A6-AD6E-F618DC319431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B9A16-D718-4BF8-9F23-75C14C6A1DC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097978-725A-45FF-8DC8-5B46CA10CE6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B74FAF-4D92-4FDC-B356-E8CCB83AE3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16E39E-A51B-40FE-B12D-C525C1F7731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3A450-3175-434F-BA89-1ED60DC07A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6DBCDE-5229-48D9-9618-6C60CB70FE2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75F1EA-B426-4698-B9B2-4D3CBC42202E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3394" y="1543050"/>
            <a:ext cx="275241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D408352-865B-43B5-B608-EBD1CDE85D64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2C1EBF-78AA-4BF0-8D4A-4E91251A4F33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52D537-2A27-4651-86B3-7B56DE425630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7DE7F62-C1EF-43CE-9D08-6973F63B50DF}"/>
              </a:ext>
            </a:extLst>
          </p:cNvPr>
          <p:cNvSpPr>
            <a:spLocks noGrp="1"/>
          </p:cNvSpPr>
          <p:nvPr/>
        </p:nvSpPr>
        <p:spPr>
          <a:xfrm>
            <a:off x="882015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548C05-857F-4FF9-8E86-27FBE546C3C1}"/>
              </a:ext>
            </a:extLst>
          </p:cNvPr>
          <p:cNvSpPr>
            <a:spLocks noGrp="1"/>
          </p:cNvSpPr>
          <p:nvPr/>
        </p:nvSpPr>
        <p:spPr>
          <a:xfrm>
            <a:off x="9029700" y="28575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E99E4FC-E3F3-4255-BA07-2589146D7690}"/>
              </a:ext>
            </a:extLst>
          </p:cNvPr>
          <p:cNvSpPr>
            <a:spLocks noGrp="1"/>
          </p:cNvSpPr>
          <p:nvPr/>
        </p:nvSpPr>
        <p:spPr>
          <a:xfrm>
            <a:off x="8820150" y="3552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023B3D-8DFC-4E3B-9351-139AA352DA8C}"/>
              </a:ext>
            </a:extLst>
          </p:cNvPr>
          <p:cNvSpPr>
            <a:spLocks noGrp="1"/>
          </p:cNvSpPr>
          <p:nvPr/>
        </p:nvSpPr>
        <p:spPr>
          <a:xfrm>
            <a:off x="9029700" y="34671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7253287-C27F-4D94-B708-9342169467B2}"/>
              </a:ext>
            </a:extLst>
          </p:cNvPr>
          <p:cNvSpPr>
            <a:spLocks noGrp="1"/>
          </p:cNvSpPr>
          <p:nvPr/>
        </p:nvSpPr>
        <p:spPr>
          <a:xfrm>
            <a:off x="8820150" y="4162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885289-AC53-4858-8D9A-C36D43ABF321}"/>
              </a:ext>
            </a:extLst>
          </p:cNvPr>
          <p:cNvSpPr>
            <a:spLocks noGrp="1"/>
          </p:cNvSpPr>
          <p:nvPr/>
        </p:nvSpPr>
        <p:spPr>
          <a:xfrm>
            <a:off x="9029700" y="40767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84337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2142FBD-0825-4015-9C43-284E8BE8E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FD80CC0-FCD7-4B8D-8C5A-D06CD3A3940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D00A5E-B27E-4B8A-87DF-8882BF0B6C8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000C4A-DBD8-407F-9521-79BB6755067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0EFD0D-F268-4DDC-B91D-02ED63F264B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CD84EF-2BFA-44A4-9E68-815F38D6B72E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F3597-BA01-4A60-9ACF-4C918547879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58A8A1-C38C-41F8-94F9-53E86713B4B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AFB178-F3CB-4ECE-AF01-1A71B60D05C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37ECDC-F62E-45AD-A0EB-E974486C4809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2619" y="1543050"/>
            <a:ext cx="321396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A8D1C68-51E4-4ECE-B235-ECD589F7FE81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BF896CB-0A4F-445A-9F4E-7FF86DB8C9D2}"/>
              </a:ext>
            </a:extLst>
          </p:cNvPr>
          <p:cNvSpPr>
            <a:spLocks noGrp="1"/>
          </p:cNvSpPr>
          <p:nvPr/>
        </p:nvSpPr>
        <p:spPr>
          <a:xfrm>
            <a:off x="8820150" y="2409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D05B81-EE12-4BA1-8FB2-93CA53CE3311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BB4DAF-ADEF-4BBD-869A-58DC40266833}"/>
              </a:ext>
            </a:extLst>
          </p:cNvPr>
          <p:cNvSpPr>
            <a:spLocks noGrp="1"/>
          </p:cNvSpPr>
          <p:nvPr/>
        </p:nvSpPr>
        <p:spPr>
          <a:xfrm>
            <a:off x="8820150" y="3228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AF0283-47AF-4E1E-B97C-D657BF96A09C}"/>
              </a:ext>
            </a:extLst>
          </p:cNvPr>
          <p:cNvSpPr>
            <a:spLocks noGrp="1"/>
          </p:cNvSpPr>
          <p:nvPr/>
        </p:nvSpPr>
        <p:spPr>
          <a:xfrm>
            <a:off x="9029700" y="314325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A062A45-3DC1-4589-938F-AE940F383263}"/>
              </a:ext>
            </a:extLst>
          </p:cNvPr>
          <p:cNvSpPr>
            <a:spLocks noGrp="1"/>
          </p:cNvSpPr>
          <p:nvPr/>
        </p:nvSpPr>
        <p:spPr>
          <a:xfrm>
            <a:off x="8820150" y="4048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AA5E3D-BC69-40B7-8F3F-38829A04ACFD}"/>
              </a:ext>
            </a:extLst>
          </p:cNvPr>
          <p:cNvSpPr>
            <a:spLocks noGrp="1"/>
          </p:cNvSpPr>
          <p:nvPr/>
        </p:nvSpPr>
        <p:spPr>
          <a:xfrm>
            <a:off x="9029700" y="39624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9738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87324E8-1197-4722-9870-C0DFBC012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7AD831B-CCEE-4430-A1F7-98C3C163EAE1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FB7A1F-780B-4F37-A4C7-D472E3DBD5B9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BBC36E-0A76-480D-8CE5-5EA0AB4321E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8719D-8564-4299-B3BB-3AA70749607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62DE-7378-45EB-9ACC-78ECF92FBBF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E9D623-111A-4983-98E7-489454893BA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05D2C-86D6-4967-9AFF-40AD960525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3A22B-446B-4EA5-8CAE-7F5ADEBB863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70EB0-06AF-449F-88ED-BB55E0996BE7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D224B7-BD4E-4D6A-A0DE-4530AE83104A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DBD38-4499-480A-857F-5E3220BE4E3D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55676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B812A-8AEA-49D7-8CDA-96509E48CB56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69EE7C-81DB-4FD4-BC6D-FE8E01902CB2}"/>
              </a:ext>
            </a:extLst>
          </p:cNvPr>
          <p:cNvSpPr>
            <a:spLocks noGrp="1"/>
          </p:cNvSpPr>
          <p:nvPr/>
        </p:nvSpPr>
        <p:spPr>
          <a:xfrm>
            <a:off x="8839200" y="16668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FC4CC-218E-423C-A618-D52D0E8FC2EC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57EAAC-1C9B-458C-8558-3337DD2A3AD2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E74E4-573C-4F7B-B7E8-BC91A9B1C7E7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160520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3681E4-B4BC-4EC0-B9F0-D8B0CCCF2C81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D0E97-8F32-4CE4-BC04-0E3FD30CA299}"/>
              </a:ext>
            </a:extLst>
          </p:cNvPr>
          <p:cNvSpPr>
            <a:spLocks noGrp="1"/>
          </p:cNvSpPr>
          <p:nvPr/>
        </p:nvSpPr>
        <p:spPr>
          <a:xfrm>
            <a:off x="8839200" y="23907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0D5D97-602E-4362-B4AA-4FF1126B1722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DC6707-60E3-4C60-A4CC-6EC12A7F0479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048571-6AF0-4A5C-AE74-E79A832F0A3F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061460" cy="2286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6EAA09-A624-45BF-A628-D6E4CB992952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873F6A-316C-4616-B239-735134CDD814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F6EDEE-2ED7-4E22-BFC0-D7639750AF43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16ECFC-C0B0-4CD5-A70D-A151BD556888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F5D1B-AFBA-470B-812A-8C9840F88302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65582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509C9D-9FD7-44EE-A2CC-22A29B6EC19A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4F315-95BB-4E9F-AD35-E4F1F9A299F1}"/>
              </a:ext>
            </a:extLst>
          </p:cNvPr>
          <p:cNvSpPr>
            <a:spLocks noGrp="1"/>
          </p:cNvSpPr>
          <p:nvPr/>
        </p:nvSpPr>
        <p:spPr>
          <a:xfrm>
            <a:off x="8839200" y="38385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28D00F-FCD8-450F-A3E2-35CE904A1A9C}"/>
              </a:ext>
            </a:extLst>
          </p:cNvPr>
          <p:cNvSpPr>
            <a:spLocks noGrp="1"/>
          </p:cNvSpPr>
          <p:nvPr/>
        </p:nvSpPr>
        <p:spPr>
          <a:xfrm>
            <a:off x="1123950" y="4610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A9B218-1BC9-4027-838C-345062696389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CE05CD-8F85-48BD-A49C-3660CB7E722D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457700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5B47AF-96E9-42F0-8907-2336065FCBAA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D29824-4B3B-4924-A562-E3DE6347B963}"/>
              </a:ext>
            </a:extLst>
          </p:cNvPr>
          <p:cNvSpPr>
            <a:spLocks noGrp="1"/>
          </p:cNvSpPr>
          <p:nvPr/>
        </p:nvSpPr>
        <p:spPr>
          <a:xfrm>
            <a:off x="88392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9319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472A37B-C28A-4113-A6EE-1852665A52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0CC046-ECAE-4E47-AFD7-9EBDB0F12A16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649F1A2-0646-4210-BED5-ED5CF8EF532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2AB6E-DBF4-4837-B93A-AA7DD7A7FC4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3964C-95DE-4857-9C1B-ABE42F129B2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173AA-3B9B-47DC-AE05-FFB6C615D9C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1419F-B2FA-4BC4-91C0-61E770569DA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93DB9-E71C-49E1-B11E-E382EBD1087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84EE58-257A-4FAD-B926-91D643A82BA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810275-CAC4-41DC-87FA-0A7960D67DE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7810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BD7AE-8D19-4866-B2B3-A09C66A4D54F}"/>
              </a:ext>
            </a:extLst>
          </p:cNvPr>
          <p:cNvSpPr>
            <a:spLocks noGrp="1"/>
          </p:cNvSpPr>
          <p:nvPr/>
        </p:nvSpPr>
        <p:spPr>
          <a:xfrm>
            <a:off x="8782050" y="16764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8A37F4-C384-47C9-AA71-7F511E3F7FCB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BF2CF1-5D32-438F-A3EB-0A71C3156036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满亮联网时电流最高，理论续航约1.9小时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C63A195-4DE0-4728-BCAD-27778CB98090}"/>
              </a:ext>
            </a:extLst>
          </p:cNvPr>
          <p:cNvSpPr>
            <a:spLocks noGrp="1"/>
          </p:cNvSpPr>
          <p:nvPr/>
        </p:nvSpPr>
        <p:spPr>
          <a:xfrm>
            <a:off x="8820150" y="31527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26715-2AA5-4E5E-900E-8DADF1A16C69}"/>
              </a:ext>
            </a:extLst>
          </p:cNvPr>
          <p:cNvSpPr>
            <a:spLocks noGrp="1"/>
          </p:cNvSpPr>
          <p:nvPr/>
        </p:nvSpPr>
        <p:spPr>
          <a:xfrm>
            <a:off x="9029700" y="306705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正常模式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低亮度并关闭联网后，亮屏续航约7.7小时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DD20429-5F11-499B-B6DB-75324DD8EF91}"/>
              </a:ext>
            </a:extLst>
          </p:cNvPr>
          <p:cNvSpPr>
            <a:spLocks noGrp="1"/>
          </p:cNvSpPr>
          <p:nvPr/>
        </p:nvSpPr>
        <p:spPr>
          <a:xfrm>
            <a:off x="882015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8ABF1-EC43-4A3B-BE36-AA8A06A67ED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56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和深休眠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Deep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75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适合待机存放</a:t>
            </a:r>
            <a:endParaRPr sz="157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7B95C6C-E60A-E1B8-AB2B-4295244F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6" y="1510051"/>
            <a:ext cx="7837306" cy="40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05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2FDCEA1-93C3-4B9B-8C86-E65DCED28078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EA643E-1063-4353-A46A-40ED3A45DEEA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83444B-9726-4520-924F-0500A415D70C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9C52DD-2018-44AC-946B-A1E46276912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47CEF6-1065-4558-9ADD-8FB3086DE97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61D346-4182-440E-AB51-83CF548F6299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FA68F6-3FBB-4064-9A06-BFF4586EAD3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891CBA-E6CF-4B3B-95AA-D12E30507ED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B3EEA9-DDC1-4938-B870-D91BC9C3749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8BA63B-FF69-4718-AFE7-46C634517F5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6E136-C5C2-4E5A-89EA-7FE856C7CB6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5250" cy="12573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F570F-6751-4A3C-AD1E-AB441B80AF8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显示同步与存储带宽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0E7849-9744-4AE7-9A0B-B7903BC08A00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 TE同步信号，并将SD卡接口由SPI升级为4-bit SDMMC，提高图片切换和视频读取速度。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40C25-1BF6-4245-864B-1D7CE6494DEC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20F1D-D846-4425-9F3E-AC1FB70CBCE3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95250" cy="12573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93DC9C-D065-4302-AA0A-6EF770B4C19F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44FA6C-A8D3-46AF-BF8E-20ACCA5EDD14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当前休眠电流仍处于毫安级；后续可加入负载开关或PMOS电源门控，在深休眠时切断屏幕、SD卡等非必要外设供电，只保留按键唤醒链路。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3C218-1F50-40E6-840F-88F1A6245689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4775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ABC715-894D-462B-888B-E801411ED93A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95250" cy="12573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C94CE6-4457-4212-8DCA-CC5BA533FF28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971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  <a:endParaRPr sz="1800" b="1" dirty="0">
              <a:solidFill>
                <a:srgbClr val="22A7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069CBA-5CBC-4570-BA29-70880EDB9B85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971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样机采用3D打印外壳，屏幕FPC与主板连接仍占用较多空间；后续可优化PCB外形、FPC座位置和堆叠结构，降低整机厚度并提升佩戴舒适度。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05BEA2-43DE-4995-A24A-2CCD54DCC09B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23309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7074855-B289-4D01-A46C-3A36EBB25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D333C26-6DC6-4408-AB40-9A98EC54DAE5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012B45-F1A0-43A5-92DB-BE08F1424E11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388F0FF-8371-44A6-83E7-A97E5F09BE22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5F5C36-E4A8-4958-9822-CF3541A9F281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A0F451-BF4C-4642-9885-6BF0C78FCD11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9D20BC-66D4-44AB-8858-CFC1C46CDB2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45A0BD-2DEA-4949-8AF3-D11DADF70738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566D6-15EF-4103-AECF-D03A18718D3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2762F1-A714-4940-BDDF-8D9797A0EAE7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7773C-7DC8-4141-B9B0-1A29C8E9DE33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27C2CE-13AD-4BF3-B17D-B36D3545ED12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AC08FF-6090-4E6E-9743-200F85299F0F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DBA7B-FD6D-4252-B9D2-FD095D62F7CA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B51050-4D27-4581-B2B8-CBFEFA5275D5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9640B5-A4A1-43F7-BF95-9028666C3DFC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2B4420-0CE6-4BC9-BA61-7CCC978DDA64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631779-5C35-4C6B-9CE2-9C5EB1F20C59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41B40C-5217-420E-9EA7-3C672791448D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F22C08-1C75-4E35-9E53-C387F75C6E6C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676DA0-875E-4E64-87C0-07ED012BCDD0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480385-9C1E-440C-9E1B-ADD2A08115A6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B0F7F1-DE4E-46C5-94B7-FCE46E59EB3E}"/>
              </a:ext>
            </a:extLst>
          </p:cNvPr>
          <p:cNvSpPr>
            <a:spLocks noGrp="1"/>
          </p:cNvSpPr>
          <p:nvPr/>
        </p:nvSpPr>
        <p:spPr>
          <a:xfrm>
            <a:off x="1504950" y="8001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B0388B-019C-4EEE-BE4E-D2DDCD9FAC81}"/>
              </a:ext>
            </a:extLst>
          </p:cNvPr>
          <p:cNvSpPr>
            <a:spLocks noGrp="1"/>
          </p:cNvSpPr>
          <p:nvPr/>
        </p:nvSpPr>
        <p:spPr>
          <a:xfrm>
            <a:off x="1543050" y="1524000"/>
            <a:ext cx="2857500" cy="476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0F77AEB-06ED-4390-8C29-8ABC236C0689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1E2773-2C7E-45C5-A30C-F86CB5F394DE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完成ESP32-S3R8低功耗触控智能手表样机，实现显示触摸、SD存储、RTC守时、WiFi联网和双级休眠等硬件闭环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B842FC-4955-44D9-B5C9-29C5C2BFB806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10B0D7-FED6-4F90-B4C5-2700C20AC3C9}"/>
              </a:ext>
            </a:extLst>
          </p:cNvPr>
          <p:cNvSpPr>
            <a:spLocks noGrp="1"/>
          </p:cNvSpPr>
          <p:nvPr/>
        </p:nvSpPr>
        <p:spPr>
          <a:xfrm>
            <a:off x="1409700" y="27432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软件采用FreeRTOS任务划分与异步消息队列，完成表盘、天气、NTP、图片/视频/小说、小游戏和OTA等功能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6CC58B4-1B59-465C-90A1-4FC567BC8E50}"/>
              </a:ext>
            </a:extLst>
          </p:cNvPr>
          <p:cNvSpPr>
            <a:spLocks noGrp="1"/>
          </p:cNvSpPr>
          <p:nvPr/>
        </p:nvSpPr>
        <p:spPr>
          <a:xfrm>
            <a:off x="1123950" y="34956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A59F78-9EE3-434B-8C06-2A11E4D11E88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测试表明常规触摸操作、页面切换、电子书断点续读、网络连接与固件维护功能均可稳定运行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DBF9C80-78D1-4851-A168-05FCF6D6C8DB}"/>
              </a:ext>
            </a:extLst>
          </p:cNvPr>
          <p:cNvSpPr>
            <a:spLocks noGrp="1"/>
          </p:cNvSpPr>
          <p:nvPr/>
        </p:nvSpPr>
        <p:spPr>
          <a:xfrm>
            <a:off x="1123950" y="41243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00D39D-788D-48DD-8771-E02CA1438BB2}"/>
              </a:ext>
            </a:extLst>
          </p:cNvPr>
          <p:cNvSpPr>
            <a:spLocks noGrp="1"/>
          </p:cNvSpPr>
          <p:nvPr/>
        </p:nvSpPr>
        <p:spPr>
          <a:xfrm>
            <a:off x="1409700" y="40005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高分辨率图片翻页和MJPEG播放仍受显示同步、总线带宽与微控制器算力限制，是后续优化重点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D4B87C-CC31-4E7E-B4B9-7331D7E9F855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7810500" cy="17145"/>
          </a:xfrm>
          <a:prstGeom prst="rect">
            <a:avLst/>
          </a:prstGeom>
          <a:solidFill>
            <a:srgbClr val="AAC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053ED6-FC32-4BD1-8F41-455E5CE63DD6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后续将围绕TE同步刷新、SDMMC存储带宽、外设电源门控和结构小型化继续改进，使系统更接近可长期佩戴的工程样机。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3767ED-9202-4023-BB8E-3766C730898F}"/>
              </a:ext>
            </a:extLst>
          </p:cNvPr>
          <p:cNvSpPr>
            <a:spLocks noGrp="1"/>
          </p:cNvSpPr>
          <p:nvPr/>
        </p:nvSpPr>
        <p:spPr>
          <a:xfrm>
            <a:off x="7239000" y="605790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624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762</Words>
  <Application>Microsoft Office PowerPoint</Application>
  <DocSecurity>0</DocSecurity>
  <PresentationFormat>宽屏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3</cp:revision>
  <dcterms:created xsi:type="dcterms:W3CDTF">2026-05-27T18:48:14Z</dcterms:created>
  <dcterms:modified xsi:type="dcterms:W3CDTF">2026-05-28T05:15:40Z</dcterms:modified>
</cp:coreProperties>
</file>