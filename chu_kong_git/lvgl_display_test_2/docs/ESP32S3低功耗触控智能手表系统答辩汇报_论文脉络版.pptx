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2B4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2B4C"/>
          </a:solidFill>
          <a:ln w="12700">
            <a:solidFill>
              <a:srgbClr val="0D2B4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617720"/>
            <a:ext cx="12191695" cy="2240280"/>
          </a:xfrm>
          <a:prstGeom prst="rect">
            <a:avLst/>
          </a:prstGeom>
          <a:solidFill>
            <a:srgbClr val="126985">
              <a:alpha val="85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035040" y="640080"/>
            <a:ext cx="4754880" cy="3931920"/>
          </a:xfrm>
          <a:prstGeom prst="arc">
            <a:avLst/>
          </a:prstGeom>
          <a:solidFill>
            <a:srgbClr val="000000">
              <a:alpha val="0"/>
            </a:srgbClr>
          </a:solidFill>
          <a:ln w="12700">
            <a:solidFill>
              <a:srgbClr val="5DC6D9">
                <a:alpha val="6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199632" y="713232"/>
            <a:ext cx="4434840" cy="3703320"/>
          </a:xfrm>
          <a:prstGeom prst="arc">
            <a:avLst/>
          </a:prstGeom>
          <a:solidFill>
            <a:srgbClr val="000000">
              <a:alpha val="0"/>
            </a:srgbClr>
          </a:solidFill>
          <a:ln w="12700">
            <a:solidFill>
              <a:srgbClr val="5DC6D9">
                <a:alpha val="58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364224" y="786384"/>
            <a:ext cx="4114800" cy="3474720"/>
          </a:xfrm>
          <a:prstGeom prst="arc">
            <a:avLst/>
          </a:prstGeom>
          <a:solidFill>
            <a:srgbClr val="000000">
              <a:alpha val="0"/>
            </a:srgbClr>
          </a:solidFill>
          <a:ln w="12700">
            <a:solidFill>
              <a:srgbClr val="5DC6D9">
                <a:alpha val="51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528816" y="859536"/>
            <a:ext cx="3794760" cy="3246120"/>
          </a:xfrm>
          <a:prstGeom prst="arc">
            <a:avLst/>
          </a:prstGeom>
          <a:solidFill>
            <a:srgbClr val="000000">
              <a:alpha val="0"/>
            </a:srgbClr>
          </a:solidFill>
          <a:ln w="12700">
            <a:solidFill>
              <a:srgbClr val="5DC6D9">
                <a:alpha val="44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693408" y="932688"/>
            <a:ext cx="3474720" cy="3017520"/>
          </a:xfrm>
          <a:prstGeom prst="arc">
            <a:avLst/>
          </a:prstGeom>
          <a:solidFill>
            <a:srgbClr val="000000">
              <a:alpha val="0"/>
            </a:srgbClr>
          </a:solidFill>
          <a:ln w="12700">
            <a:solidFill>
              <a:srgbClr val="5DC6D9">
                <a:alpha val="37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858000" y="1005840"/>
            <a:ext cx="3154680" cy="2788920"/>
          </a:xfrm>
          <a:prstGeom prst="arc">
            <a:avLst/>
          </a:prstGeom>
          <a:solidFill>
            <a:srgbClr val="000000">
              <a:alpha val="0"/>
            </a:srgbClr>
          </a:solidFill>
          <a:ln w="12700">
            <a:solidFill>
              <a:srgbClr val="5DC6D9">
                <a:alpha val="3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1325880"/>
            <a:ext cx="5669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</a:rPr>
              <a:t>基于ESP32-S3R8与LVGL的</a:t>
            </a:r>
            <a:endParaRPr lang="en-US" sz="2500" dirty="0"/>
          </a:p>
        </p:txBody>
      </p:sp>
      <p:sp>
        <p:nvSpPr>
          <p:cNvPr id="11" name="Text 9"/>
          <p:cNvSpPr/>
          <p:nvPr/>
        </p:nvSpPr>
        <p:spPr>
          <a:xfrm>
            <a:off x="822960" y="1783080"/>
            <a:ext cx="7589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低功耗触控智能手表系统设计与实现</a:t>
            </a:r>
            <a:endParaRPr lang="en-US" sz="3000" dirty="0"/>
          </a:p>
        </p:txBody>
      </p:sp>
      <p:sp>
        <p:nvSpPr>
          <p:cNvPr id="12" name="Shape 10"/>
          <p:cNvSpPr/>
          <p:nvPr/>
        </p:nvSpPr>
        <p:spPr>
          <a:xfrm>
            <a:off x="822960" y="2468880"/>
            <a:ext cx="3840480" cy="0"/>
          </a:xfrm>
          <a:prstGeom prst="line">
            <a:avLst/>
          </a:prstGeom>
          <a:noFill/>
          <a:ln w="15240">
            <a:solidFill>
              <a:srgbClr val="7DE0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41248" y="278892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CECF7"/>
                </a:solidFill>
              </a:rPr>
              <a:t>毕业论文答辩汇报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41248" y="5806440"/>
            <a:ext cx="6675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8EEF5"/>
                </a:solidFill>
              </a:rPr>
              <a:t>研究内容：硬件系统设计、软件架构设计、关键功能实现、系统调试与测试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 w="12700">
            <a:solidFill>
              <a:srgbClr val="F4F8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82880" y="0"/>
            <a:ext cx="0" cy="6858000"/>
          </a:xfrm>
          <a:prstGeom prst="line">
            <a:avLst/>
          </a:prstGeom>
          <a:noFill/>
          <a:ln w="3175">
            <a:solidFill>
              <a:srgbClr val="E5EEF6">
                <a:alpha val="6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94360" y="0"/>
            <a:ext cx="0" cy="6858000"/>
          </a:xfrm>
          <a:prstGeom prst="line">
            <a:avLst/>
          </a:prstGeom>
          <a:noFill/>
          <a:ln w="3175">
            <a:solidFill>
              <a:srgbClr val="E5EEF6">
                <a:alpha val="6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05840" y="0"/>
            <a:ext cx="0" cy="6858000"/>
          </a:xfrm>
          <a:prstGeom prst="line">
            <a:avLst/>
          </a:prstGeom>
          <a:noFill/>
          <a:ln w="3175">
            <a:solidFill>
              <a:srgbClr val="E5EEF6">
                <a:alpha val="6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417320" y="0"/>
            <a:ext cx="0" cy="6858000"/>
          </a:xfrm>
          <a:prstGeom prst="line">
            <a:avLst/>
          </a:prstGeom>
          <a:noFill/>
          <a:ln w="3175">
            <a:solidFill>
              <a:srgbClr val="E5EEF6">
                <a:alpha val="6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828800" y="0"/>
            <a:ext cx="0" cy="6858000"/>
          </a:xfrm>
          <a:prstGeom prst="line">
            <a:avLst/>
          </a:prstGeom>
          <a:noFill/>
          <a:ln w="3175">
            <a:solidFill>
              <a:srgbClr val="E5EEF6">
                <a:alpha val="65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240280" y="0"/>
            <a:ext cx="0" cy="6858000"/>
          </a:xfrm>
          <a:prstGeom prst="line">
            <a:avLst/>
          </a:prstGeom>
          <a:noFill/>
          <a:ln w="3175">
            <a:solidFill>
              <a:srgbClr val="E5EEF6">
                <a:alpha val="65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651760" y="0"/>
            <a:ext cx="0" cy="6858000"/>
          </a:xfrm>
          <a:prstGeom prst="line">
            <a:avLst/>
          </a:prstGeom>
          <a:noFill/>
          <a:ln w="3175">
            <a:solidFill>
              <a:srgbClr val="E5EEF6">
                <a:alpha val="65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063240" y="0"/>
            <a:ext cx="0" cy="6858000"/>
          </a:xfrm>
          <a:prstGeom prst="line">
            <a:avLst/>
          </a:prstGeom>
          <a:noFill/>
          <a:ln w="3175">
            <a:solidFill>
              <a:srgbClr val="E5EEF6">
                <a:alpha val="65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474720" y="0"/>
            <a:ext cx="0" cy="6858000"/>
          </a:xfrm>
          <a:prstGeom prst="line">
            <a:avLst/>
          </a:prstGeom>
          <a:noFill/>
          <a:ln w="3175">
            <a:solidFill>
              <a:srgbClr val="E5EEF6">
                <a:alpha val="65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886200" y="0"/>
            <a:ext cx="0" cy="6858000"/>
          </a:xfrm>
          <a:prstGeom prst="line">
            <a:avLst/>
          </a:prstGeom>
          <a:noFill/>
          <a:ln w="3175">
            <a:solidFill>
              <a:srgbClr val="E5EEF6">
                <a:alpha val="65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297680" y="0"/>
            <a:ext cx="0" cy="6858000"/>
          </a:xfrm>
          <a:prstGeom prst="line">
            <a:avLst/>
          </a:prstGeom>
          <a:noFill/>
          <a:ln w="3175">
            <a:solidFill>
              <a:srgbClr val="E5EEF6">
                <a:alpha val="65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709160" y="0"/>
            <a:ext cx="0" cy="6858000"/>
          </a:xfrm>
          <a:prstGeom prst="line">
            <a:avLst/>
          </a:prstGeom>
          <a:noFill/>
          <a:ln w="3175">
            <a:solidFill>
              <a:srgbClr val="E5EEF6">
                <a:alpha val="65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120640" y="0"/>
            <a:ext cx="0" cy="6858000"/>
          </a:xfrm>
          <a:prstGeom prst="line">
            <a:avLst/>
          </a:prstGeom>
          <a:noFill/>
          <a:ln w="3175">
            <a:solidFill>
              <a:srgbClr val="E5EEF6">
                <a:alpha val="65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532120" y="0"/>
            <a:ext cx="0" cy="6858000"/>
          </a:xfrm>
          <a:prstGeom prst="line">
            <a:avLst/>
          </a:prstGeom>
          <a:noFill/>
          <a:ln w="3175">
            <a:solidFill>
              <a:srgbClr val="E5EEF6">
                <a:alpha val="65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943600" y="0"/>
            <a:ext cx="0" cy="6858000"/>
          </a:xfrm>
          <a:prstGeom prst="line">
            <a:avLst/>
          </a:prstGeom>
          <a:noFill/>
          <a:ln w="3175">
            <a:solidFill>
              <a:srgbClr val="E5EEF6">
                <a:alpha val="65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355080" y="0"/>
            <a:ext cx="0" cy="6858000"/>
          </a:xfrm>
          <a:prstGeom prst="line">
            <a:avLst/>
          </a:prstGeom>
          <a:noFill/>
          <a:ln w="3175">
            <a:solidFill>
              <a:srgbClr val="E5EEF6">
                <a:alpha val="65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766560" y="0"/>
            <a:ext cx="0" cy="6858000"/>
          </a:xfrm>
          <a:prstGeom prst="line">
            <a:avLst/>
          </a:prstGeom>
          <a:noFill/>
          <a:ln w="3175">
            <a:solidFill>
              <a:srgbClr val="E5EEF6">
                <a:alpha val="65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178040" y="0"/>
            <a:ext cx="0" cy="6858000"/>
          </a:xfrm>
          <a:prstGeom prst="line">
            <a:avLst/>
          </a:prstGeom>
          <a:noFill/>
          <a:ln w="3175">
            <a:solidFill>
              <a:srgbClr val="E5EEF6">
                <a:alpha val="65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589520" y="0"/>
            <a:ext cx="0" cy="6858000"/>
          </a:xfrm>
          <a:prstGeom prst="line">
            <a:avLst/>
          </a:prstGeom>
          <a:noFill/>
          <a:ln w="3175">
            <a:solidFill>
              <a:srgbClr val="E5EEF6">
                <a:alpha val="65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001000" y="0"/>
            <a:ext cx="0" cy="6858000"/>
          </a:xfrm>
          <a:prstGeom prst="line">
            <a:avLst/>
          </a:prstGeom>
          <a:noFill/>
          <a:ln w="3175">
            <a:solidFill>
              <a:srgbClr val="E5EEF6">
                <a:alpha val="65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412480" y="0"/>
            <a:ext cx="0" cy="6858000"/>
          </a:xfrm>
          <a:prstGeom prst="line">
            <a:avLst/>
          </a:prstGeom>
          <a:noFill/>
          <a:ln w="3175">
            <a:solidFill>
              <a:srgbClr val="E5EEF6">
                <a:alpha val="65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823960" y="0"/>
            <a:ext cx="0" cy="6858000"/>
          </a:xfrm>
          <a:prstGeom prst="line">
            <a:avLst/>
          </a:prstGeom>
          <a:noFill/>
          <a:ln w="3175">
            <a:solidFill>
              <a:srgbClr val="E5EEF6">
                <a:alpha val="65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9235440" y="0"/>
            <a:ext cx="0" cy="6858000"/>
          </a:xfrm>
          <a:prstGeom prst="line">
            <a:avLst/>
          </a:prstGeom>
          <a:noFill/>
          <a:ln w="3175">
            <a:solidFill>
              <a:srgbClr val="E5EEF6">
                <a:alpha val="65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9646920" y="0"/>
            <a:ext cx="0" cy="6858000"/>
          </a:xfrm>
          <a:prstGeom prst="line">
            <a:avLst/>
          </a:prstGeom>
          <a:noFill/>
          <a:ln w="3175">
            <a:solidFill>
              <a:srgbClr val="E5EEF6">
                <a:alpha val="65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0058400" y="0"/>
            <a:ext cx="0" cy="6858000"/>
          </a:xfrm>
          <a:prstGeom prst="line">
            <a:avLst/>
          </a:prstGeom>
          <a:noFill/>
          <a:ln w="3175">
            <a:solidFill>
              <a:srgbClr val="E5EEF6">
                <a:alpha val="65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0469880" y="0"/>
            <a:ext cx="0" cy="6858000"/>
          </a:xfrm>
          <a:prstGeom prst="line">
            <a:avLst/>
          </a:prstGeom>
          <a:noFill/>
          <a:ln w="3175">
            <a:solidFill>
              <a:srgbClr val="E5EEF6">
                <a:alpha val="65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0881360" y="0"/>
            <a:ext cx="0" cy="6858000"/>
          </a:xfrm>
          <a:prstGeom prst="line">
            <a:avLst/>
          </a:prstGeom>
          <a:noFill/>
          <a:ln w="3175">
            <a:solidFill>
              <a:srgbClr val="E5EEF6">
                <a:alpha val="65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1292840" y="0"/>
            <a:ext cx="0" cy="6858000"/>
          </a:xfrm>
          <a:prstGeom prst="line">
            <a:avLst/>
          </a:prstGeom>
          <a:noFill/>
          <a:ln w="3175">
            <a:solidFill>
              <a:srgbClr val="E5EEF6">
                <a:alpha val="65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1704320" y="0"/>
            <a:ext cx="0" cy="6858000"/>
          </a:xfrm>
          <a:prstGeom prst="line">
            <a:avLst/>
          </a:prstGeom>
          <a:noFill/>
          <a:ln w="3175">
            <a:solidFill>
              <a:srgbClr val="E5EEF6">
                <a:alpha val="65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12115800" y="0"/>
            <a:ext cx="0" cy="6858000"/>
          </a:xfrm>
          <a:prstGeom prst="line">
            <a:avLst/>
          </a:prstGeom>
          <a:noFill/>
          <a:ln w="3175">
            <a:solidFill>
              <a:srgbClr val="E5EEF6">
                <a:alpha val="65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182880"/>
            <a:ext cx="12191695" cy="0"/>
          </a:xfrm>
          <a:prstGeom prst="line">
            <a:avLst/>
          </a:prstGeom>
          <a:noFill/>
          <a:ln w="3175">
            <a:solidFill>
              <a:srgbClr val="E5EEF6">
                <a:alpha val="65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594360"/>
            <a:ext cx="12191695" cy="0"/>
          </a:xfrm>
          <a:prstGeom prst="line">
            <a:avLst/>
          </a:prstGeom>
          <a:noFill/>
          <a:ln w="3175">
            <a:solidFill>
              <a:srgbClr val="E5EEF6">
                <a:alpha val="65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0" y="1005840"/>
            <a:ext cx="12191695" cy="0"/>
          </a:xfrm>
          <a:prstGeom prst="line">
            <a:avLst/>
          </a:prstGeom>
          <a:noFill/>
          <a:ln w="3175">
            <a:solidFill>
              <a:srgbClr val="E5EEF6">
                <a:alpha val="6500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0" y="1417320"/>
            <a:ext cx="12191695" cy="0"/>
          </a:xfrm>
          <a:prstGeom prst="line">
            <a:avLst/>
          </a:prstGeom>
          <a:noFill/>
          <a:ln w="3175">
            <a:solidFill>
              <a:srgbClr val="E5EEF6">
                <a:alpha val="6500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0" y="1828800"/>
            <a:ext cx="12191695" cy="0"/>
          </a:xfrm>
          <a:prstGeom prst="line">
            <a:avLst/>
          </a:prstGeom>
          <a:noFill/>
          <a:ln w="3175">
            <a:solidFill>
              <a:srgbClr val="E5EEF6">
                <a:alpha val="6500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0" y="2240280"/>
            <a:ext cx="12191695" cy="0"/>
          </a:xfrm>
          <a:prstGeom prst="line">
            <a:avLst/>
          </a:prstGeom>
          <a:noFill/>
          <a:ln w="3175">
            <a:solidFill>
              <a:srgbClr val="E5EEF6">
                <a:alpha val="6500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0" y="2651760"/>
            <a:ext cx="12191695" cy="0"/>
          </a:xfrm>
          <a:prstGeom prst="line">
            <a:avLst/>
          </a:prstGeom>
          <a:noFill/>
          <a:ln w="3175">
            <a:solidFill>
              <a:srgbClr val="E5EEF6">
                <a:alpha val="6500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0" y="3063240"/>
            <a:ext cx="12191695" cy="0"/>
          </a:xfrm>
          <a:prstGeom prst="line">
            <a:avLst/>
          </a:prstGeom>
          <a:noFill/>
          <a:ln w="3175">
            <a:solidFill>
              <a:srgbClr val="E5EEF6">
                <a:alpha val="6500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0" y="3474720"/>
            <a:ext cx="12191695" cy="0"/>
          </a:xfrm>
          <a:prstGeom prst="line">
            <a:avLst/>
          </a:prstGeom>
          <a:noFill/>
          <a:ln w="3175">
            <a:solidFill>
              <a:srgbClr val="E5EEF6">
                <a:alpha val="6500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0" y="3886200"/>
            <a:ext cx="12191695" cy="0"/>
          </a:xfrm>
          <a:prstGeom prst="line">
            <a:avLst/>
          </a:prstGeom>
          <a:noFill/>
          <a:ln w="3175">
            <a:solidFill>
              <a:srgbClr val="E5EEF6">
                <a:alpha val="65000"/>
              </a:srgbClr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0" y="4297680"/>
            <a:ext cx="12191695" cy="0"/>
          </a:xfrm>
          <a:prstGeom prst="line">
            <a:avLst/>
          </a:prstGeom>
          <a:noFill/>
          <a:ln w="3175">
            <a:solidFill>
              <a:srgbClr val="E5EEF6">
                <a:alpha val="65000"/>
              </a:srgbClr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0" y="4709160"/>
            <a:ext cx="12191695" cy="0"/>
          </a:xfrm>
          <a:prstGeom prst="line">
            <a:avLst/>
          </a:prstGeom>
          <a:noFill/>
          <a:ln w="3175">
            <a:solidFill>
              <a:srgbClr val="E5EEF6">
                <a:alpha val="65000"/>
              </a:srgbClr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0" y="5120640"/>
            <a:ext cx="12191695" cy="0"/>
          </a:xfrm>
          <a:prstGeom prst="line">
            <a:avLst/>
          </a:prstGeom>
          <a:noFill/>
          <a:ln w="3175">
            <a:solidFill>
              <a:srgbClr val="E5EEF6">
                <a:alpha val="65000"/>
              </a:srgbClr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0" y="5532120"/>
            <a:ext cx="12191695" cy="0"/>
          </a:xfrm>
          <a:prstGeom prst="line">
            <a:avLst/>
          </a:prstGeom>
          <a:noFill/>
          <a:ln w="3175">
            <a:solidFill>
              <a:srgbClr val="E5EEF6">
                <a:alpha val="65000"/>
              </a:srgbClr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0" y="5943600"/>
            <a:ext cx="12191695" cy="0"/>
          </a:xfrm>
          <a:prstGeom prst="line">
            <a:avLst/>
          </a:prstGeom>
          <a:noFill/>
          <a:ln w="3175">
            <a:solidFill>
              <a:srgbClr val="E5EEF6">
                <a:alpha val="65000"/>
              </a:srgbClr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0" y="6355080"/>
            <a:ext cx="12191695" cy="0"/>
          </a:xfrm>
          <a:prstGeom prst="line">
            <a:avLst/>
          </a:prstGeom>
          <a:noFill/>
          <a:ln w="3175">
            <a:solidFill>
              <a:srgbClr val="E5EEF6">
                <a:alpha val="65000"/>
              </a:srgbClr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DDEDF8">
              <a:alpha val="90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5321808" y="347472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72335"/>
                </a:solidFill>
              </a:rPr>
              <a:t>目录</a:t>
            </a:r>
            <a:endParaRPr lang="en-US" sz="1800" dirty="0"/>
          </a:p>
        </p:txBody>
      </p:sp>
      <p:sp>
        <p:nvSpPr>
          <p:cNvPr id="51" name="Text 49"/>
          <p:cNvSpPr/>
          <p:nvPr/>
        </p:nvSpPr>
        <p:spPr>
          <a:xfrm>
            <a:off x="5266944" y="676656"/>
            <a:ext cx="10972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0B63B6"/>
                </a:solidFill>
              </a:rPr>
              <a:t>CONTENTS</a:t>
            </a:r>
            <a:endParaRPr lang="en-US" sz="650" dirty="0"/>
          </a:p>
        </p:txBody>
      </p:sp>
      <p:sp>
        <p:nvSpPr>
          <p:cNvPr id="52" name="Shape 50"/>
          <p:cNvSpPr/>
          <p:nvPr/>
        </p:nvSpPr>
        <p:spPr>
          <a:xfrm>
            <a:off x="2788920" y="1325880"/>
            <a:ext cx="3154680" cy="786384"/>
          </a:xfrm>
          <a:prstGeom prst="roundRect">
            <a:avLst>
              <a:gd name="adj" fmla="val 5814"/>
            </a:avLst>
          </a:prstGeom>
          <a:solidFill>
            <a:srgbClr val="FFFFFF"/>
          </a:solidFill>
          <a:ln w="10160">
            <a:solidFill>
              <a:srgbClr val="D8E4EE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2953512" y="1481328"/>
            <a:ext cx="28254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172335"/>
                </a:solidFill>
              </a:rPr>
              <a:t>绪论：研究背景与意义</a:t>
            </a:r>
            <a:endParaRPr lang="en-US" sz="1250" dirty="0"/>
          </a:p>
        </p:txBody>
      </p:sp>
      <p:sp>
        <p:nvSpPr>
          <p:cNvPr id="54" name="Text 52"/>
          <p:cNvSpPr/>
          <p:nvPr/>
        </p:nvSpPr>
        <p:spPr>
          <a:xfrm>
            <a:off x="2953512" y="1801368"/>
            <a:ext cx="2825496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30" dirty="0">
                <a:solidFill>
                  <a:srgbClr val="5D6D7E"/>
                </a:solidFill>
              </a:rPr>
              <a:t>说明课题来源、研究价值与系统目标</a:t>
            </a:r>
            <a:endParaRPr lang="en-US" sz="830" dirty="0"/>
          </a:p>
        </p:txBody>
      </p:sp>
      <p:sp>
        <p:nvSpPr>
          <p:cNvPr id="55" name="Text 53"/>
          <p:cNvSpPr/>
          <p:nvPr/>
        </p:nvSpPr>
        <p:spPr>
          <a:xfrm>
            <a:off x="2953512" y="1536192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63B6"/>
                </a:solidFill>
              </a:rPr>
              <a:t>01</a:t>
            </a:r>
            <a:endParaRPr lang="en-US" sz="1500" dirty="0"/>
          </a:p>
        </p:txBody>
      </p:sp>
      <p:sp>
        <p:nvSpPr>
          <p:cNvPr id="56" name="Shape 54"/>
          <p:cNvSpPr/>
          <p:nvPr/>
        </p:nvSpPr>
        <p:spPr>
          <a:xfrm>
            <a:off x="6446520" y="1325880"/>
            <a:ext cx="3154680" cy="786384"/>
          </a:xfrm>
          <a:prstGeom prst="roundRect">
            <a:avLst>
              <a:gd name="adj" fmla="val 5814"/>
            </a:avLst>
          </a:prstGeom>
          <a:solidFill>
            <a:srgbClr val="FFFFFF"/>
          </a:solidFill>
          <a:ln w="10160">
            <a:solidFill>
              <a:srgbClr val="D8E4EE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6611112" y="1481328"/>
            <a:ext cx="28254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172335"/>
                </a:solidFill>
              </a:rPr>
              <a:t>需求分析与总体架构</a:t>
            </a:r>
            <a:endParaRPr lang="en-US" sz="1250" dirty="0"/>
          </a:p>
        </p:txBody>
      </p:sp>
      <p:sp>
        <p:nvSpPr>
          <p:cNvPr id="58" name="Text 56"/>
          <p:cNvSpPr/>
          <p:nvPr/>
        </p:nvSpPr>
        <p:spPr>
          <a:xfrm>
            <a:off x="6611112" y="1801368"/>
            <a:ext cx="2825496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30" dirty="0">
                <a:solidFill>
                  <a:srgbClr val="5D6D7E"/>
                </a:solidFill>
              </a:rPr>
              <a:t>梳理功能需求、性能指标与系统总体方案</a:t>
            </a:r>
            <a:endParaRPr lang="en-US" sz="830" dirty="0"/>
          </a:p>
        </p:txBody>
      </p:sp>
      <p:sp>
        <p:nvSpPr>
          <p:cNvPr id="59" name="Text 57"/>
          <p:cNvSpPr/>
          <p:nvPr/>
        </p:nvSpPr>
        <p:spPr>
          <a:xfrm>
            <a:off x="6611112" y="1536192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63B6"/>
                </a:solidFill>
              </a:rPr>
              <a:t>02</a:t>
            </a:r>
            <a:endParaRPr lang="en-US" sz="1500" dirty="0"/>
          </a:p>
        </p:txBody>
      </p:sp>
      <p:sp>
        <p:nvSpPr>
          <p:cNvPr id="60" name="Shape 58"/>
          <p:cNvSpPr/>
          <p:nvPr/>
        </p:nvSpPr>
        <p:spPr>
          <a:xfrm>
            <a:off x="2788920" y="2441448"/>
            <a:ext cx="3154680" cy="786384"/>
          </a:xfrm>
          <a:prstGeom prst="roundRect">
            <a:avLst>
              <a:gd name="adj" fmla="val 5814"/>
            </a:avLst>
          </a:prstGeom>
          <a:solidFill>
            <a:srgbClr val="FFFFFF"/>
          </a:solidFill>
          <a:ln w="10160">
            <a:solidFill>
              <a:srgbClr val="D8E4EE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2953512" y="2596896"/>
            <a:ext cx="28254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172335"/>
                </a:solidFill>
              </a:rPr>
              <a:t>硬件系统设计</a:t>
            </a:r>
            <a:endParaRPr lang="en-US" sz="1250" dirty="0"/>
          </a:p>
        </p:txBody>
      </p:sp>
      <p:sp>
        <p:nvSpPr>
          <p:cNvPr id="62" name="Text 60"/>
          <p:cNvSpPr/>
          <p:nvPr/>
        </p:nvSpPr>
        <p:spPr>
          <a:xfrm>
            <a:off x="2953512" y="2916936"/>
            <a:ext cx="2825496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30" dirty="0">
                <a:solidFill>
                  <a:srgbClr val="5D6D7E"/>
                </a:solidFill>
              </a:rPr>
              <a:t>介绍主控、显示触控、存储、RTC与电源电路</a:t>
            </a:r>
            <a:endParaRPr lang="en-US" sz="830" dirty="0"/>
          </a:p>
        </p:txBody>
      </p:sp>
      <p:sp>
        <p:nvSpPr>
          <p:cNvPr id="63" name="Text 61"/>
          <p:cNvSpPr/>
          <p:nvPr/>
        </p:nvSpPr>
        <p:spPr>
          <a:xfrm>
            <a:off x="2953512" y="2651760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63B6"/>
                </a:solidFill>
              </a:rPr>
              <a:t>03</a:t>
            </a:r>
            <a:endParaRPr lang="en-US" sz="1500" dirty="0"/>
          </a:p>
        </p:txBody>
      </p:sp>
      <p:sp>
        <p:nvSpPr>
          <p:cNvPr id="64" name="Shape 62"/>
          <p:cNvSpPr/>
          <p:nvPr/>
        </p:nvSpPr>
        <p:spPr>
          <a:xfrm>
            <a:off x="6446520" y="2441448"/>
            <a:ext cx="3154680" cy="786384"/>
          </a:xfrm>
          <a:prstGeom prst="roundRect">
            <a:avLst>
              <a:gd name="adj" fmla="val 5814"/>
            </a:avLst>
          </a:prstGeom>
          <a:solidFill>
            <a:srgbClr val="FFFFFF"/>
          </a:solidFill>
          <a:ln w="10160">
            <a:solidFill>
              <a:srgbClr val="D8E4EE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6611112" y="2596896"/>
            <a:ext cx="28254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172335"/>
                </a:solidFill>
              </a:rPr>
              <a:t>软件系统设计</a:t>
            </a:r>
            <a:endParaRPr lang="en-US" sz="1250" dirty="0"/>
          </a:p>
        </p:txBody>
      </p:sp>
      <p:sp>
        <p:nvSpPr>
          <p:cNvPr id="66" name="Text 64"/>
          <p:cNvSpPr/>
          <p:nvPr/>
        </p:nvSpPr>
        <p:spPr>
          <a:xfrm>
            <a:off x="6611112" y="2916936"/>
            <a:ext cx="2825496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30" dirty="0">
                <a:solidFill>
                  <a:srgbClr val="5D6D7E"/>
                </a:solidFill>
              </a:rPr>
              <a:t>说明FreeRTOS任务、LVGL刷新和关键业务模块</a:t>
            </a:r>
            <a:endParaRPr lang="en-US" sz="830" dirty="0"/>
          </a:p>
        </p:txBody>
      </p:sp>
      <p:sp>
        <p:nvSpPr>
          <p:cNvPr id="67" name="Text 65"/>
          <p:cNvSpPr/>
          <p:nvPr/>
        </p:nvSpPr>
        <p:spPr>
          <a:xfrm>
            <a:off x="6611112" y="2651760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63B6"/>
                </a:solidFill>
              </a:rPr>
              <a:t>04</a:t>
            </a:r>
            <a:endParaRPr lang="en-US" sz="1500" dirty="0"/>
          </a:p>
        </p:txBody>
      </p:sp>
      <p:sp>
        <p:nvSpPr>
          <p:cNvPr id="68" name="Shape 66"/>
          <p:cNvSpPr/>
          <p:nvPr/>
        </p:nvSpPr>
        <p:spPr>
          <a:xfrm>
            <a:off x="2788920" y="3557016"/>
            <a:ext cx="3154680" cy="786384"/>
          </a:xfrm>
          <a:prstGeom prst="roundRect">
            <a:avLst>
              <a:gd name="adj" fmla="val 5814"/>
            </a:avLst>
          </a:prstGeom>
          <a:solidFill>
            <a:srgbClr val="FFFFFF"/>
          </a:solidFill>
          <a:ln w="10160">
            <a:solidFill>
              <a:srgbClr val="D8E4EE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2953512" y="3712464"/>
            <a:ext cx="28254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172335"/>
                </a:solidFill>
              </a:rPr>
              <a:t>系统调试与测试</a:t>
            </a:r>
            <a:endParaRPr lang="en-US" sz="1250" dirty="0"/>
          </a:p>
        </p:txBody>
      </p:sp>
      <p:sp>
        <p:nvSpPr>
          <p:cNvPr id="70" name="Text 68"/>
          <p:cNvSpPr/>
          <p:nvPr/>
        </p:nvSpPr>
        <p:spPr>
          <a:xfrm>
            <a:off x="2953512" y="4032504"/>
            <a:ext cx="2825496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30" dirty="0">
                <a:solidFill>
                  <a:srgbClr val="5D6D7E"/>
                </a:solidFill>
              </a:rPr>
              <a:t>展示功能、功耗、OTA与稳定性测试结果</a:t>
            </a:r>
            <a:endParaRPr lang="en-US" sz="830" dirty="0"/>
          </a:p>
        </p:txBody>
      </p:sp>
      <p:sp>
        <p:nvSpPr>
          <p:cNvPr id="71" name="Text 69"/>
          <p:cNvSpPr/>
          <p:nvPr/>
        </p:nvSpPr>
        <p:spPr>
          <a:xfrm>
            <a:off x="2953512" y="3767328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63B6"/>
                </a:solidFill>
              </a:rPr>
              <a:t>05</a:t>
            </a:r>
            <a:endParaRPr lang="en-US" sz="1500" dirty="0"/>
          </a:p>
        </p:txBody>
      </p:sp>
      <p:sp>
        <p:nvSpPr>
          <p:cNvPr id="72" name="Shape 70"/>
          <p:cNvSpPr/>
          <p:nvPr/>
        </p:nvSpPr>
        <p:spPr>
          <a:xfrm>
            <a:off x="6446520" y="3557016"/>
            <a:ext cx="3154680" cy="786384"/>
          </a:xfrm>
          <a:prstGeom prst="roundRect">
            <a:avLst>
              <a:gd name="adj" fmla="val 5814"/>
            </a:avLst>
          </a:prstGeom>
          <a:solidFill>
            <a:srgbClr val="FFFFFF"/>
          </a:solidFill>
          <a:ln w="10160">
            <a:solidFill>
              <a:srgbClr val="D8E4EE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6611112" y="3712464"/>
            <a:ext cx="28254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172335"/>
                </a:solidFill>
              </a:rPr>
              <a:t>总结与未来展望</a:t>
            </a:r>
            <a:endParaRPr lang="en-US" sz="1250" dirty="0"/>
          </a:p>
        </p:txBody>
      </p:sp>
      <p:sp>
        <p:nvSpPr>
          <p:cNvPr id="74" name="Text 72"/>
          <p:cNvSpPr/>
          <p:nvPr/>
        </p:nvSpPr>
        <p:spPr>
          <a:xfrm>
            <a:off x="6611112" y="4032504"/>
            <a:ext cx="2825496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30" dirty="0">
                <a:solidFill>
                  <a:srgbClr val="5D6D7E"/>
                </a:solidFill>
              </a:rPr>
              <a:t>归纳成果、不足与后续优化方向</a:t>
            </a:r>
            <a:endParaRPr lang="en-US" sz="830" dirty="0"/>
          </a:p>
        </p:txBody>
      </p:sp>
      <p:sp>
        <p:nvSpPr>
          <p:cNvPr id="75" name="Text 73"/>
          <p:cNvSpPr/>
          <p:nvPr/>
        </p:nvSpPr>
        <p:spPr>
          <a:xfrm>
            <a:off x="6611112" y="3767328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63B6"/>
                </a:solidFill>
              </a:rPr>
              <a:t>06</a:t>
            </a:r>
            <a:endParaRPr lang="en-US" sz="1500" dirty="0"/>
          </a:p>
        </p:txBody>
      </p:sp>
      <p:sp>
        <p:nvSpPr>
          <p:cNvPr id="76" name="Text 74"/>
          <p:cNvSpPr/>
          <p:nvPr/>
        </p:nvSpPr>
        <p:spPr>
          <a:xfrm>
            <a:off x="502920" y="6565392"/>
            <a:ext cx="5212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7E8FA3"/>
                </a:solidFill>
              </a:rPr>
              <a:t>基于ESP32-S3R8与LVGL的低功耗触控智能手表系统设计与实现</a:t>
            </a:r>
            <a:endParaRPr lang="en-US" sz="700" dirty="0"/>
          </a:p>
        </p:txBody>
      </p:sp>
      <p:sp>
        <p:nvSpPr>
          <p:cNvPr id="77" name="Text 75"/>
          <p:cNvSpPr/>
          <p:nvPr/>
        </p:nvSpPr>
        <p:spPr>
          <a:xfrm>
            <a:off x="11356848" y="6528816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0B63B6"/>
                </a:solidFill>
              </a:rPr>
              <a:t>02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 w="12700">
            <a:solidFill>
              <a:srgbClr val="F4F8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82880" y="0"/>
            <a:ext cx="0" cy="6858000"/>
          </a:xfrm>
          <a:prstGeom prst="line">
            <a:avLst/>
          </a:prstGeom>
          <a:noFill/>
          <a:ln w="3175">
            <a:solidFill>
              <a:srgbClr val="E5EEF6">
                <a:alpha val="6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94360" y="0"/>
            <a:ext cx="0" cy="6858000"/>
          </a:xfrm>
          <a:prstGeom prst="line">
            <a:avLst/>
          </a:prstGeom>
          <a:noFill/>
          <a:ln w="3175">
            <a:solidFill>
              <a:srgbClr val="E5EEF6">
                <a:alpha val="6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05840" y="0"/>
            <a:ext cx="0" cy="6858000"/>
          </a:xfrm>
          <a:prstGeom prst="line">
            <a:avLst/>
          </a:prstGeom>
          <a:noFill/>
          <a:ln w="3175">
            <a:solidFill>
              <a:srgbClr val="E5EEF6">
                <a:alpha val="6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417320" y="0"/>
            <a:ext cx="0" cy="6858000"/>
          </a:xfrm>
          <a:prstGeom prst="line">
            <a:avLst/>
          </a:prstGeom>
          <a:noFill/>
          <a:ln w="3175">
            <a:solidFill>
              <a:srgbClr val="E5EEF6">
                <a:alpha val="6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828800" y="0"/>
            <a:ext cx="0" cy="6858000"/>
          </a:xfrm>
          <a:prstGeom prst="line">
            <a:avLst/>
          </a:prstGeom>
          <a:noFill/>
          <a:ln w="3175">
            <a:solidFill>
              <a:srgbClr val="E5EEF6">
                <a:alpha val="65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240280" y="0"/>
            <a:ext cx="0" cy="6858000"/>
          </a:xfrm>
          <a:prstGeom prst="line">
            <a:avLst/>
          </a:prstGeom>
          <a:noFill/>
          <a:ln w="3175">
            <a:solidFill>
              <a:srgbClr val="E5EEF6">
                <a:alpha val="65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651760" y="0"/>
            <a:ext cx="0" cy="6858000"/>
          </a:xfrm>
          <a:prstGeom prst="line">
            <a:avLst/>
          </a:prstGeom>
          <a:noFill/>
          <a:ln w="3175">
            <a:solidFill>
              <a:srgbClr val="E5EEF6">
                <a:alpha val="65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063240" y="0"/>
            <a:ext cx="0" cy="6858000"/>
          </a:xfrm>
          <a:prstGeom prst="line">
            <a:avLst/>
          </a:prstGeom>
          <a:noFill/>
          <a:ln w="3175">
            <a:solidFill>
              <a:srgbClr val="E5EEF6">
                <a:alpha val="65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474720" y="0"/>
            <a:ext cx="0" cy="6858000"/>
          </a:xfrm>
          <a:prstGeom prst="line">
            <a:avLst/>
          </a:prstGeom>
          <a:noFill/>
          <a:ln w="3175">
            <a:solidFill>
              <a:srgbClr val="E5EEF6">
                <a:alpha val="65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886200" y="0"/>
            <a:ext cx="0" cy="6858000"/>
          </a:xfrm>
          <a:prstGeom prst="line">
            <a:avLst/>
          </a:prstGeom>
          <a:noFill/>
          <a:ln w="3175">
            <a:solidFill>
              <a:srgbClr val="E5EEF6">
                <a:alpha val="65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297680" y="0"/>
            <a:ext cx="0" cy="6858000"/>
          </a:xfrm>
          <a:prstGeom prst="line">
            <a:avLst/>
          </a:prstGeom>
          <a:noFill/>
          <a:ln w="3175">
            <a:solidFill>
              <a:srgbClr val="E5EEF6">
                <a:alpha val="65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709160" y="0"/>
            <a:ext cx="0" cy="6858000"/>
          </a:xfrm>
          <a:prstGeom prst="line">
            <a:avLst/>
          </a:prstGeom>
          <a:noFill/>
          <a:ln w="3175">
            <a:solidFill>
              <a:srgbClr val="E5EEF6">
                <a:alpha val="65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120640" y="0"/>
            <a:ext cx="0" cy="6858000"/>
          </a:xfrm>
          <a:prstGeom prst="line">
            <a:avLst/>
          </a:prstGeom>
          <a:noFill/>
          <a:ln w="3175">
            <a:solidFill>
              <a:srgbClr val="E5EEF6">
                <a:alpha val="65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532120" y="0"/>
            <a:ext cx="0" cy="6858000"/>
          </a:xfrm>
          <a:prstGeom prst="line">
            <a:avLst/>
          </a:prstGeom>
          <a:noFill/>
          <a:ln w="3175">
            <a:solidFill>
              <a:srgbClr val="E5EEF6">
                <a:alpha val="65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943600" y="0"/>
            <a:ext cx="0" cy="6858000"/>
          </a:xfrm>
          <a:prstGeom prst="line">
            <a:avLst/>
          </a:prstGeom>
          <a:noFill/>
          <a:ln w="3175">
            <a:solidFill>
              <a:srgbClr val="E5EEF6">
                <a:alpha val="65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355080" y="0"/>
            <a:ext cx="0" cy="6858000"/>
          </a:xfrm>
          <a:prstGeom prst="line">
            <a:avLst/>
          </a:prstGeom>
          <a:noFill/>
          <a:ln w="3175">
            <a:solidFill>
              <a:srgbClr val="E5EEF6">
                <a:alpha val="65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766560" y="0"/>
            <a:ext cx="0" cy="6858000"/>
          </a:xfrm>
          <a:prstGeom prst="line">
            <a:avLst/>
          </a:prstGeom>
          <a:noFill/>
          <a:ln w="3175">
            <a:solidFill>
              <a:srgbClr val="E5EEF6">
                <a:alpha val="65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178040" y="0"/>
            <a:ext cx="0" cy="6858000"/>
          </a:xfrm>
          <a:prstGeom prst="line">
            <a:avLst/>
          </a:prstGeom>
          <a:noFill/>
          <a:ln w="3175">
            <a:solidFill>
              <a:srgbClr val="E5EEF6">
                <a:alpha val="65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589520" y="0"/>
            <a:ext cx="0" cy="6858000"/>
          </a:xfrm>
          <a:prstGeom prst="line">
            <a:avLst/>
          </a:prstGeom>
          <a:noFill/>
          <a:ln w="3175">
            <a:solidFill>
              <a:srgbClr val="E5EEF6">
                <a:alpha val="65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001000" y="0"/>
            <a:ext cx="0" cy="6858000"/>
          </a:xfrm>
          <a:prstGeom prst="line">
            <a:avLst/>
          </a:prstGeom>
          <a:noFill/>
          <a:ln w="3175">
            <a:solidFill>
              <a:srgbClr val="E5EEF6">
                <a:alpha val="65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412480" y="0"/>
            <a:ext cx="0" cy="6858000"/>
          </a:xfrm>
          <a:prstGeom prst="line">
            <a:avLst/>
          </a:prstGeom>
          <a:noFill/>
          <a:ln w="3175">
            <a:solidFill>
              <a:srgbClr val="E5EEF6">
                <a:alpha val="65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823960" y="0"/>
            <a:ext cx="0" cy="6858000"/>
          </a:xfrm>
          <a:prstGeom prst="line">
            <a:avLst/>
          </a:prstGeom>
          <a:noFill/>
          <a:ln w="3175">
            <a:solidFill>
              <a:srgbClr val="E5EEF6">
                <a:alpha val="65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9235440" y="0"/>
            <a:ext cx="0" cy="6858000"/>
          </a:xfrm>
          <a:prstGeom prst="line">
            <a:avLst/>
          </a:prstGeom>
          <a:noFill/>
          <a:ln w="3175">
            <a:solidFill>
              <a:srgbClr val="E5EEF6">
                <a:alpha val="65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9646920" y="0"/>
            <a:ext cx="0" cy="6858000"/>
          </a:xfrm>
          <a:prstGeom prst="line">
            <a:avLst/>
          </a:prstGeom>
          <a:noFill/>
          <a:ln w="3175">
            <a:solidFill>
              <a:srgbClr val="E5EEF6">
                <a:alpha val="65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0058400" y="0"/>
            <a:ext cx="0" cy="6858000"/>
          </a:xfrm>
          <a:prstGeom prst="line">
            <a:avLst/>
          </a:prstGeom>
          <a:noFill/>
          <a:ln w="3175">
            <a:solidFill>
              <a:srgbClr val="E5EEF6">
                <a:alpha val="65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0469880" y="0"/>
            <a:ext cx="0" cy="6858000"/>
          </a:xfrm>
          <a:prstGeom prst="line">
            <a:avLst/>
          </a:prstGeom>
          <a:noFill/>
          <a:ln w="3175">
            <a:solidFill>
              <a:srgbClr val="E5EEF6">
                <a:alpha val="65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0881360" y="0"/>
            <a:ext cx="0" cy="6858000"/>
          </a:xfrm>
          <a:prstGeom prst="line">
            <a:avLst/>
          </a:prstGeom>
          <a:noFill/>
          <a:ln w="3175">
            <a:solidFill>
              <a:srgbClr val="E5EEF6">
                <a:alpha val="65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1292840" y="0"/>
            <a:ext cx="0" cy="6858000"/>
          </a:xfrm>
          <a:prstGeom prst="line">
            <a:avLst/>
          </a:prstGeom>
          <a:noFill/>
          <a:ln w="3175">
            <a:solidFill>
              <a:srgbClr val="E5EEF6">
                <a:alpha val="65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1704320" y="0"/>
            <a:ext cx="0" cy="6858000"/>
          </a:xfrm>
          <a:prstGeom prst="line">
            <a:avLst/>
          </a:prstGeom>
          <a:noFill/>
          <a:ln w="3175">
            <a:solidFill>
              <a:srgbClr val="E5EEF6">
                <a:alpha val="65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12115800" y="0"/>
            <a:ext cx="0" cy="6858000"/>
          </a:xfrm>
          <a:prstGeom prst="line">
            <a:avLst/>
          </a:prstGeom>
          <a:noFill/>
          <a:ln w="3175">
            <a:solidFill>
              <a:srgbClr val="E5EEF6">
                <a:alpha val="65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182880"/>
            <a:ext cx="12191695" cy="0"/>
          </a:xfrm>
          <a:prstGeom prst="line">
            <a:avLst/>
          </a:prstGeom>
          <a:noFill/>
          <a:ln w="3175">
            <a:solidFill>
              <a:srgbClr val="E5EEF6">
                <a:alpha val="65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594360"/>
            <a:ext cx="12191695" cy="0"/>
          </a:xfrm>
          <a:prstGeom prst="line">
            <a:avLst/>
          </a:prstGeom>
          <a:noFill/>
          <a:ln w="3175">
            <a:solidFill>
              <a:srgbClr val="E5EEF6">
                <a:alpha val="65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0" y="1005840"/>
            <a:ext cx="12191695" cy="0"/>
          </a:xfrm>
          <a:prstGeom prst="line">
            <a:avLst/>
          </a:prstGeom>
          <a:noFill/>
          <a:ln w="3175">
            <a:solidFill>
              <a:srgbClr val="E5EEF6">
                <a:alpha val="6500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0" y="1417320"/>
            <a:ext cx="12191695" cy="0"/>
          </a:xfrm>
          <a:prstGeom prst="line">
            <a:avLst/>
          </a:prstGeom>
          <a:noFill/>
          <a:ln w="3175">
            <a:solidFill>
              <a:srgbClr val="E5EEF6">
                <a:alpha val="6500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0" y="1828800"/>
            <a:ext cx="12191695" cy="0"/>
          </a:xfrm>
          <a:prstGeom prst="line">
            <a:avLst/>
          </a:prstGeom>
          <a:noFill/>
          <a:ln w="3175">
            <a:solidFill>
              <a:srgbClr val="E5EEF6">
                <a:alpha val="6500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0" y="2240280"/>
            <a:ext cx="12191695" cy="0"/>
          </a:xfrm>
          <a:prstGeom prst="line">
            <a:avLst/>
          </a:prstGeom>
          <a:noFill/>
          <a:ln w="3175">
            <a:solidFill>
              <a:srgbClr val="E5EEF6">
                <a:alpha val="6500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0" y="2651760"/>
            <a:ext cx="12191695" cy="0"/>
          </a:xfrm>
          <a:prstGeom prst="line">
            <a:avLst/>
          </a:prstGeom>
          <a:noFill/>
          <a:ln w="3175">
            <a:solidFill>
              <a:srgbClr val="E5EEF6">
                <a:alpha val="6500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0" y="3063240"/>
            <a:ext cx="12191695" cy="0"/>
          </a:xfrm>
          <a:prstGeom prst="line">
            <a:avLst/>
          </a:prstGeom>
          <a:noFill/>
          <a:ln w="3175">
            <a:solidFill>
              <a:srgbClr val="E5EEF6">
                <a:alpha val="6500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0" y="3474720"/>
            <a:ext cx="12191695" cy="0"/>
          </a:xfrm>
          <a:prstGeom prst="line">
            <a:avLst/>
          </a:prstGeom>
          <a:noFill/>
          <a:ln w="3175">
            <a:solidFill>
              <a:srgbClr val="E5EEF6">
                <a:alpha val="6500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0" y="3886200"/>
            <a:ext cx="12191695" cy="0"/>
          </a:xfrm>
          <a:prstGeom prst="line">
            <a:avLst/>
          </a:prstGeom>
          <a:noFill/>
          <a:ln w="3175">
            <a:solidFill>
              <a:srgbClr val="E5EEF6">
                <a:alpha val="65000"/>
              </a:srgbClr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0" y="4297680"/>
            <a:ext cx="12191695" cy="0"/>
          </a:xfrm>
          <a:prstGeom prst="line">
            <a:avLst/>
          </a:prstGeom>
          <a:noFill/>
          <a:ln w="3175">
            <a:solidFill>
              <a:srgbClr val="E5EEF6">
                <a:alpha val="65000"/>
              </a:srgbClr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0" y="4709160"/>
            <a:ext cx="12191695" cy="0"/>
          </a:xfrm>
          <a:prstGeom prst="line">
            <a:avLst/>
          </a:prstGeom>
          <a:noFill/>
          <a:ln w="3175">
            <a:solidFill>
              <a:srgbClr val="E5EEF6">
                <a:alpha val="65000"/>
              </a:srgbClr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0" y="5120640"/>
            <a:ext cx="12191695" cy="0"/>
          </a:xfrm>
          <a:prstGeom prst="line">
            <a:avLst/>
          </a:prstGeom>
          <a:noFill/>
          <a:ln w="3175">
            <a:solidFill>
              <a:srgbClr val="E5EEF6">
                <a:alpha val="65000"/>
              </a:srgbClr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0" y="5532120"/>
            <a:ext cx="12191695" cy="0"/>
          </a:xfrm>
          <a:prstGeom prst="line">
            <a:avLst/>
          </a:prstGeom>
          <a:noFill/>
          <a:ln w="3175">
            <a:solidFill>
              <a:srgbClr val="E5EEF6">
                <a:alpha val="65000"/>
              </a:srgbClr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0" y="5943600"/>
            <a:ext cx="12191695" cy="0"/>
          </a:xfrm>
          <a:prstGeom prst="line">
            <a:avLst/>
          </a:prstGeom>
          <a:noFill/>
          <a:ln w="3175">
            <a:solidFill>
              <a:srgbClr val="E5EEF6">
                <a:alpha val="65000"/>
              </a:srgbClr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0" y="6355080"/>
            <a:ext cx="12191695" cy="0"/>
          </a:xfrm>
          <a:prstGeom prst="line">
            <a:avLst/>
          </a:prstGeom>
          <a:noFill/>
          <a:ln w="3175">
            <a:solidFill>
              <a:srgbClr val="E5EEF6">
                <a:alpha val="65000"/>
              </a:srgbClr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DDEDF8">
              <a:alpha val="90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75488" y="329184"/>
            <a:ext cx="3291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2B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1300" dirty="0"/>
          </a:p>
        </p:txBody>
      </p:sp>
      <p:sp>
        <p:nvSpPr>
          <p:cNvPr id="51" name="Text 49"/>
          <p:cNvSpPr/>
          <p:nvPr/>
        </p:nvSpPr>
        <p:spPr>
          <a:xfrm>
            <a:off x="841248" y="310896"/>
            <a:ext cx="7863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723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绪论：研究背景与意义</a:t>
            </a:r>
            <a:endParaRPr lang="en-US" sz="1800" dirty="0"/>
          </a:p>
        </p:txBody>
      </p:sp>
      <p:sp>
        <p:nvSpPr>
          <p:cNvPr id="52" name="Text 50"/>
          <p:cNvSpPr/>
          <p:nvPr/>
        </p:nvSpPr>
        <p:spPr>
          <a:xfrm>
            <a:off x="841248" y="621792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0B63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BACKGROUND</a:t>
            </a:r>
            <a:endParaRPr lang="en-US" sz="750" dirty="0"/>
          </a:p>
        </p:txBody>
      </p:sp>
      <p:sp>
        <p:nvSpPr>
          <p:cNvPr id="53" name="Shape 51"/>
          <p:cNvSpPr/>
          <p:nvPr/>
        </p:nvSpPr>
        <p:spPr>
          <a:xfrm>
            <a:off x="640080" y="1234440"/>
            <a:ext cx="3291840" cy="3474720"/>
          </a:xfrm>
          <a:prstGeom prst="roundRect">
            <a:avLst>
              <a:gd name="adj" fmla="val 1389"/>
            </a:avLst>
          </a:prstGeom>
          <a:solidFill>
            <a:srgbClr val="FFFFFF"/>
          </a:solidFill>
          <a:ln w="10160">
            <a:solidFill>
              <a:srgbClr val="D8E4EE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640080" y="1234440"/>
            <a:ext cx="45720" cy="3474720"/>
          </a:xfrm>
          <a:prstGeom prst="rect">
            <a:avLst/>
          </a:prstGeom>
          <a:solidFill>
            <a:srgbClr val="0B63B6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804672" y="1389888"/>
            <a:ext cx="29626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72335"/>
                </a:solidFill>
              </a:rPr>
              <a:t>研究背景</a:t>
            </a:r>
            <a:endParaRPr lang="en-US" sz="1500" dirty="0"/>
          </a:p>
        </p:txBody>
      </p:sp>
      <p:sp>
        <p:nvSpPr>
          <p:cNvPr id="56" name="Text 54"/>
          <p:cNvSpPr/>
          <p:nvPr/>
        </p:nvSpPr>
        <p:spPr>
          <a:xfrm>
            <a:off x="804672" y="1709928"/>
            <a:ext cx="2962656" cy="29077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5D6D7E"/>
                </a:solidFill>
              </a:rPr>
              <a:t>可穿戴设备从计时工具逐步发展为信息交互、健康监测和云端协同终端。低成本嵌入式平台若要实现流畅图形界面、多媒体和联网维护，仍面临算力、存储和功耗约束。</a:t>
            </a:r>
            <a:endParaRPr lang="en-US" sz="1200" dirty="0"/>
          </a:p>
        </p:txBody>
      </p:sp>
      <p:sp>
        <p:nvSpPr>
          <p:cNvPr id="57" name="Shape 55"/>
          <p:cNvSpPr/>
          <p:nvPr/>
        </p:nvSpPr>
        <p:spPr>
          <a:xfrm>
            <a:off x="4434840" y="1234440"/>
            <a:ext cx="3291840" cy="3474720"/>
          </a:xfrm>
          <a:prstGeom prst="roundRect">
            <a:avLst>
              <a:gd name="adj" fmla="val 1389"/>
            </a:avLst>
          </a:prstGeom>
          <a:solidFill>
            <a:srgbClr val="FFFFFF"/>
          </a:solidFill>
          <a:ln w="10160">
            <a:solidFill>
              <a:srgbClr val="D8E4EE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4434840" y="1234440"/>
            <a:ext cx="45720" cy="3474720"/>
          </a:xfrm>
          <a:prstGeom prst="rect">
            <a:avLst/>
          </a:prstGeom>
          <a:solidFill>
            <a:srgbClr val="22B8D7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4599432" y="1389888"/>
            <a:ext cx="29626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72335"/>
                </a:solidFill>
              </a:rPr>
              <a:t>研究意义</a:t>
            </a:r>
            <a:endParaRPr lang="en-US" sz="1500" dirty="0"/>
          </a:p>
        </p:txBody>
      </p:sp>
      <p:sp>
        <p:nvSpPr>
          <p:cNvPr id="60" name="Text 58"/>
          <p:cNvSpPr/>
          <p:nvPr/>
        </p:nvSpPr>
        <p:spPr>
          <a:xfrm>
            <a:off x="4599432" y="1709928"/>
            <a:ext cx="2962656" cy="29077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5D6D7E"/>
                </a:solidFill>
              </a:rPr>
              <a:t>本课题验证在ESP32-S3R8微控制器上构建低功耗触控智能手表的可行方案，为轻量级物联网穿戴终端提供低成本、高集成度的软硬件实现参考。</a:t>
            </a:r>
            <a:endParaRPr lang="en-US" sz="1200" dirty="0"/>
          </a:p>
        </p:txBody>
      </p:sp>
      <p:sp>
        <p:nvSpPr>
          <p:cNvPr id="61" name="Shape 59"/>
          <p:cNvSpPr/>
          <p:nvPr/>
        </p:nvSpPr>
        <p:spPr>
          <a:xfrm>
            <a:off x="8229600" y="1234440"/>
            <a:ext cx="3291840" cy="3474720"/>
          </a:xfrm>
          <a:prstGeom prst="roundRect">
            <a:avLst>
              <a:gd name="adj" fmla="val 1389"/>
            </a:avLst>
          </a:prstGeom>
          <a:solidFill>
            <a:srgbClr val="FFFFFF"/>
          </a:solidFill>
          <a:ln w="10160">
            <a:solidFill>
              <a:srgbClr val="D8E4EE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8229600" y="1234440"/>
            <a:ext cx="45720" cy="3474720"/>
          </a:xfrm>
          <a:prstGeom prst="rect">
            <a:avLst/>
          </a:prstGeom>
          <a:solidFill>
            <a:srgbClr val="F28B2E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8394192" y="1389888"/>
            <a:ext cx="29626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72335"/>
                </a:solidFill>
              </a:rPr>
              <a:t>研究目标</a:t>
            </a:r>
            <a:endParaRPr lang="en-US" sz="1500" dirty="0"/>
          </a:p>
        </p:txBody>
      </p:sp>
      <p:sp>
        <p:nvSpPr>
          <p:cNvPr id="64" name="Text 62"/>
          <p:cNvSpPr/>
          <p:nvPr/>
        </p:nvSpPr>
        <p:spPr>
          <a:xfrm>
            <a:off x="8394192" y="1709928"/>
            <a:ext cx="2962656" cy="29077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5D6D7E"/>
                </a:solidFill>
              </a:rPr>
              <a:t>完成表盘显示、触摸交互、SD卡多媒体、小说阅读、休闲游戏、网络校时、天气获取、OneNET通信和OTA升级等功能，并验证功耗控制效果。</a:t>
            </a:r>
            <a:endParaRPr lang="en-US" sz="1200" dirty="0"/>
          </a:p>
        </p:txBody>
      </p:sp>
      <p:sp>
        <p:nvSpPr>
          <p:cNvPr id="65" name="Text 63"/>
          <p:cNvSpPr/>
          <p:nvPr/>
        </p:nvSpPr>
        <p:spPr>
          <a:xfrm>
            <a:off x="502920" y="6565392"/>
            <a:ext cx="5212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7E8FA3"/>
                </a:solidFill>
              </a:rPr>
              <a:t>基于ESP32-S3R8与LVGL的低功耗触控智能手表系统设计与实现</a:t>
            </a:r>
            <a:endParaRPr lang="en-US" sz="700" dirty="0"/>
          </a:p>
        </p:txBody>
      </p:sp>
      <p:sp>
        <p:nvSpPr>
          <p:cNvPr id="66" name="Text 64"/>
          <p:cNvSpPr/>
          <p:nvPr/>
        </p:nvSpPr>
        <p:spPr>
          <a:xfrm>
            <a:off x="11356848" y="6528816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0B63B6"/>
                </a:solidFill>
              </a:rPr>
              <a:t>03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 w="12700">
            <a:solidFill>
              <a:srgbClr val="F4F8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82880" y="0"/>
            <a:ext cx="0" cy="6858000"/>
          </a:xfrm>
          <a:prstGeom prst="line">
            <a:avLst/>
          </a:prstGeom>
          <a:noFill/>
          <a:ln w="3175">
            <a:solidFill>
              <a:srgbClr val="E5EEF6">
                <a:alpha val="6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94360" y="0"/>
            <a:ext cx="0" cy="6858000"/>
          </a:xfrm>
          <a:prstGeom prst="line">
            <a:avLst/>
          </a:prstGeom>
          <a:noFill/>
          <a:ln w="3175">
            <a:solidFill>
              <a:srgbClr val="E5EEF6">
                <a:alpha val="6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05840" y="0"/>
            <a:ext cx="0" cy="6858000"/>
          </a:xfrm>
          <a:prstGeom prst="line">
            <a:avLst/>
          </a:prstGeom>
          <a:noFill/>
          <a:ln w="3175">
            <a:solidFill>
              <a:srgbClr val="E5EEF6">
                <a:alpha val="6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417320" y="0"/>
            <a:ext cx="0" cy="6858000"/>
          </a:xfrm>
          <a:prstGeom prst="line">
            <a:avLst/>
          </a:prstGeom>
          <a:noFill/>
          <a:ln w="3175">
            <a:solidFill>
              <a:srgbClr val="E5EEF6">
                <a:alpha val="6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828800" y="0"/>
            <a:ext cx="0" cy="6858000"/>
          </a:xfrm>
          <a:prstGeom prst="line">
            <a:avLst/>
          </a:prstGeom>
          <a:noFill/>
          <a:ln w="3175">
            <a:solidFill>
              <a:srgbClr val="E5EEF6">
                <a:alpha val="65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240280" y="0"/>
            <a:ext cx="0" cy="6858000"/>
          </a:xfrm>
          <a:prstGeom prst="line">
            <a:avLst/>
          </a:prstGeom>
          <a:noFill/>
          <a:ln w="3175">
            <a:solidFill>
              <a:srgbClr val="E5EEF6">
                <a:alpha val="65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651760" y="0"/>
            <a:ext cx="0" cy="6858000"/>
          </a:xfrm>
          <a:prstGeom prst="line">
            <a:avLst/>
          </a:prstGeom>
          <a:noFill/>
          <a:ln w="3175">
            <a:solidFill>
              <a:srgbClr val="E5EEF6">
                <a:alpha val="65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063240" y="0"/>
            <a:ext cx="0" cy="6858000"/>
          </a:xfrm>
          <a:prstGeom prst="line">
            <a:avLst/>
          </a:prstGeom>
          <a:noFill/>
          <a:ln w="3175">
            <a:solidFill>
              <a:srgbClr val="E5EEF6">
                <a:alpha val="65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474720" y="0"/>
            <a:ext cx="0" cy="6858000"/>
          </a:xfrm>
          <a:prstGeom prst="line">
            <a:avLst/>
          </a:prstGeom>
          <a:noFill/>
          <a:ln w="3175">
            <a:solidFill>
              <a:srgbClr val="E5EEF6">
                <a:alpha val="65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886200" y="0"/>
            <a:ext cx="0" cy="6858000"/>
          </a:xfrm>
          <a:prstGeom prst="line">
            <a:avLst/>
          </a:prstGeom>
          <a:noFill/>
          <a:ln w="3175">
            <a:solidFill>
              <a:srgbClr val="E5EEF6">
                <a:alpha val="65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297680" y="0"/>
            <a:ext cx="0" cy="6858000"/>
          </a:xfrm>
          <a:prstGeom prst="line">
            <a:avLst/>
          </a:prstGeom>
          <a:noFill/>
          <a:ln w="3175">
            <a:solidFill>
              <a:srgbClr val="E5EEF6">
                <a:alpha val="65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709160" y="0"/>
            <a:ext cx="0" cy="6858000"/>
          </a:xfrm>
          <a:prstGeom prst="line">
            <a:avLst/>
          </a:prstGeom>
          <a:noFill/>
          <a:ln w="3175">
            <a:solidFill>
              <a:srgbClr val="E5EEF6">
                <a:alpha val="65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120640" y="0"/>
            <a:ext cx="0" cy="6858000"/>
          </a:xfrm>
          <a:prstGeom prst="line">
            <a:avLst/>
          </a:prstGeom>
          <a:noFill/>
          <a:ln w="3175">
            <a:solidFill>
              <a:srgbClr val="E5EEF6">
                <a:alpha val="65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532120" y="0"/>
            <a:ext cx="0" cy="6858000"/>
          </a:xfrm>
          <a:prstGeom prst="line">
            <a:avLst/>
          </a:prstGeom>
          <a:noFill/>
          <a:ln w="3175">
            <a:solidFill>
              <a:srgbClr val="E5EEF6">
                <a:alpha val="65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943600" y="0"/>
            <a:ext cx="0" cy="6858000"/>
          </a:xfrm>
          <a:prstGeom prst="line">
            <a:avLst/>
          </a:prstGeom>
          <a:noFill/>
          <a:ln w="3175">
            <a:solidFill>
              <a:srgbClr val="E5EEF6">
                <a:alpha val="65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355080" y="0"/>
            <a:ext cx="0" cy="6858000"/>
          </a:xfrm>
          <a:prstGeom prst="line">
            <a:avLst/>
          </a:prstGeom>
          <a:noFill/>
          <a:ln w="3175">
            <a:solidFill>
              <a:srgbClr val="E5EEF6">
                <a:alpha val="65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766560" y="0"/>
            <a:ext cx="0" cy="6858000"/>
          </a:xfrm>
          <a:prstGeom prst="line">
            <a:avLst/>
          </a:prstGeom>
          <a:noFill/>
          <a:ln w="3175">
            <a:solidFill>
              <a:srgbClr val="E5EEF6">
                <a:alpha val="65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178040" y="0"/>
            <a:ext cx="0" cy="6858000"/>
          </a:xfrm>
          <a:prstGeom prst="line">
            <a:avLst/>
          </a:prstGeom>
          <a:noFill/>
          <a:ln w="3175">
            <a:solidFill>
              <a:srgbClr val="E5EEF6">
                <a:alpha val="65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589520" y="0"/>
            <a:ext cx="0" cy="6858000"/>
          </a:xfrm>
          <a:prstGeom prst="line">
            <a:avLst/>
          </a:prstGeom>
          <a:noFill/>
          <a:ln w="3175">
            <a:solidFill>
              <a:srgbClr val="E5EEF6">
                <a:alpha val="65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001000" y="0"/>
            <a:ext cx="0" cy="6858000"/>
          </a:xfrm>
          <a:prstGeom prst="line">
            <a:avLst/>
          </a:prstGeom>
          <a:noFill/>
          <a:ln w="3175">
            <a:solidFill>
              <a:srgbClr val="E5EEF6">
                <a:alpha val="65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412480" y="0"/>
            <a:ext cx="0" cy="6858000"/>
          </a:xfrm>
          <a:prstGeom prst="line">
            <a:avLst/>
          </a:prstGeom>
          <a:noFill/>
          <a:ln w="3175">
            <a:solidFill>
              <a:srgbClr val="E5EEF6">
                <a:alpha val="65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823960" y="0"/>
            <a:ext cx="0" cy="6858000"/>
          </a:xfrm>
          <a:prstGeom prst="line">
            <a:avLst/>
          </a:prstGeom>
          <a:noFill/>
          <a:ln w="3175">
            <a:solidFill>
              <a:srgbClr val="E5EEF6">
                <a:alpha val="65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9235440" y="0"/>
            <a:ext cx="0" cy="6858000"/>
          </a:xfrm>
          <a:prstGeom prst="line">
            <a:avLst/>
          </a:prstGeom>
          <a:noFill/>
          <a:ln w="3175">
            <a:solidFill>
              <a:srgbClr val="E5EEF6">
                <a:alpha val="65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9646920" y="0"/>
            <a:ext cx="0" cy="6858000"/>
          </a:xfrm>
          <a:prstGeom prst="line">
            <a:avLst/>
          </a:prstGeom>
          <a:noFill/>
          <a:ln w="3175">
            <a:solidFill>
              <a:srgbClr val="E5EEF6">
                <a:alpha val="65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0058400" y="0"/>
            <a:ext cx="0" cy="6858000"/>
          </a:xfrm>
          <a:prstGeom prst="line">
            <a:avLst/>
          </a:prstGeom>
          <a:noFill/>
          <a:ln w="3175">
            <a:solidFill>
              <a:srgbClr val="E5EEF6">
                <a:alpha val="65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0469880" y="0"/>
            <a:ext cx="0" cy="6858000"/>
          </a:xfrm>
          <a:prstGeom prst="line">
            <a:avLst/>
          </a:prstGeom>
          <a:noFill/>
          <a:ln w="3175">
            <a:solidFill>
              <a:srgbClr val="E5EEF6">
                <a:alpha val="65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0881360" y="0"/>
            <a:ext cx="0" cy="6858000"/>
          </a:xfrm>
          <a:prstGeom prst="line">
            <a:avLst/>
          </a:prstGeom>
          <a:noFill/>
          <a:ln w="3175">
            <a:solidFill>
              <a:srgbClr val="E5EEF6">
                <a:alpha val="65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1292840" y="0"/>
            <a:ext cx="0" cy="6858000"/>
          </a:xfrm>
          <a:prstGeom prst="line">
            <a:avLst/>
          </a:prstGeom>
          <a:noFill/>
          <a:ln w="3175">
            <a:solidFill>
              <a:srgbClr val="E5EEF6">
                <a:alpha val="65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1704320" y="0"/>
            <a:ext cx="0" cy="6858000"/>
          </a:xfrm>
          <a:prstGeom prst="line">
            <a:avLst/>
          </a:prstGeom>
          <a:noFill/>
          <a:ln w="3175">
            <a:solidFill>
              <a:srgbClr val="E5EEF6">
                <a:alpha val="65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12115800" y="0"/>
            <a:ext cx="0" cy="6858000"/>
          </a:xfrm>
          <a:prstGeom prst="line">
            <a:avLst/>
          </a:prstGeom>
          <a:noFill/>
          <a:ln w="3175">
            <a:solidFill>
              <a:srgbClr val="E5EEF6">
                <a:alpha val="65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182880"/>
            <a:ext cx="12191695" cy="0"/>
          </a:xfrm>
          <a:prstGeom prst="line">
            <a:avLst/>
          </a:prstGeom>
          <a:noFill/>
          <a:ln w="3175">
            <a:solidFill>
              <a:srgbClr val="E5EEF6">
                <a:alpha val="65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594360"/>
            <a:ext cx="12191695" cy="0"/>
          </a:xfrm>
          <a:prstGeom prst="line">
            <a:avLst/>
          </a:prstGeom>
          <a:noFill/>
          <a:ln w="3175">
            <a:solidFill>
              <a:srgbClr val="E5EEF6">
                <a:alpha val="65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0" y="1005840"/>
            <a:ext cx="12191695" cy="0"/>
          </a:xfrm>
          <a:prstGeom prst="line">
            <a:avLst/>
          </a:prstGeom>
          <a:noFill/>
          <a:ln w="3175">
            <a:solidFill>
              <a:srgbClr val="E5EEF6">
                <a:alpha val="6500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0" y="1417320"/>
            <a:ext cx="12191695" cy="0"/>
          </a:xfrm>
          <a:prstGeom prst="line">
            <a:avLst/>
          </a:prstGeom>
          <a:noFill/>
          <a:ln w="3175">
            <a:solidFill>
              <a:srgbClr val="E5EEF6">
                <a:alpha val="6500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0" y="1828800"/>
            <a:ext cx="12191695" cy="0"/>
          </a:xfrm>
          <a:prstGeom prst="line">
            <a:avLst/>
          </a:prstGeom>
          <a:noFill/>
          <a:ln w="3175">
            <a:solidFill>
              <a:srgbClr val="E5EEF6">
                <a:alpha val="6500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0" y="2240280"/>
            <a:ext cx="12191695" cy="0"/>
          </a:xfrm>
          <a:prstGeom prst="line">
            <a:avLst/>
          </a:prstGeom>
          <a:noFill/>
          <a:ln w="3175">
            <a:solidFill>
              <a:srgbClr val="E5EEF6">
                <a:alpha val="6500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0" y="2651760"/>
            <a:ext cx="12191695" cy="0"/>
          </a:xfrm>
          <a:prstGeom prst="line">
            <a:avLst/>
          </a:prstGeom>
          <a:noFill/>
          <a:ln w="3175">
            <a:solidFill>
              <a:srgbClr val="E5EEF6">
                <a:alpha val="6500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0" y="3063240"/>
            <a:ext cx="12191695" cy="0"/>
          </a:xfrm>
          <a:prstGeom prst="line">
            <a:avLst/>
          </a:prstGeom>
          <a:noFill/>
          <a:ln w="3175">
            <a:solidFill>
              <a:srgbClr val="E5EEF6">
                <a:alpha val="6500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0" y="3474720"/>
            <a:ext cx="12191695" cy="0"/>
          </a:xfrm>
          <a:prstGeom prst="line">
            <a:avLst/>
          </a:prstGeom>
          <a:noFill/>
          <a:ln w="3175">
            <a:solidFill>
              <a:srgbClr val="E5EEF6">
                <a:alpha val="6500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0" y="3886200"/>
            <a:ext cx="12191695" cy="0"/>
          </a:xfrm>
          <a:prstGeom prst="line">
            <a:avLst/>
          </a:prstGeom>
          <a:noFill/>
          <a:ln w="3175">
            <a:solidFill>
              <a:srgbClr val="E5EEF6">
                <a:alpha val="65000"/>
              </a:srgbClr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0" y="4297680"/>
            <a:ext cx="12191695" cy="0"/>
          </a:xfrm>
          <a:prstGeom prst="line">
            <a:avLst/>
          </a:prstGeom>
          <a:noFill/>
          <a:ln w="3175">
            <a:solidFill>
              <a:srgbClr val="E5EEF6">
                <a:alpha val="65000"/>
              </a:srgbClr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0" y="4709160"/>
            <a:ext cx="12191695" cy="0"/>
          </a:xfrm>
          <a:prstGeom prst="line">
            <a:avLst/>
          </a:prstGeom>
          <a:noFill/>
          <a:ln w="3175">
            <a:solidFill>
              <a:srgbClr val="E5EEF6">
                <a:alpha val="65000"/>
              </a:srgbClr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0" y="5120640"/>
            <a:ext cx="12191695" cy="0"/>
          </a:xfrm>
          <a:prstGeom prst="line">
            <a:avLst/>
          </a:prstGeom>
          <a:noFill/>
          <a:ln w="3175">
            <a:solidFill>
              <a:srgbClr val="E5EEF6">
                <a:alpha val="65000"/>
              </a:srgbClr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0" y="5532120"/>
            <a:ext cx="12191695" cy="0"/>
          </a:xfrm>
          <a:prstGeom prst="line">
            <a:avLst/>
          </a:prstGeom>
          <a:noFill/>
          <a:ln w="3175">
            <a:solidFill>
              <a:srgbClr val="E5EEF6">
                <a:alpha val="65000"/>
              </a:srgbClr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0" y="5943600"/>
            <a:ext cx="12191695" cy="0"/>
          </a:xfrm>
          <a:prstGeom prst="line">
            <a:avLst/>
          </a:prstGeom>
          <a:noFill/>
          <a:ln w="3175">
            <a:solidFill>
              <a:srgbClr val="E5EEF6">
                <a:alpha val="65000"/>
              </a:srgbClr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0" y="6355080"/>
            <a:ext cx="12191695" cy="0"/>
          </a:xfrm>
          <a:prstGeom prst="line">
            <a:avLst/>
          </a:prstGeom>
          <a:noFill/>
          <a:ln w="3175">
            <a:solidFill>
              <a:srgbClr val="E5EEF6">
                <a:alpha val="65000"/>
              </a:srgbClr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DDEDF8">
              <a:alpha val="90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75488" y="329184"/>
            <a:ext cx="3291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2B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300" dirty="0"/>
          </a:p>
        </p:txBody>
      </p:sp>
      <p:sp>
        <p:nvSpPr>
          <p:cNvPr id="51" name="Text 49"/>
          <p:cNvSpPr/>
          <p:nvPr/>
        </p:nvSpPr>
        <p:spPr>
          <a:xfrm>
            <a:off x="841248" y="310896"/>
            <a:ext cx="7863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723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需求分析：从功能需求落到性能指标</a:t>
            </a:r>
            <a:endParaRPr lang="en-US" sz="1800" dirty="0"/>
          </a:p>
        </p:txBody>
      </p:sp>
      <p:sp>
        <p:nvSpPr>
          <p:cNvPr id="52" name="Text 50"/>
          <p:cNvSpPr/>
          <p:nvPr/>
        </p:nvSpPr>
        <p:spPr>
          <a:xfrm>
            <a:off x="841248" y="621792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0B63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</a:t>
            </a:r>
            <a:endParaRPr lang="en-US" sz="750" dirty="0"/>
          </a:p>
        </p:txBody>
      </p:sp>
      <p:sp>
        <p:nvSpPr>
          <p:cNvPr id="53" name="Shape 51"/>
          <p:cNvSpPr/>
          <p:nvPr/>
        </p:nvSpPr>
        <p:spPr>
          <a:xfrm>
            <a:off x="868680" y="1325880"/>
            <a:ext cx="786384" cy="786384"/>
          </a:xfrm>
          <a:prstGeom prst="ellipse">
            <a:avLst/>
          </a:prstGeom>
          <a:solidFill>
            <a:srgbClr val="F28B2E"/>
          </a:solidFill>
          <a:ln w="12700">
            <a:solidFill>
              <a:srgbClr val="F28B2E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905256" y="1563624"/>
            <a:ext cx="7132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25fps</a:t>
            </a:r>
            <a:endParaRPr lang="en-US" sz="1100" dirty="0"/>
          </a:p>
        </p:txBody>
      </p:sp>
      <p:sp>
        <p:nvSpPr>
          <p:cNvPr id="55" name="Text 53"/>
          <p:cNvSpPr/>
          <p:nvPr/>
        </p:nvSpPr>
        <p:spPr>
          <a:xfrm>
            <a:off x="612648" y="2221992"/>
            <a:ext cx="12984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172335"/>
                </a:solidFill>
              </a:rPr>
              <a:t>MJPEG视频</a:t>
            </a:r>
            <a:endParaRPr lang="en-US" sz="920" dirty="0"/>
          </a:p>
        </p:txBody>
      </p:sp>
      <p:sp>
        <p:nvSpPr>
          <p:cNvPr id="56" name="Shape 54"/>
          <p:cNvSpPr/>
          <p:nvPr/>
        </p:nvSpPr>
        <p:spPr>
          <a:xfrm>
            <a:off x="2514600" y="1325880"/>
            <a:ext cx="786384" cy="786384"/>
          </a:xfrm>
          <a:prstGeom prst="ellipse">
            <a:avLst/>
          </a:prstGeom>
          <a:solidFill>
            <a:srgbClr val="22B8D7"/>
          </a:solidFill>
          <a:ln w="12700">
            <a:solidFill>
              <a:srgbClr val="22B8D7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2551176" y="1563624"/>
            <a:ext cx="7132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&lt;50ms</a:t>
            </a:r>
            <a:endParaRPr lang="en-US" sz="1100" dirty="0"/>
          </a:p>
        </p:txBody>
      </p:sp>
      <p:sp>
        <p:nvSpPr>
          <p:cNvPr id="58" name="Text 56"/>
          <p:cNvSpPr/>
          <p:nvPr/>
        </p:nvSpPr>
        <p:spPr>
          <a:xfrm>
            <a:off x="2258568" y="2221992"/>
            <a:ext cx="12984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172335"/>
                </a:solidFill>
              </a:rPr>
              <a:t>触控响应</a:t>
            </a:r>
            <a:endParaRPr lang="en-US" sz="920" dirty="0"/>
          </a:p>
        </p:txBody>
      </p:sp>
      <p:sp>
        <p:nvSpPr>
          <p:cNvPr id="59" name="Shape 57"/>
          <p:cNvSpPr/>
          <p:nvPr/>
        </p:nvSpPr>
        <p:spPr>
          <a:xfrm>
            <a:off x="4160520" y="1325880"/>
            <a:ext cx="786384" cy="786384"/>
          </a:xfrm>
          <a:prstGeom prst="ellipse">
            <a:avLst/>
          </a:prstGeom>
          <a:solidFill>
            <a:srgbClr val="0B63B6"/>
          </a:solidFill>
          <a:ln w="12700">
            <a:solidFill>
              <a:srgbClr val="0B63B6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4197096" y="1563624"/>
            <a:ext cx="7132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120s</a:t>
            </a:r>
            <a:endParaRPr lang="en-US" sz="1100" dirty="0"/>
          </a:p>
        </p:txBody>
      </p:sp>
      <p:sp>
        <p:nvSpPr>
          <p:cNvPr id="61" name="Text 59"/>
          <p:cNvSpPr/>
          <p:nvPr/>
        </p:nvSpPr>
        <p:spPr>
          <a:xfrm>
            <a:off x="3904488" y="2221992"/>
            <a:ext cx="12984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172335"/>
                </a:solidFill>
              </a:rPr>
              <a:t>轻休眠触发</a:t>
            </a:r>
            <a:endParaRPr lang="en-US" sz="920" dirty="0"/>
          </a:p>
        </p:txBody>
      </p:sp>
      <p:sp>
        <p:nvSpPr>
          <p:cNvPr id="62" name="Shape 60"/>
          <p:cNvSpPr/>
          <p:nvPr/>
        </p:nvSpPr>
        <p:spPr>
          <a:xfrm>
            <a:off x="5806440" y="1325880"/>
            <a:ext cx="786384" cy="786384"/>
          </a:xfrm>
          <a:prstGeom prst="ellipse">
            <a:avLst/>
          </a:prstGeom>
          <a:solidFill>
            <a:srgbClr val="31A36B"/>
          </a:solidFill>
          <a:ln w="12700">
            <a:solidFill>
              <a:srgbClr val="31A36B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5843016" y="1563624"/>
            <a:ext cx="7132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3s</a:t>
            </a:r>
            <a:endParaRPr lang="en-US" sz="1100" dirty="0"/>
          </a:p>
        </p:txBody>
      </p:sp>
      <p:sp>
        <p:nvSpPr>
          <p:cNvPr id="64" name="Text 62"/>
          <p:cNvSpPr/>
          <p:nvPr/>
        </p:nvSpPr>
        <p:spPr>
          <a:xfrm>
            <a:off x="5550408" y="2221992"/>
            <a:ext cx="12984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172335"/>
                </a:solidFill>
              </a:rPr>
              <a:t>深休眠触发</a:t>
            </a:r>
            <a:endParaRPr lang="en-US" sz="920" dirty="0"/>
          </a:p>
        </p:txBody>
      </p:sp>
      <p:sp>
        <p:nvSpPr>
          <p:cNvPr id="65" name="Shape 63"/>
          <p:cNvSpPr/>
          <p:nvPr/>
        </p:nvSpPr>
        <p:spPr>
          <a:xfrm>
            <a:off x="7452360" y="1325880"/>
            <a:ext cx="786384" cy="786384"/>
          </a:xfrm>
          <a:prstGeom prst="ellipse">
            <a:avLst/>
          </a:prstGeom>
          <a:solidFill>
            <a:srgbClr val="D65757"/>
          </a:solidFill>
          <a:ln w="12700">
            <a:solidFill>
              <a:srgbClr val="D65757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7488936" y="1563624"/>
            <a:ext cx="7132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OTA</a:t>
            </a:r>
            <a:endParaRPr lang="en-US" sz="1100" dirty="0"/>
          </a:p>
        </p:txBody>
      </p:sp>
      <p:sp>
        <p:nvSpPr>
          <p:cNvPr id="67" name="Text 65"/>
          <p:cNvSpPr/>
          <p:nvPr/>
        </p:nvSpPr>
        <p:spPr>
          <a:xfrm>
            <a:off x="7196328" y="2221992"/>
            <a:ext cx="12984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172335"/>
                </a:solidFill>
              </a:rPr>
              <a:t>云端/本地</a:t>
            </a:r>
            <a:endParaRPr lang="en-US" sz="920" dirty="0"/>
          </a:p>
        </p:txBody>
      </p:sp>
      <p:sp>
        <p:nvSpPr>
          <p:cNvPr id="68" name="Shape 66"/>
          <p:cNvSpPr/>
          <p:nvPr/>
        </p:nvSpPr>
        <p:spPr>
          <a:xfrm>
            <a:off x="868680" y="3063240"/>
            <a:ext cx="1005840" cy="310896"/>
          </a:xfrm>
          <a:prstGeom prst="roundRect">
            <a:avLst>
              <a:gd name="adj" fmla="val 11765"/>
            </a:avLst>
          </a:prstGeom>
          <a:solidFill>
            <a:srgbClr val="0B63B6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868680" y="3136392"/>
            <a:ext cx="10058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FFFFFF"/>
                </a:solidFill>
              </a:rPr>
              <a:t>基础服务</a:t>
            </a:r>
            <a:endParaRPr lang="en-US" sz="820" dirty="0"/>
          </a:p>
        </p:txBody>
      </p:sp>
      <p:sp>
        <p:nvSpPr>
          <p:cNvPr id="70" name="Text 68"/>
          <p:cNvSpPr/>
          <p:nvPr/>
        </p:nvSpPr>
        <p:spPr>
          <a:xfrm>
            <a:off x="2148840" y="3127248"/>
            <a:ext cx="7772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72335"/>
                </a:solidFill>
              </a:rPr>
              <a:t>RTC守时、NTP网络校时、天气信息获取</a:t>
            </a:r>
            <a:endParaRPr lang="en-US" sz="1150" dirty="0"/>
          </a:p>
        </p:txBody>
      </p:sp>
      <p:sp>
        <p:nvSpPr>
          <p:cNvPr id="71" name="Shape 69"/>
          <p:cNvSpPr/>
          <p:nvPr/>
        </p:nvSpPr>
        <p:spPr>
          <a:xfrm>
            <a:off x="868680" y="3557016"/>
            <a:ext cx="1005840" cy="310896"/>
          </a:xfrm>
          <a:prstGeom prst="roundRect">
            <a:avLst>
              <a:gd name="adj" fmla="val 11765"/>
            </a:avLst>
          </a:prstGeom>
          <a:solidFill>
            <a:srgbClr val="22B8D7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868680" y="3630168"/>
            <a:ext cx="10058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FFFFFF"/>
                </a:solidFill>
              </a:rPr>
              <a:t>图形交互</a:t>
            </a:r>
            <a:endParaRPr lang="en-US" sz="820" dirty="0"/>
          </a:p>
        </p:txBody>
      </p:sp>
      <p:sp>
        <p:nvSpPr>
          <p:cNvPr id="73" name="Text 71"/>
          <p:cNvSpPr/>
          <p:nvPr/>
        </p:nvSpPr>
        <p:spPr>
          <a:xfrm>
            <a:off x="2148840" y="3621024"/>
            <a:ext cx="7772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72335"/>
                </a:solidFill>
              </a:rPr>
              <a:t>LVGL全彩界面、触摸手势、快捷面板、系统设置</a:t>
            </a:r>
            <a:endParaRPr lang="en-US" sz="1150" dirty="0"/>
          </a:p>
        </p:txBody>
      </p:sp>
      <p:sp>
        <p:nvSpPr>
          <p:cNvPr id="74" name="Shape 72"/>
          <p:cNvSpPr/>
          <p:nvPr/>
        </p:nvSpPr>
        <p:spPr>
          <a:xfrm>
            <a:off x="868680" y="4050792"/>
            <a:ext cx="1005840" cy="310896"/>
          </a:xfrm>
          <a:prstGeom prst="roundRect">
            <a:avLst>
              <a:gd name="adj" fmla="val 11765"/>
            </a:avLst>
          </a:prstGeom>
          <a:solidFill>
            <a:srgbClr val="F28B2E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868680" y="4123944"/>
            <a:ext cx="10058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FFFFFF"/>
                </a:solidFill>
              </a:rPr>
              <a:t>多媒体</a:t>
            </a:r>
            <a:endParaRPr lang="en-US" sz="820" dirty="0"/>
          </a:p>
        </p:txBody>
      </p:sp>
      <p:sp>
        <p:nvSpPr>
          <p:cNvPr id="76" name="Text 74"/>
          <p:cNvSpPr/>
          <p:nvPr/>
        </p:nvSpPr>
        <p:spPr>
          <a:xfrm>
            <a:off x="2148840" y="4114800"/>
            <a:ext cx="7772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72335"/>
                </a:solidFill>
              </a:rPr>
              <a:t>SD卡图片、MJPEG视频、TXT小说断点续读</a:t>
            </a:r>
            <a:endParaRPr lang="en-US" sz="1150" dirty="0"/>
          </a:p>
        </p:txBody>
      </p:sp>
      <p:sp>
        <p:nvSpPr>
          <p:cNvPr id="77" name="Shape 75"/>
          <p:cNvSpPr/>
          <p:nvPr/>
        </p:nvSpPr>
        <p:spPr>
          <a:xfrm>
            <a:off x="868680" y="4544568"/>
            <a:ext cx="1005840" cy="310896"/>
          </a:xfrm>
          <a:prstGeom prst="roundRect">
            <a:avLst>
              <a:gd name="adj" fmla="val 11765"/>
            </a:avLst>
          </a:prstGeom>
          <a:solidFill>
            <a:srgbClr val="31A36B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868680" y="4617720"/>
            <a:ext cx="10058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FFFFFF"/>
                </a:solidFill>
              </a:rPr>
              <a:t>物联网</a:t>
            </a:r>
            <a:endParaRPr lang="en-US" sz="820" dirty="0"/>
          </a:p>
        </p:txBody>
      </p:sp>
      <p:sp>
        <p:nvSpPr>
          <p:cNvPr id="79" name="Text 77"/>
          <p:cNvSpPr/>
          <p:nvPr/>
        </p:nvSpPr>
        <p:spPr>
          <a:xfrm>
            <a:off x="2148840" y="4608576"/>
            <a:ext cx="7772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72335"/>
                </a:solidFill>
              </a:rPr>
              <a:t>WiFi管理、MQTT/OneNET接入、OTA维护</a:t>
            </a:r>
            <a:endParaRPr lang="en-US" sz="1150" dirty="0"/>
          </a:p>
        </p:txBody>
      </p:sp>
      <p:sp>
        <p:nvSpPr>
          <p:cNvPr id="80" name="Shape 78"/>
          <p:cNvSpPr/>
          <p:nvPr/>
        </p:nvSpPr>
        <p:spPr>
          <a:xfrm>
            <a:off x="868680" y="5038344"/>
            <a:ext cx="1005840" cy="310896"/>
          </a:xfrm>
          <a:prstGeom prst="roundRect">
            <a:avLst>
              <a:gd name="adj" fmla="val 11765"/>
            </a:avLst>
          </a:prstGeom>
          <a:solidFill>
            <a:srgbClr val="D65757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868680" y="5111496"/>
            <a:ext cx="10058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FFFFFF"/>
                </a:solidFill>
              </a:rPr>
              <a:t>低功耗</a:t>
            </a:r>
            <a:endParaRPr lang="en-US" sz="820" dirty="0"/>
          </a:p>
        </p:txBody>
      </p:sp>
      <p:sp>
        <p:nvSpPr>
          <p:cNvPr id="82" name="Text 80"/>
          <p:cNvSpPr/>
          <p:nvPr/>
        </p:nvSpPr>
        <p:spPr>
          <a:xfrm>
            <a:off x="2148840" y="5102352"/>
            <a:ext cx="7772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72335"/>
                </a:solidFill>
              </a:rPr>
              <a:t>背光调节、WiFi按需启停、Light/Deep Sleep</a:t>
            </a:r>
            <a:endParaRPr lang="en-US" sz="1150" dirty="0"/>
          </a:p>
        </p:txBody>
      </p:sp>
      <p:sp>
        <p:nvSpPr>
          <p:cNvPr id="83" name="Text 81"/>
          <p:cNvSpPr/>
          <p:nvPr/>
        </p:nvSpPr>
        <p:spPr>
          <a:xfrm>
            <a:off x="502920" y="6565392"/>
            <a:ext cx="5212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7E8FA3"/>
                </a:solidFill>
              </a:rPr>
              <a:t>基于ESP32-S3R8与LVGL的低功耗触控智能手表系统设计与实现</a:t>
            </a:r>
            <a:endParaRPr lang="en-US" sz="700" dirty="0"/>
          </a:p>
        </p:txBody>
      </p:sp>
      <p:sp>
        <p:nvSpPr>
          <p:cNvPr id="84" name="Text 82"/>
          <p:cNvSpPr/>
          <p:nvPr/>
        </p:nvSpPr>
        <p:spPr>
          <a:xfrm>
            <a:off x="11356848" y="6528816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0B63B6"/>
                </a:solidFill>
              </a:rPr>
              <a:t>04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 w="12700">
            <a:solidFill>
              <a:srgbClr val="F4F8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82880" y="0"/>
            <a:ext cx="0" cy="6858000"/>
          </a:xfrm>
          <a:prstGeom prst="line">
            <a:avLst/>
          </a:prstGeom>
          <a:noFill/>
          <a:ln w="3175">
            <a:solidFill>
              <a:srgbClr val="E5EEF6">
                <a:alpha val="6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94360" y="0"/>
            <a:ext cx="0" cy="6858000"/>
          </a:xfrm>
          <a:prstGeom prst="line">
            <a:avLst/>
          </a:prstGeom>
          <a:noFill/>
          <a:ln w="3175">
            <a:solidFill>
              <a:srgbClr val="E5EEF6">
                <a:alpha val="6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05840" y="0"/>
            <a:ext cx="0" cy="6858000"/>
          </a:xfrm>
          <a:prstGeom prst="line">
            <a:avLst/>
          </a:prstGeom>
          <a:noFill/>
          <a:ln w="3175">
            <a:solidFill>
              <a:srgbClr val="E5EEF6">
                <a:alpha val="6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417320" y="0"/>
            <a:ext cx="0" cy="6858000"/>
          </a:xfrm>
          <a:prstGeom prst="line">
            <a:avLst/>
          </a:prstGeom>
          <a:noFill/>
          <a:ln w="3175">
            <a:solidFill>
              <a:srgbClr val="E5EEF6">
                <a:alpha val="6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828800" y="0"/>
            <a:ext cx="0" cy="6858000"/>
          </a:xfrm>
          <a:prstGeom prst="line">
            <a:avLst/>
          </a:prstGeom>
          <a:noFill/>
          <a:ln w="3175">
            <a:solidFill>
              <a:srgbClr val="E5EEF6">
                <a:alpha val="65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240280" y="0"/>
            <a:ext cx="0" cy="6858000"/>
          </a:xfrm>
          <a:prstGeom prst="line">
            <a:avLst/>
          </a:prstGeom>
          <a:noFill/>
          <a:ln w="3175">
            <a:solidFill>
              <a:srgbClr val="E5EEF6">
                <a:alpha val="65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651760" y="0"/>
            <a:ext cx="0" cy="6858000"/>
          </a:xfrm>
          <a:prstGeom prst="line">
            <a:avLst/>
          </a:prstGeom>
          <a:noFill/>
          <a:ln w="3175">
            <a:solidFill>
              <a:srgbClr val="E5EEF6">
                <a:alpha val="65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063240" y="0"/>
            <a:ext cx="0" cy="6858000"/>
          </a:xfrm>
          <a:prstGeom prst="line">
            <a:avLst/>
          </a:prstGeom>
          <a:noFill/>
          <a:ln w="3175">
            <a:solidFill>
              <a:srgbClr val="E5EEF6">
                <a:alpha val="65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474720" y="0"/>
            <a:ext cx="0" cy="6858000"/>
          </a:xfrm>
          <a:prstGeom prst="line">
            <a:avLst/>
          </a:prstGeom>
          <a:noFill/>
          <a:ln w="3175">
            <a:solidFill>
              <a:srgbClr val="E5EEF6">
                <a:alpha val="65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886200" y="0"/>
            <a:ext cx="0" cy="6858000"/>
          </a:xfrm>
          <a:prstGeom prst="line">
            <a:avLst/>
          </a:prstGeom>
          <a:noFill/>
          <a:ln w="3175">
            <a:solidFill>
              <a:srgbClr val="E5EEF6">
                <a:alpha val="65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297680" y="0"/>
            <a:ext cx="0" cy="6858000"/>
          </a:xfrm>
          <a:prstGeom prst="line">
            <a:avLst/>
          </a:prstGeom>
          <a:noFill/>
          <a:ln w="3175">
            <a:solidFill>
              <a:srgbClr val="E5EEF6">
                <a:alpha val="65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709160" y="0"/>
            <a:ext cx="0" cy="6858000"/>
          </a:xfrm>
          <a:prstGeom prst="line">
            <a:avLst/>
          </a:prstGeom>
          <a:noFill/>
          <a:ln w="3175">
            <a:solidFill>
              <a:srgbClr val="E5EEF6">
                <a:alpha val="65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120640" y="0"/>
            <a:ext cx="0" cy="6858000"/>
          </a:xfrm>
          <a:prstGeom prst="line">
            <a:avLst/>
          </a:prstGeom>
          <a:noFill/>
          <a:ln w="3175">
            <a:solidFill>
              <a:srgbClr val="E5EEF6">
                <a:alpha val="65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532120" y="0"/>
            <a:ext cx="0" cy="6858000"/>
          </a:xfrm>
          <a:prstGeom prst="line">
            <a:avLst/>
          </a:prstGeom>
          <a:noFill/>
          <a:ln w="3175">
            <a:solidFill>
              <a:srgbClr val="E5EEF6">
                <a:alpha val="65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943600" y="0"/>
            <a:ext cx="0" cy="6858000"/>
          </a:xfrm>
          <a:prstGeom prst="line">
            <a:avLst/>
          </a:prstGeom>
          <a:noFill/>
          <a:ln w="3175">
            <a:solidFill>
              <a:srgbClr val="E5EEF6">
                <a:alpha val="65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355080" y="0"/>
            <a:ext cx="0" cy="6858000"/>
          </a:xfrm>
          <a:prstGeom prst="line">
            <a:avLst/>
          </a:prstGeom>
          <a:noFill/>
          <a:ln w="3175">
            <a:solidFill>
              <a:srgbClr val="E5EEF6">
                <a:alpha val="65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766560" y="0"/>
            <a:ext cx="0" cy="6858000"/>
          </a:xfrm>
          <a:prstGeom prst="line">
            <a:avLst/>
          </a:prstGeom>
          <a:noFill/>
          <a:ln w="3175">
            <a:solidFill>
              <a:srgbClr val="E5EEF6">
                <a:alpha val="65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178040" y="0"/>
            <a:ext cx="0" cy="6858000"/>
          </a:xfrm>
          <a:prstGeom prst="line">
            <a:avLst/>
          </a:prstGeom>
          <a:noFill/>
          <a:ln w="3175">
            <a:solidFill>
              <a:srgbClr val="E5EEF6">
                <a:alpha val="65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589520" y="0"/>
            <a:ext cx="0" cy="6858000"/>
          </a:xfrm>
          <a:prstGeom prst="line">
            <a:avLst/>
          </a:prstGeom>
          <a:noFill/>
          <a:ln w="3175">
            <a:solidFill>
              <a:srgbClr val="E5EEF6">
                <a:alpha val="65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001000" y="0"/>
            <a:ext cx="0" cy="6858000"/>
          </a:xfrm>
          <a:prstGeom prst="line">
            <a:avLst/>
          </a:prstGeom>
          <a:noFill/>
          <a:ln w="3175">
            <a:solidFill>
              <a:srgbClr val="E5EEF6">
                <a:alpha val="65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412480" y="0"/>
            <a:ext cx="0" cy="6858000"/>
          </a:xfrm>
          <a:prstGeom prst="line">
            <a:avLst/>
          </a:prstGeom>
          <a:noFill/>
          <a:ln w="3175">
            <a:solidFill>
              <a:srgbClr val="E5EEF6">
                <a:alpha val="65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823960" y="0"/>
            <a:ext cx="0" cy="6858000"/>
          </a:xfrm>
          <a:prstGeom prst="line">
            <a:avLst/>
          </a:prstGeom>
          <a:noFill/>
          <a:ln w="3175">
            <a:solidFill>
              <a:srgbClr val="E5EEF6">
                <a:alpha val="65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9235440" y="0"/>
            <a:ext cx="0" cy="6858000"/>
          </a:xfrm>
          <a:prstGeom prst="line">
            <a:avLst/>
          </a:prstGeom>
          <a:noFill/>
          <a:ln w="3175">
            <a:solidFill>
              <a:srgbClr val="E5EEF6">
                <a:alpha val="65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9646920" y="0"/>
            <a:ext cx="0" cy="6858000"/>
          </a:xfrm>
          <a:prstGeom prst="line">
            <a:avLst/>
          </a:prstGeom>
          <a:noFill/>
          <a:ln w="3175">
            <a:solidFill>
              <a:srgbClr val="E5EEF6">
                <a:alpha val="65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0058400" y="0"/>
            <a:ext cx="0" cy="6858000"/>
          </a:xfrm>
          <a:prstGeom prst="line">
            <a:avLst/>
          </a:prstGeom>
          <a:noFill/>
          <a:ln w="3175">
            <a:solidFill>
              <a:srgbClr val="E5EEF6">
                <a:alpha val="65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0469880" y="0"/>
            <a:ext cx="0" cy="6858000"/>
          </a:xfrm>
          <a:prstGeom prst="line">
            <a:avLst/>
          </a:prstGeom>
          <a:noFill/>
          <a:ln w="3175">
            <a:solidFill>
              <a:srgbClr val="E5EEF6">
                <a:alpha val="65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0881360" y="0"/>
            <a:ext cx="0" cy="6858000"/>
          </a:xfrm>
          <a:prstGeom prst="line">
            <a:avLst/>
          </a:prstGeom>
          <a:noFill/>
          <a:ln w="3175">
            <a:solidFill>
              <a:srgbClr val="E5EEF6">
                <a:alpha val="65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1292840" y="0"/>
            <a:ext cx="0" cy="6858000"/>
          </a:xfrm>
          <a:prstGeom prst="line">
            <a:avLst/>
          </a:prstGeom>
          <a:noFill/>
          <a:ln w="3175">
            <a:solidFill>
              <a:srgbClr val="E5EEF6">
                <a:alpha val="65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1704320" y="0"/>
            <a:ext cx="0" cy="6858000"/>
          </a:xfrm>
          <a:prstGeom prst="line">
            <a:avLst/>
          </a:prstGeom>
          <a:noFill/>
          <a:ln w="3175">
            <a:solidFill>
              <a:srgbClr val="E5EEF6">
                <a:alpha val="65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12115800" y="0"/>
            <a:ext cx="0" cy="6858000"/>
          </a:xfrm>
          <a:prstGeom prst="line">
            <a:avLst/>
          </a:prstGeom>
          <a:noFill/>
          <a:ln w="3175">
            <a:solidFill>
              <a:srgbClr val="E5EEF6">
                <a:alpha val="65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182880"/>
            <a:ext cx="12191695" cy="0"/>
          </a:xfrm>
          <a:prstGeom prst="line">
            <a:avLst/>
          </a:prstGeom>
          <a:noFill/>
          <a:ln w="3175">
            <a:solidFill>
              <a:srgbClr val="E5EEF6">
                <a:alpha val="65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594360"/>
            <a:ext cx="12191695" cy="0"/>
          </a:xfrm>
          <a:prstGeom prst="line">
            <a:avLst/>
          </a:prstGeom>
          <a:noFill/>
          <a:ln w="3175">
            <a:solidFill>
              <a:srgbClr val="E5EEF6">
                <a:alpha val="65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0" y="1005840"/>
            <a:ext cx="12191695" cy="0"/>
          </a:xfrm>
          <a:prstGeom prst="line">
            <a:avLst/>
          </a:prstGeom>
          <a:noFill/>
          <a:ln w="3175">
            <a:solidFill>
              <a:srgbClr val="E5EEF6">
                <a:alpha val="6500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0" y="1417320"/>
            <a:ext cx="12191695" cy="0"/>
          </a:xfrm>
          <a:prstGeom prst="line">
            <a:avLst/>
          </a:prstGeom>
          <a:noFill/>
          <a:ln w="3175">
            <a:solidFill>
              <a:srgbClr val="E5EEF6">
                <a:alpha val="6500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0" y="1828800"/>
            <a:ext cx="12191695" cy="0"/>
          </a:xfrm>
          <a:prstGeom prst="line">
            <a:avLst/>
          </a:prstGeom>
          <a:noFill/>
          <a:ln w="3175">
            <a:solidFill>
              <a:srgbClr val="E5EEF6">
                <a:alpha val="6500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0" y="2240280"/>
            <a:ext cx="12191695" cy="0"/>
          </a:xfrm>
          <a:prstGeom prst="line">
            <a:avLst/>
          </a:prstGeom>
          <a:noFill/>
          <a:ln w="3175">
            <a:solidFill>
              <a:srgbClr val="E5EEF6">
                <a:alpha val="6500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0" y="2651760"/>
            <a:ext cx="12191695" cy="0"/>
          </a:xfrm>
          <a:prstGeom prst="line">
            <a:avLst/>
          </a:prstGeom>
          <a:noFill/>
          <a:ln w="3175">
            <a:solidFill>
              <a:srgbClr val="E5EEF6">
                <a:alpha val="6500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0" y="3063240"/>
            <a:ext cx="12191695" cy="0"/>
          </a:xfrm>
          <a:prstGeom prst="line">
            <a:avLst/>
          </a:prstGeom>
          <a:noFill/>
          <a:ln w="3175">
            <a:solidFill>
              <a:srgbClr val="E5EEF6">
                <a:alpha val="6500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0" y="3474720"/>
            <a:ext cx="12191695" cy="0"/>
          </a:xfrm>
          <a:prstGeom prst="line">
            <a:avLst/>
          </a:prstGeom>
          <a:noFill/>
          <a:ln w="3175">
            <a:solidFill>
              <a:srgbClr val="E5EEF6">
                <a:alpha val="6500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0" y="3886200"/>
            <a:ext cx="12191695" cy="0"/>
          </a:xfrm>
          <a:prstGeom prst="line">
            <a:avLst/>
          </a:prstGeom>
          <a:noFill/>
          <a:ln w="3175">
            <a:solidFill>
              <a:srgbClr val="E5EEF6">
                <a:alpha val="65000"/>
              </a:srgbClr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0" y="4297680"/>
            <a:ext cx="12191695" cy="0"/>
          </a:xfrm>
          <a:prstGeom prst="line">
            <a:avLst/>
          </a:prstGeom>
          <a:noFill/>
          <a:ln w="3175">
            <a:solidFill>
              <a:srgbClr val="E5EEF6">
                <a:alpha val="65000"/>
              </a:srgbClr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0" y="4709160"/>
            <a:ext cx="12191695" cy="0"/>
          </a:xfrm>
          <a:prstGeom prst="line">
            <a:avLst/>
          </a:prstGeom>
          <a:noFill/>
          <a:ln w="3175">
            <a:solidFill>
              <a:srgbClr val="E5EEF6">
                <a:alpha val="65000"/>
              </a:srgbClr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0" y="5120640"/>
            <a:ext cx="12191695" cy="0"/>
          </a:xfrm>
          <a:prstGeom prst="line">
            <a:avLst/>
          </a:prstGeom>
          <a:noFill/>
          <a:ln w="3175">
            <a:solidFill>
              <a:srgbClr val="E5EEF6">
                <a:alpha val="65000"/>
              </a:srgbClr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0" y="5532120"/>
            <a:ext cx="12191695" cy="0"/>
          </a:xfrm>
          <a:prstGeom prst="line">
            <a:avLst/>
          </a:prstGeom>
          <a:noFill/>
          <a:ln w="3175">
            <a:solidFill>
              <a:srgbClr val="E5EEF6">
                <a:alpha val="65000"/>
              </a:srgbClr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0" y="5943600"/>
            <a:ext cx="12191695" cy="0"/>
          </a:xfrm>
          <a:prstGeom prst="line">
            <a:avLst/>
          </a:prstGeom>
          <a:noFill/>
          <a:ln w="3175">
            <a:solidFill>
              <a:srgbClr val="E5EEF6">
                <a:alpha val="65000"/>
              </a:srgbClr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0" y="6355080"/>
            <a:ext cx="12191695" cy="0"/>
          </a:xfrm>
          <a:prstGeom prst="line">
            <a:avLst/>
          </a:prstGeom>
          <a:noFill/>
          <a:ln w="3175">
            <a:solidFill>
              <a:srgbClr val="E5EEF6">
                <a:alpha val="65000"/>
              </a:srgbClr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DDEDF8">
              <a:alpha val="90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75488" y="329184"/>
            <a:ext cx="3291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2B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300" dirty="0"/>
          </a:p>
        </p:txBody>
      </p:sp>
      <p:sp>
        <p:nvSpPr>
          <p:cNvPr id="51" name="Text 49"/>
          <p:cNvSpPr/>
          <p:nvPr/>
        </p:nvSpPr>
        <p:spPr>
          <a:xfrm>
            <a:off x="841248" y="310896"/>
            <a:ext cx="7863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723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总体架构：硬件资源、软件任务与显示刷新解耦</a:t>
            </a:r>
            <a:endParaRPr lang="en-US" sz="1800" dirty="0"/>
          </a:p>
        </p:txBody>
      </p:sp>
      <p:sp>
        <p:nvSpPr>
          <p:cNvPr id="52" name="Text 50"/>
          <p:cNvSpPr/>
          <p:nvPr/>
        </p:nvSpPr>
        <p:spPr>
          <a:xfrm>
            <a:off x="841248" y="621792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0B63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OVERALL ARCHITECTURE</a:t>
            </a:r>
            <a:endParaRPr lang="en-US" sz="750" dirty="0"/>
          </a:p>
        </p:txBody>
      </p:sp>
      <p:sp>
        <p:nvSpPr>
          <p:cNvPr id="53" name="Shape 51"/>
          <p:cNvSpPr/>
          <p:nvPr/>
        </p:nvSpPr>
        <p:spPr>
          <a:xfrm>
            <a:off x="4572000" y="1417320"/>
            <a:ext cx="2834640" cy="6858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0B63B6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4645152" y="1554480"/>
            <a:ext cx="2688336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72335"/>
                </a:solidFill>
              </a:rPr>
              <a:t>ESP32-S3R8主控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172335"/>
                </a:solidFill>
              </a:rPr>
              <a:t>双核处理 + 8MB PSRAM</a:t>
            </a:r>
            <a:endParaRPr lang="en-US" sz="1050" dirty="0"/>
          </a:p>
        </p:txBody>
      </p:sp>
      <p:sp>
        <p:nvSpPr>
          <p:cNvPr id="55" name="Shape 53"/>
          <p:cNvSpPr/>
          <p:nvPr/>
        </p:nvSpPr>
        <p:spPr>
          <a:xfrm>
            <a:off x="822960" y="1143000"/>
            <a:ext cx="2240280" cy="749808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12700">
            <a:solidFill>
              <a:srgbClr val="22B8D7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896112" y="1280160"/>
            <a:ext cx="20939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72335"/>
                </a:solidFill>
              </a:rPr>
              <a:t>显示触控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172335"/>
                </a:solidFill>
              </a:rPr>
              <a:t>ST7789P3 / CST816T</a:t>
            </a:r>
            <a:endParaRPr lang="en-US" sz="1050" dirty="0"/>
          </a:p>
        </p:txBody>
      </p:sp>
      <p:sp>
        <p:nvSpPr>
          <p:cNvPr id="57" name="Shape 55"/>
          <p:cNvSpPr/>
          <p:nvPr/>
        </p:nvSpPr>
        <p:spPr>
          <a:xfrm>
            <a:off x="822960" y="3977640"/>
            <a:ext cx="2240280" cy="749808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12700">
            <a:solidFill>
              <a:srgbClr val="F28B2E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896112" y="4114800"/>
            <a:ext cx="20939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72335"/>
                </a:solidFill>
              </a:rPr>
              <a:t>存储扩展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172335"/>
                </a:solidFill>
              </a:rPr>
              <a:t>Micro SD / W25Q128</a:t>
            </a:r>
            <a:endParaRPr lang="en-US" sz="1050" dirty="0"/>
          </a:p>
        </p:txBody>
      </p:sp>
      <p:sp>
        <p:nvSpPr>
          <p:cNvPr id="59" name="Shape 57"/>
          <p:cNvSpPr/>
          <p:nvPr/>
        </p:nvSpPr>
        <p:spPr>
          <a:xfrm>
            <a:off x="9006840" y="1143000"/>
            <a:ext cx="2240280" cy="749808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12700">
            <a:solidFill>
              <a:srgbClr val="31A36B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9079992" y="1280160"/>
            <a:ext cx="20939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72335"/>
                </a:solidFill>
              </a:rPr>
              <a:t>时间基准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172335"/>
                </a:solidFill>
              </a:rPr>
              <a:t>SD3078 RTC</a:t>
            </a:r>
            <a:endParaRPr lang="en-US" sz="1050" dirty="0"/>
          </a:p>
        </p:txBody>
      </p:sp>
      <p:sp>
        <p:nvSpPr>
          <p:cNvPr id="61" name="Shape 59"/>
          <p:cNvSpPr/>
          <p:nvPr/>
        </p:nvSpPr>
        <p:spPr>
          <a:xfrm>
            <a:off x="9006840" y="3977640"/>
            <a:ext cx="2240280" cy="749808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12700">
            <a:solidFill>
              <a:srgbClr val="D65757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9079992" y="4114800"/>
            <a:ext cx="20939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72335"/>
                </a:solidFill>
              </a:rPr>
              <a:t>电源与唤醒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172335"/>
                </a:solidFill>
              </a:rPr>
              <a:t>锂电池 / LDO / GPIO</a:t>
            </a:r>
            <a:endParaRPr lang="en-US" sz="1050" dirty="0"/>
          </a:p>
        </p:txBody>
      </p:sp>
      <p:sp>
        <p:nvSpPr>
          <p:cNvPr id="63" name="Shape 61"/>
          <p:cNvSpPr/>
          <p:nvPr/>
        </p:nvSpPr>
        <p:spPr>
          <a:xfrm>
            <a:off x="3063240" y="1517904"/>
            <a:ext cx="1508760" cy="201168"/>
          </a:xfrm>
          <a:prstGeom prst="line">
            <a:avLst/>
          </a:prstGeom>
          <a:noFill/>
          <a:ln w="15240">
            <a:solidFill>
              <a:srgbClr val="22B8D7"/>
            </a:solidFill>
            <a:prstDash val="solid"/>
            <a:tailEnd type="triangle"/>
          </a:ln>
        </p:spPr>
      </p:sp>
      <p:sp>
        <p:nvSpPr>
          <p:cNvPr id="64" name="Shape 62"/>
          <p:cNvSpPr/>
          <p:nvPr/>
        </p:nvSpPr>
        <p:spPr>
          <a:xfrm>
            <a:off x="3063240" y="4343400"/>
            <a:ext cx="1508760" cy="-2331720"/>
          </a:xfrm>
          <a:prstGeom prst="line">
            <a:avLst/>
          </a:prstGeom>
          <a:noFill/>
          <a:ln w="15240">
            <a:solidFill>
              <a:srgbClr val="F28B2E"/>
            </a:solidFill>
            <a:prstDash val="solid"/>
            <a:tailEnd type="triangle"/>
          </a:ln>
        </p:spPr>
      </p:sp>
      <p:sp>
        <p:nvSpPr>
          <p:cNvPr id="65" name="Shape 63"/>
          <p:cNvSpPr/>
          <p:nvPr/>
        </p:nvSpPr>
        <p:spPr>
          <a:xfrm>
            <a:off x="9006840" y="1517904"/>
            <a:ext cx="-1600200" cy="201168"/>
          </a:xfrm>
          <a:prstGeom prst="line">
            <a:avLst/>
          </a:prstGeom>
          <a:noFill/>
          <a:ln w="15240">
            <a:solidFill>
              <a:srgbClr val="31A36B"/>
            </a:solidFill>
            <a:prstDash val="solid"/>
            <a:tailEnd type="triangle"/>
          </a:ln>
        </p:spPr>
      </p:sp>
      <p:sp>
        <p:nvSpPr>
          <p:cNvPr id="66" name="Shape 64"/>
          <p:cNvSpPr/>
          <p:nvPr/>
        </p:nvSpPr>
        <p:spPr>
          <a:xfrm>
            <a:off x="9006840" y="4343400"/>
            <a:ext cx="-1600200" cy="-2331720"/>
          </a:xfrm>
          <a:prstGeom prst="line">
            <a:avLst/>
          </a:prstGeom>
          <a:noFill/>
          <a:ln w="15240">
            <a:solidFill>
              <a:srgbClr val="D65757"/>
            </a:solidFill>
            <a:prstDash val="solid"/>
            <a:tailEnd type="triangle"/>
          </a:ln>
        </p:spPr>
      </p:sp>
      <p:sp>
        <p:nvSpPr>
          <p:cNvPr id="67" name="Shape 65"/>
          <p:cNvSpPr/>
          <p:nvPr/>
        </p:nvSpPr>
        <p:spPr>
          <a:xfrm>
            <a:off x="3611880" y="2926080"/>
            <a:ext cx="4480560" cy="896112"/>
          </a:xfrm>
          <a:prstGeom prst="roundRect">
            <a:avLst>
              <a:gd name="adj" fmla="val 5102"/>
            </a:avLst>
          </a:prstGeom>
          <a:solidFill>
            <a:srgbClr val="FFFFFF"/>
          </a:solidFill>
          <a:ln w="10160">
            <a:solidFill>
              <a:srgbClr val="D8E4EE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3611880" y="2926080"/>
            <a:ext cx="45720" cy="896112"/>
          </a:xfrm>
          <a:prstGeom prst="rect">
            <a:avLst/>
          </a:prstGeom>
          <a:solidFill>
            <a:srgbClr val="0B63B6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3776472" y="3081528"/>
            <a:ext cx="41513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72335"/>
                </a:solidFill>
              </a:rPr>
              <a:t>系统分层逻辑</a:t>
            </a:r>
            <a:endParaRPr lang="en-US" sz="1400" dirty="0"/>
          </a:p>
        </p:txBody>
      </p:sp>
      <p:sp>
        <p:nvSpPr>
          <p:cNvPr id="70" name="Text 68"/>
          <p:cNvSpPr/>
          <p:nvPr/>
        </p:nvSpPr>
        <p:spPr>
          <a:xfrm>
            <a:off x="3776472" y="3401568"/>
            <a:ext cx="4151376" cy="3291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5D6D7E"/>
                </a:solidFill>
              </a:rPr>
              <a:t>硬件层提供驱动接口；应用层完成业务处理；显示层读取消息队列并统一刷新界面。</a:t>
            </a:r>
            <a:endParaRPr lang="en-US" sz="1020" dirty="0"/>
          </a:p>
        </p:txBody>
      </p:sp>
      <p:sp>
        <p:nvSpPr>
          <p:cNvPr id="71" name="Shape 69"/>
          <p:cNvSpPr/>
          <p:nvPr/>
        </p:nvSpPr>
        <p:spPr>
          <a:xfrm>
            <a:off x="914400" y="5166360"/>
            <a:ext cx="1234440" cy="365760"/>
          </a:xfrm>
          <a:prstGeom prst="rect">
            <a:avLst/>
          </a:prstGeom>
          <a:solidFill>
            <a:srgbClr val="0B63B6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914400" y="5266944"/>
            <a:ext cx="12344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01</a:t>
            </a:r>
            <a:endParaRPr lang="en-US" sz="900" dirty="0"/>
          </a:p>
        </p:txBody>
      </p:sp>
      <p:sp>
        <p:nvSpPr>
          <p:cNvPr id="73" name="Shape 71"/>
          <p:cNvSpPr/>
          <p:nvPr/>
        </p:nvSpPr>
        <p:spPr>
          <a:xfrm>
            <a:off x="822960" y="5760720"/>
            <a:ext cx="1417320" cy="96012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0160">
            <a:solidFill>
              <a:srgbClr val="D8E4EE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987552" y="5916168"/>
            <a:ext cx="10881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172335"/>
                </a:solidFill>
              </a:rPr>
              <a:t>硬件支撑</a:t>
            </a:r>
            <a:endParaRPr lang="en-US" sz="1000" dirty="0"/>
          </a:p>
        </p:txBody>
      </p:sp>
      <p:sp>
        <p:nvSpPr>
          <p:cNvPr id="75" name="Text 73"/>
          <p:cNvSpPr/>
          <p:nvPr/>
        </p:nvSpPr>
        <p:spPr>
          <a:xfrm>
            <a:off x="987552" y="6236208"/>
            <a:ext cx="1088136" cy="3931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5D6D7E"/>
                </a:solidFill>
              </a:rPr>
              <a:t>显示、存储、RTC、电源</a:t>
            </a:r>
            <a:endParaRPr lang="en-US" sz="740" dirty="0"/>
          </a:p>
        </p:txBody>
      </p:sp>
      <p:sp>
        <p:nvSpPr>
          <p:cNvPr id="76" name="Shape 74"/>
          <p:cNvSpPr/>
          <p:nvPr/>
        </p:nvSpPr>
        <p:spPr>
          <a:xfrm>
            <a:off x="2194560" y="5349240"/>
            <a:ext cx="347472" cy="0"/>
          </a:xfrm>
          <a:prstGeom prst="line">
            <a:avLst/>
          </a:prstGeom>
          <a:noFill/>
          <a:ln w="15240">
            <a:solidFill>
              <a:srgbClr val="0B63B6"/>
            </a:solidFill>
            <a:prstDash val="solid"/>
            <a:tailEnd type="triangle"/>
          </a:ln>
        </p:spPr>
      </p:sp>
      <p:sp>
        <p:nvSpPr>
          <p:cNvPr id="77" name="Shape 75"/>
          <p:cNvSpPr/>
          <p:nvPr/>
        </p:nvSpPr>
        <p:spPr>
          <a:xfrm>
            <a:off x="2679192" y="5166360"/>
            <a:ext cx="1234440" cy="365760"/>
          </a:xfrm>
          <a:prstGeom prst="rect">
            <a:avLst/>
          </a:prstGeom>
          <a:solidFill>
            <a:srgbClr val="0B63B6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2679192" y="5266944"/>
            <a:ext cx="12344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02</a:t>
            </a:r>
            <a:endParaRPr lang="en-US" sz="900" dirty="0"/>
          </a:p>
        </p:txBody>
      </p:sp>
      <p:sp>
        <p:nvSpPr>
          <p:cNvPr id="79" name="Shape 77"/>
          <p:cNvSpPr/>
          <p:nvPr/>
        </p:nvSpPr>
        <p:spPr>
          <a:xfrm>
            <a:off x="2587752" y="5760720"/>
            <a:ext cx="1417320" cy="96012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0160">
            <a:solidFill>
              <a:srgbClr val="D8E4EE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2752344" y="5916168"/>
            <a:ext cx="10881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172335"/>
                </a:solidFill>
              </a:rPr>
              <a:t>任务调度</a:t>
            </a:r>
            <a:endParaRPr lang="en-US" sz="1000" dirty="0"/>
          </a:p>
        </p:txBody>
      </p:sp>
      <p:sp>
        <p:nvSpPr>
          <p:cNvPr id="81" name="Text 79"/>
          <p:cNvSpPr/>
          <p:nvPr/>
        </p:nvSpPr>
        <p:spPr>
          <a:xfrm>
            <a:off x="2752344" y="6236208"/>
            <a:ext cx="1088136" cy="3931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5D6D7E"/>
                </a:solidFill>
              </a:rPr>
              <a:t>FreeRTOS多任务协作</a:t>
            </a:r>
            <a:endParaRPr lang="en-US" sz="740" dirty="0"/>
          </a:p>
        </p:txBody>
      </p:sp>
      <p:sp>
        <p:nvSpPr>
          <p:cNvPr id="82" name="Shape 80"/>
          <p:cNvSpPr/>
          <p:nvPr/>
        </p:nvSpPr>
        <p:spPr>
          <a:xfrm>
            <a:off x="3959352" y="5349240"/>
            <a:ext cx="347472" cy="0"/>
          </a:xfrm>
          <a:prstGeom prst="line">
            <a:avLst/>
          </a:prstGeom>
          <a:noFill/>
          <a:ln w="15240">
            <a:solidFill>
              <a:srgbClr val="0B63B6"/>
            </a:solidFill>
            <a:prstDash val="solid"/>
            <a:tailEnd type="triangle"/>
          </a:ln>
        </p:spPr>
      </p:sp>
      <p:sp>
        <p:nvSpPr>
          <p:cNvPr id="83" name="Shape 81"/>
          <p:cNvSpPr/>
          <p:nvPr/>
        </p:nvSpPr>
        <p:spPr>
          <a:xfrm>
            <a:off x="4443984" y="5166360"/>
            <a:ext cx="1234440" cy="365760"/>
          </a:xfrm>
          <a:prstGeom prst="rect">
            <a:avLst/>
          </a:prstGeom>
          <a:solidFill>
            <a:srgbClr val="0B63B6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4443984" y="5266944"/>
            <a:ext cx="12344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03</a:t>
            </a:r>
            <a:endParaRPr lang="en-US" sz="900" dirty="0"/>
          </a:p>
        </p:txBody>
      </p:sp>
      <p:sp>
        <p:nvSpPr>
          <p:cNvPr id="85" name="Shape 83"/>
          <p:cNvSpPr/>
          <p:nvPr/>
        </p:nvSpPr>
        <p:spPr>
          <a:xfrm>
            <a:off x="4352544" y="5760720"/>
            <a:ext cx="1417320" cy="96012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0160">
            <a:solidFill>
              <a:srgbClr val="D8E4EE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4517136" y="5916168"/>
            <a:ext cx="10881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172335"/>
                </a:solidFill>
              </a:rPr>
              <a:t>业务处理</a:t>
            </a:r>
            <a:endParaRPr lang="en-US" sz="1000" dirty="0"/>
          </a:p>
        </p:txBody>
      </p:sp>
      <p:sp>
        <p:nvSpPr>
          <p:cNvPr id="87" name="Text 85"/>
          <p:cNvSpPr/>
          <p:nvPr/>
        </p:nvSpPr>
        <p:spPr>
          <a:xfrm>
            <a:off x="4517136" y="6236208"/>
            <a:ext cx="1088136" cy="3931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5D6D7E"/>
                </a:solidFill>
              </a:rPr>
              <a:t>多媒体、联网、OTA</a:t>
            </a:r>
            <a:endParaRPr lang="en-US" sz="740" dirty="0"/>
          </a:p>
        </p:txBody>
      </p:sp>
      <p:sp>
        <p:nvSpPr>
          <p:cNvPr id="88" name="Shape 86"/>
          <p:cNvSpPr/>
          <p:nvPr/>
        </p:nvSpPr>
        <p:spPr>
          <a:xfrm>
            <a:off x="5724144" y="5349240"/>
            <a:ext cx="347472" cy="0"/>
          </a:xfrm>
          <a:prstGeom prst="line">
            <a:avLst/>
          </a:prstGeom>
          <a:noFill/>
          <a:ln w="15240">
            <a:solidFill>
              <a:srgbClr val="0B63B6"/>
            </a:solidFill>
            <a:prstDash val="solid"/>
            <a:tailEnd type="triangle"/>
          </a:ln>
        </p:spPr>
      </p:sp>
      <p:sp>
        <p:nvSpPr>
          <p:cNvPr id="89" name="Shape 87"/>
          <p:cNvSpPr/>
          <p:nvPr/>
        </p:nvSpPr>
        <p:spPr>
          <a:xfrm>
            <a:off x="6208776" y="5166360"/>
            <a:ext cx="1234440" cy="365760"/>
          </a:xfrm>
          <a:prstGeom prst="rect">
            <a:avLst/>
          </a:prstGeom>
          <a:solidFill>
            <a:srgbClr val="0B63B6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90" name="Text 88"/>
          <p:cNvSpPr/>
          <p:nvPr/>
        </p:nvSpPr>
        <p:spPr>
          <a:xfrm>
            <a:off x="6208776" y="5266944"/>
            <a:ext cx="12344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04</a:t>
            </a:r>
            <a:endParaRPr lang="en-US" sz="900" dirty="0"/>
          </a:p>
        </p:txBody>
      </p:sp>
      <p:sp>
        <p:nvSpPr>
          <p:cNvPr id="91" name="Shape 89"/>
          <p:cNvSpPr/>
          <p:nvPr/>
        </p:nvSpPr>
        <p:spPr>
          <a:xfrm>
            <a:off x="6117336" y="5760720"/>
            <a:ext cx="1417320" cy="96012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0160">
            <a:solidFill>
              <a:srgbClr val="D8E4EE"/>
            </a:solidFill>
            <a:prstDash val="solid"/>
          </a:ln>
        </p:spPr>
      </p:sp>
      <p:sp>
        <p:nvSpPr>
          <p:cNvPr id="92" name="Text 90"/>
          <p:cNvSpPr/>
          <p:nvPr/>
        </p:nvSpPr>
        <p:spPr>
          <a:xfrm>
            <a:off x="6281928" y="5916168"/>
            <a:ext cx="10881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172335"/>
                </a:solidFill>
              </a:rPr>
              <a:t>消息上报</a:t>
            </a:r>
            <a:endParaRPr lang="en-US" sz="1000" dirty="0"/>
          </a:p>
        </p:txBody>
      </p:sp>
      <p:sp>
        <p:nvSpPr>
          <p:cNvPr id="93" name="Text 91"/>
          <p:cNvSpPr/>
          <p:nvPr/>
        </p:nvSpPr>
        <p:spPr>
          <a:xfrm>
            <a:off x="6281928" y="6236208"/>
            <a:ext cx="1088136" cy="3931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5D6D7E"/>
                </a:solidFill>
              </a:rPr>
              <a:t>状态变化进入队列</a:t>
            </a:r>
            <a:endParaRPr lang="en-US" sz="740" dirty="0"/>
          </a:p>
        </p:txBody>
      </p:sp>
      <p:sp>
        <p:nvSpPr>
          <p:cNvPr id="94" name="Shape 92"/>
          <p:cNvSpPr/>
          <p:nvPr/>
        </p:nvSpPr>
        <p:spPr>
          <a:xfrm>
            <a:off x="7488936" y="5349240"/>
            <a:ext cx="347472" cy="0"/>
          </a:xfrm>
          <a:prstGeom prst="line">
            <a:avLst/>
          </a:prstGeom>
          <a:noFill/>
          <a:ln w="15240">
            <a:solidFill>
              <a:srgbClr val="0B63B6"/>
            </a:solidFill>
            <a:prstDash val="solid"/>
            <a:tailEnd type="triangle"/>
          </a:ln>
        </p:spPr>
      </p:sp>
      <p:sp>
        <p:nvSpPr>
          <p:cNvPr id="95" name="Shape 93"/>
          <p:cNvSpPr/>
          <p:nvPr/>
        </p:nvSpPr>
        <p:spPr>
          <a:xfrm>
            <a:off x="7973568" y="5166360"/>
            <a:ext cx="1234440" cy="365760"/>
          </a:xfrm>
          <a:prstGeom prst="rect">
            <a:avLst/>
          </a:prstGeom>
          <a:solidFill>
            <a:srgbClr val="0B63B6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96" name="Text 94"/>
          <p:cNvSpPr/>
          <p:nvPr/>
        </p:nvSpPr>
        <p:spPr>
          <a:xfrm>
            <a:off x="7973568" y="5266944"/>
            <a:ext cx="12344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05</a:t>
            </a:r>
            <a:endParaRPr lang="en-US" sz="900" dirty="0"/>
          </a:p>
        </p:txBody>
      </p:sp>
      <p:sp>
        <p:nvSpPr>
          <p:cNvPr id="97" name="Shape 95"/>
          <p:cNvSpPr/>
          <p:nvPr/>
        </p:nvSpPr>
        <p:spPr>
          <a:xfrm>
            <a:off x="7882128" y="5760720"/>
            <a:ext cx="1417320" cy="96012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0160">
            <a:solidFill>
              <a:srgbClr val="D8E4EE"/>
            </a:solidFill>
            <a:prstDash val="solid"/>
          </a:ln>
        </p:spPr>
      </p:sp>
      <p:sp>
        <p:nvSpPr>
          <p:cNvPr id="98" name="Text 96"/>
          <p:cNvSpPr/>
          <p:nvPr/>
        </p:nvSpPr>
        <p:spPr>
          <a:xfrm>
            <a:off x="8046720" y="5916168"/>
            <a:ext cx="10881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172335"/>
                </a:solidFill>
              </a:rPr>
              <a:t>界面刷新</a:t>
            </a:r>
            <a:endParaRPr lang="en-US" sz="1000" dirty="0"/>
          </a:p>
        </p:txBody>
      </p:sp>
      <p:sp>
        <p:nvSpPr>
          <p:cNvPr id="99" name="Text 97"/>
          <p:cNvSpPr/>
          <p:nvPr/>
        </p:nvSpPr>
        <p:spPr>
          <a:xfrm>
            <a:off x="8046720" y="6236208"/>
            <a:ext cx="1088136" cy="3931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5D6D7E"/>
                </a:solidFill>
              </a:rPr>
              <a:t>LVGL统一输出</a:t>
            </a:r>
            <a:endParaRPr lang="en-US" sz="740" dirty="0"/>
          </a:p>
        </p:txBody>
      </p:sp>
      <p:sp>
        <p:nvSpPr>
          <p:cNvPr id="100" name="Text 98"/>
          <p:cNvSpPr/>
          <p:nvPr/>
        </p:nvSpPr>
        <p:spPr>
          <a:xfrm>
            <a:off x="502920" y="6565392"/>
            <a:ext cx="5212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7E8FA3"/>
                </a:solidFill>
              </a:rPr>
              <a:t>基于ESP32-S3R8与LVGL的低功耗触控智能手表系统设计与实现</a:t>
            </a:r>
            <a:endParaRPr lang="en-US" sz="700" dirty="0"/>
          </a:p>
        </p:txBody>
      </p:sp>
      <p:sp>
        <p:nvSpPr>
          <p:cNvPr id="101" name="Text 99"/>
          <p:cNvSpPr/>
          <p:nvPr/>
        </p:nvSpPr>
        <p:spPr>
          <a:xfrm>
            <a:off x="11356848" y="6528816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0B63B6"/>
                </a:solidFill>
              </a:rPr>
              <a:t>05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 w="12700">
            <a:solidFill>
              <a:srgbClr val="F4F8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82880" y="0"/>
            <a:ext cx="0" cy="6858000"/>
          </a:xfrm>
          <a:prstGeom prst="line">
            <a:avLst/>
          </a:prstGeom>
          <a:noFill/>
          <a:ln w="3175">
            <a:solidFill>
              <a:srgbClr val="E5EEF6">
                <a:alpha val="6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94360" y="0"/>
            <a:ext cx="0" cy="6858000"/>
          </a:xfrm>
          <a:prstGeom prst="line">
            <a:avLst/>
          </a:prstGeom>
          <a:noFill/>
          <a:ln w="3175">
            <a:solidFill>
              <a:srgbClr val="E5EEF6">
                <a:alpha val="6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05840" y="0"/>
            <a:ext cx="0" cy="6858000"/>
          </a:xfrm>
          <a:prstGeom prst="line">
            <a:avLst/>
          </a:prstGeom>
          <a:noFill/>
          <a:ln w="3175">
            <a:solidFill>
              <a:srgbClr val="E5EEF6">
                <a:alpha val="6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417320" y="0"/>
            <a:ext cx="0" cy="6858000"/>
          </a:xfrm>
          <a:prstGeom prst="line">
            <a:avLst/>
          </a:prstGeom>
          <a:noFill/>
          <a:ln w="3175">
            <a:solidFill>
              <a:srgbClr val="E5EEF6">
                <a:alpha val="6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828800" y="0"/>
            <a:ext cx="0" cy="6858000"/>
          </a:xfrm>
          <a:prstGeom prst="line">
            <a:avLst/>
          </a:prstGeom>
          <a:noFill/>
          <a:ln w="3175">
            <a:solidFill>
              <a:srgbClr val="E5EEF6">
                <a:alpha val="65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240280" y="0"/>
            <a:ext cx="0" cy="6858000"/>
          </a:xfrm>
          <a:prstGeom prst="line">
            <a:avLst/>
          </a:prstGeom>
          <a:noFill/>
          <a:ln w="3175">
            <a:solidFill>
              <a:srgbClr val="E5EEF6">
                <a:alpha val="65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651760" y="0"/>
            <a:ext cx="0" cy="6858000"/>
          </a:xfrm>
          <a:prstGeom prst="line">
            <a:avLst/>
          </a:prstGeom>
          <a:noFill/>
          <a:ln w="3175">
            <a:solidFill>
              <a:srgbClr val="E5EEF6">
                <a:alpha val="65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063240" y="0"/>
            <a:ext cx="0" cy="6858000"/>
          </a:xfrm>
          <a:prstGeom prst="line">
            <a:avLst/>
          </a:prstGeom>
          <a:noFill/>
          <a:ln w="3175">
            <a:solidFill>
              <a:srgbClr val="E5EEF6">
                <a:alpha val="65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474720" y="0"/>
            <a:ext cx="0" cy="6858000"/>
          </a:xfrm>
          <a:prstGeom prst="line">
            <a:avLst/>
          </a:prstGeom>
          <a:noFill/>
          <a:ln w="3175">
            <a:solidFill>
              <a:srgbClr val="E5EEF6">
                <a:alpha val="65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886200" y="0"/>
            <a:ext cx="0" cy="6858000"/>
          </a:xfrm>
          <a:prstGeom prst="line">
            <a:avLst/>
          </a:prstGeom>
          <a:noFill/>
          <a:ln w="3175">
            <a:solidFill>
              <a:srgbClr val="E5EEF6">
                <a:alpha val="65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297680" y="0"/>
            <a:ext cx="0" cy="6858000"/>
          </a:xfrm>
          <a:prstGeom prst="line">
            <a:avLst/>
          </a:prstGeom>
          <a:noFill/>
          <a:ln w="3175">
            <a:solidFill>
              <a:srgbClr val="E5EEF6">
                <a:alpha val="65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709160" y="0"/>
            <a:ext cx="0" cy="6858000"/>
          </a:xfrm>
          <a:prstGeom prst="line">
            <a:avLst/>
          </a:prstGeom>
          <a:noFill/>
          <a:ln w="3175">
            <a:solidFill>
              <a:srgbClr val="E5EEF6">
                <a:alpha val="65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120640" y="0"/>
            <a:ext cx="0" cy="6858000"/>
          </a:xfrm>
          <a:prstGeom prst="line">
            <a:avLst/>
          </a:prstGeom>
          <a:noFill/>
          <a:ln w="3175">
            <a:solidFill>
              <a:srgbClr val="E5EEF6">
                <a:alpha val="65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532120" y="0"/>
            <a:ext cx="0" cy="6858000"/>
          </a:xfrm>
          <a:prstGeom prst="line">
            <a:avLst/>
          </a:prstGeom>
          <a:noFill/>
          <a:ln w="3175">
            <a:solidFill>
              <a:srgbClr val="E5EEF6">
                <a:alpha val="65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943600" y="0"/>
            <a:ext cx="0" cy="6858000"/>
          </a:xfrm>
          <a:prstGeom prst="line">
            <a:avLst/>
          </a:prstGeom>
          <a:noFill/>
          <a:ln w="3175">
            <a:solidFill>
              <a:srgbClr val="E5EEF6">
                <a:alpha val="65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355080" y="0"/>
            <a:ext cx="0" cy="6858000"/>
          </a:xfrm>
          <a:prstGeom prst="line">
            <a:avLst/>
          </a:prstGeom>
          <a:noFill/>
          <a:ln w="3175">
            <a:solidFill>
              <a:srgbClr val="E5EEF6">
                <a:alpha val="65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766560" y="0"/>
            <a:ext cx="0" cy="6858000"/>
          </a:xfrm>
          <a:prstGeom prst="line">
            <a:avLst/>
          </a:prstGeom>
          <a:noFill/>
          <a:ln w="3175">
            <a:solidFill>
              <a:srgbClr val="E5EEF6">
                <a:alpha val="65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178040" y="0"/>
            <a:ext cx="0" cy="6858000"/>
          </a:xfrm>
          <a:prstGeom prst="line">
            <a:avLst/>
          </a:prstGeom>
          <a:noFill/>
          <a:ln w="3175">
            <a:solidFill>
              <a:srgbClr val="E5EEF6">
                <a:alpha val="65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589520" y="0"/>
            <a:ext cx="0" cy="6858000"/>
          </a:xfrm>
          <a:prstGeom prst="line">
            <a:avLst/>
          </a:prstGeom>
          <a:noFill/>
          <a:ln w="3175">
            <a:solidFill>
              <a:srgbClr val="E5EEF6">
                <a:alpha val="65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001000" y="0"/>
            <a:ext cx="0" cy="6858000"/>
          </a:xfrm>
          <a:prstGeom prst="line">
            <a:avLst/>
          </a:prstGeom>
          <a:noFill/>
          <a:ln w="3175">
            <a:solidFill>
              <a:srgbClr val="E5EEF6">
                <a:alpha val="65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412480" y="0"/>
            <a:ext cx="0" cy="6858000"/>
          </a:xfrm>
          <a:prstGeom prst="line">
            <a:avLst/>
          </a:prstGeom>
          <a:noFill/>
          <a:ln w="3175">
            <a:solidFill>
              <a:srgbClr val="E5EEF6">
                <a:alpha val="65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823960" y="0"/>
            <a:ext cx="0" cy="6858000"/>
          </a:xfrm>
          <a:prstGeom prst="line">
            <a:avLst/>
          </a:prstGeom>
          <a:noFill/>
          <a:ln w="3175">
            <a:solidFill>
              <a:srgbClr val="E5EEF6">
                <a:alpha val="65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9235440" y="0"/>
            <a:ext cx="0" cy="6858000"/>
          </a:xfrm>
          <a:prstGeom prst="line">
            <a:avLst/>
          </a:prstGeom>
          <a:noFill/>
          <a:ln w="3175">
            <a:solidFill>
              <a:srgbClr val="E5EEF6">
                <a:alpha val="65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9646920" y="0"/>
            <a:ext cx="0" cy="6858000"/>
          </a:xfrm>
          <a:prstGeom prst="line">
            <a:avLst/>
          </a:prstGeom>
          <a:noFill/>
          <a:ln w="3175">
            <a:solidFill>
              <a:srgbClr val="E5EEF6">
                <a:alpha val="65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0058400" y="0"/>
            <a:ext cx="0" cy="6858000"/>
          </a:xfrm>
          <a:prstGeom prst="line">
            <a:avLst/>
          </a:prstGeom>
          <a:noFill/>
          <a:ln w="3175">
            <a:solidFill>
              <a:srgbClr val="E5EEF6">
                <a:alpha val="65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0469880" y="0"/>
            <a:ext cx="0" cy="6858000"/>
          </a:xfrm>
          <a:prstGeom prst="line">
            <a:avLst/>
          </a:prstGeom>
          <a:noFill/>
          <a:ln w="3175">
            <a:solidFill>
              <a:srgbClr val="E5EEF6">
                <a:alpha val="65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0881360" y="0"/>
            <a:ext cx="0" cy="6858000"/>
          </a:xfrm>
          <a:prstGeom prst="line">
            <a:avLst/>
          </a:prstGeom>
          <a:noFill/>
          <a:ln w="3175">
            <a:solidFill>
              <a:srgbClr val="E5EEF6">
                <a:alpha val="65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1292840" y="0"/>
            <a:ext cx="0" cy="6858000"/>
          </a:xfrm>
          <a:prstGeom prst="line">
            <a:avLst/>
          </a:prstGeom>
          <a:noFill/>
          <a:ln w="3175">
            <a:solidFill>
              <a:srgbClr val="E5EEF6">
                <a:alpha val="65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1704320" y="0"/>
            <a:ext cx="0" cy="6858000"/>
          </a:xfrm>
          <a:prstGeom prst="line">
            <a:avLst/>
          </a:prstGeom>
          <a:noFill/>
          <a:ln w="3175">
            <a:solidFill>
              <a:srgbClr val="E5EEF6">
                <a:alpha val="65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12115800" y="0"/>
            <a:ext cx="0" cy="6858000"/>
          </a:xfrm>
          <a:prstGeom prst="line">
            <a:avLst/>
          </a:prstGeom>
          <a:noFill/>
          <a:ln w="3175">
            <a:solidFill>
              <a:srgbClr val="E5EEF6">
                <a:alpha val="65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182880"/>
            <a:ext cx="12191695" cy="0"/>
          </a:xfrm>
          <a:prstGeom prst="line">
            <a:avLst/>
          </a:prstGeom>
          <a:noFill/>
          <a:ln w="3175">
            <a:solidFill>
              <a:srgbClr val="E5EEF6">
                <a:alpha val="65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594360"/>
            <a:ext cx="12191695" cy="0"/>
          </a:xfrm>
          <a:prstGeom prst="line">
            <a:avLst/>
          </a:prstGeom>
          <a:noFill/>
          <a:ln w="3175">
            <a:solidFill>
              <a:srgbClr val="E5EEF6">
                <a:alpha val="65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0" y="1005840"/>
            <a:ext cx="12191695" cy="0"/>
          </a:xfrm>
          <a:prstGeom prst="line">
            <a:avLst/>
          </a:prstGeom>
          <a:noFill/>
          <a:ln w="3175">
            <a:solidFill>
              <a:srgbClr val="E5EEF6">
                <a:alpha val="6500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0" y="1417320"/>
            <a:ext cx="12191695" cy="0"/>
          </a:xfrm>
          <a:prstGeom prst="line">
            <a:avLst/>
          </a:prstGeom>
          <a:noFill/>
          <a:ln w="3175">
            <a:solidFill>
              <a:srgbClr val="E5EEF6">
                <a:alpha val="6500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0" y="1828800"/>
            <a:ext cx="12191695" cy="0"/>
          </a:xfrm>
          <a:prstGeom prst="line">
            <a:avLst/>
          </a:prstGeom>
          <a:noFill/>
          <a:ln w="3175">
            <a:solidFill>
              <a:srgbClr val="E5EEF6">
                <a:alpha val="6500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0" y="2240280"/>
            <a:ext cx="12191695" cy="0"/>
          </a:xfrm>
          <a:prstGeom prst="line">
            <a:avLst/>
          </a:prstGeom>
          <a:noFill/>
          <a:ln w="3175">
            <a:solidFill>
              <a:srgbClr val="E5EEF6">
                <a:alpha val="6500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0" y="2651760"/>
            <a:ext cx="12191695" cy="0"/>
          </a:xfrm>
          <a:prstGeom prst="line">
            <a:avLst/>
          </a:prstGeom>
          <a:noFill/>
          <a:ln w="3175">
            <a:solidFill>
              <a:srgbClr val="E5EEF6">
                <a:alpha val="6500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0" y="3063240"/>
            <a:ext cx="12191695" cy="0"/>
          </a:xfrm>
          <a:prstGeom prst="line">
            <a:avLst/>
          </a:prstGeom>
          <a:noFill/>
          <a:ln w="3175">
            <a:solidFill>
              <a:srgbClr val="E5EEF6">
                <a:alpha val="6500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0" y="3474720"/>
            <a:ext cx="12191695" cy="0"/>
          </a:xfrm>
          <a:prstGeom prst="line">
            <a:avLst/>
          </a:prstGeom>
          <a:noFill/>
          <a:ln w="3175">
            <a:solidFill>
              <a:srgbClr val="E5EEF6">
                <a:alpha val="6500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0" y="3886200"/>
            <a:ext cx="12191695" cy="0"/>
          </a:xfrm>
          <a:prstGeom prst="line">
            <a:avLst/>
          </a:prstGeom>
          <a:noFill/>
          <a:ln w="3175">
            <a:solidFill>
              <a:srgbClr val="E5EEF6">
                <a:alpha val="65000"/>
              </a:srgbClr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0" y="4297680"/>
            <a:ext cx="12191695" cy="0"/>
          </a:xfrm>
          <a:prstGeom prst="line">
            <a:avLst/>
          </a:prstGeom>
          <a:noFill/>
          <a:ln w="3175">
            <a:solidFill>
              <a:srgbClr val="E5EEF6">
                <a:alpha val="65000"/>
              </a:srgbClr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0" y="4709160"/>
            <a:ext cx="12191695" cy="0"/>
          </a:xfrm>
          <a:prstGeom prst="line">
            <a:avLst/>
          </a:prstGeom>
          <a:noFill/>
          <a:ln w="3175">
            <a:solidFill>
              <a:srgbClr val="E5EEF6">
                <a:alpha val="65000"/>
              </a:srgbClr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0" y="5120640"/>
            <a:ext cx="12191695" cy="0"/>
          </a:xfrm>
          <a:prstGeom prst="line">
            <a:avLst/>
          </a:prstGeom>
          <a:noFill/>
          <a:ln w="3175">
            <a:solidFill>
              <a:srgbClr val="E5EEF6">
                <a:alpha val="65000"/>
              </a:srgbClr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0" y="5532120"/>
            <a:ext cx="12191695" cy="0"/>
          </a:xfrm>
          <a:prstGeom prst="line">
            <a:avLst/>
          </a:prstGeom>
          <a:noFill/>
          <a:ln w="3175">
            <a:solidFill>
              <a:srgbClr val="E5EEF6">
                <a:alpha val="65000"/>
              </a:srgbClr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0" y="5943600"/>
            <a:ext cx="12191695" cy="0"/>
          </a:xfrm>
          <a:prstGeom prst="line">
            <a:avLst/>
          </a:prstGeom>
          <a:noFill/>
          <a:ln w="3175">
            <a:solidFill>
              <a:srgbClr val="E5EEF6">
                <a:alpha val="65000"/>
              </a:srgbClr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0" y="6355080"/>
            <a:ext cx="12191695" cy="0"/>
          </a:xfrm>
          <a:prstGeom prst="line">
            <a:avLst/>
          </a:prstGeom>
          <a:noFill/>
          <a:ln w="3175">
            <a:solidFill>
              <a:srgbClr val="E5EEF6">
                <a:alpha val="65000"/>
              </a:srgbClr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DDEDF8">
              <a:alpha val="90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75488" y="329184"/>
            <a:ext cx="3291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2B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1300" dirty="0"/>
          </a:p>
        </p:txBody>
      </p:sp>
      <p:sp>
        <p:nvSpPr>
          <p:cNvPr id="51" name="Text 49"/>
          <p:cNvSpPr/>
          <p:nvPr/>
        </p:nvSpPr>
        <p:spPr>
          <a:xfrm>
            <a:off x="841248" y="310896"/>
            <a:ext cx="7863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723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硬件设计：围绕主控构建显示、存储、时间和电源链路</a:t>
            </a:r>
            <a:endParaRPr lang="en-US" sz="1800" dirty="0"/>
          </a:p>
        </p:txBody>
      </p:sp>
      <p:sp>
        <p:nvSpPr>
          <p:cNvPr id="52" name="Text 50"/>
          <p:cNvSpPr/>
          <p:nvPr/>
        </p:nvSpPr>
        <p:spPr>
          <a:xfrm>
            <a:off x="841248" y="621792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0B63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HARDWARE DESIGN</a:t>
            </a:r>
            <a:endParaRPr lang="en-US" sz="750" dirty="0"/>
          </a:p>
        </p:txBody>
      </p:sp>
      <p:sp>
        <p:nvSpPr>
          <p:cNvPr id="53" name="Shape 51"/>
          <p:cNvSpPr/>
          <p:nvPr/>
        </p:nvSpPr>
        <p:spPr>
          <a:xfrm>
            <a:off x="777240" y="1325880"/>
            <a:ext cx="4800600" cy="82296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0160">
            <a:solidFill>
              <a:srgbClr val="D8E4EE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777240" y="1325880"/>
            <a:ext cx="45720" cy="822960"/>
          </a:xfrm>
          <a:prstGeom prst="rect">
            <a:avLst/>
          </a:prstGeom>
          <a:solidFill>
            <a:srgbClr val="0B63B6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941832" y="1481328"/>
            <a:ext cx="44714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172335"/>
                </a:solidFill>
              </a:rPr>
              <a:t>核心主控</a:t>
            </a:r>
            <a:endParaRPr lang="en-US" sz="1450" dirty="0"/>
          </a:p>
        </p:txBody>
      </p:sp>
      <p:sp>
        <p:nvSpPr>
          <p:cNvPr id="56" name="Text 54"/>
          <p:cNvSpPr/>
          <p:nvPr/>
        </p:nvSpPr>
        <p:spPr>
          <a:xfrm>
            <a:off x="941832" y="1801368"/>
            <a:ext cx="4471416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5D6D7E"/>
                </a:solidFill>
              </a:rPr>
              <a:t>ESP32-S3R8芯片级最小系统，外接16MB Flash和40MHz晶振，兼顾集成度与扩展能力。</a:t>
            </a:r>
            <a:endParaRPr lang="en-US" sz="1000" dirty="0"/>
          </a:p>
        </p:txBody>
      </p:sp>
      <p:sp>
        <p:nvSpPr>
          <p:cNvPr id="57" name="Shape 55"/>
          <p:cNvSpPr/>
          <p:nvPr/>
        </p:nvSpPr>
        <p:spPr>
          <a:xfrm>
            <a:off x="6309360" y="1325880"/>
            <a:ext cx="4800600" cy="82296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0160">
            <a:solidFill>
              <a:srgbClr val="D8E4EE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6309360" y="1325880"/>
            <a:ext cx="45720" cy="822960"/>
          </a:xfrm>
          <a:prstGeom prst="rect">
            <a:avLst/>
          </a:prstGeom>
          <a:solidFill>
            <a:srgbClr val="22B8D7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6473952" y="1481328"/>
            <a:ext cx="44714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172335"/>
                </a:solidFill>
              </a:rPr>
              <a:t>显示触控</a:t>
            </a:r>
            <a:endParaRPr lang="en-US" sz="1450" dirty="0"/>
          </a:p>
        </p:txBody>
      </p:sp>
      <p:sp>
        <p:nvSpPr>
          <p:cNvPr id="60" name="Text 58"/>
          <p:cNvSpPr/>
          <p:nvPr/>
        </p:nvSpPr>
        <p:spPr>
          <a:xfrm>
            <a:off x="6473952" y="1801368"/>
            <a:ext cx="4471416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5D6D7E"/>
                </a:solidFill>
              </a:rPr>
              <a:t>1.83英寸240×284触控屏，ST7789P3走SPI显示，CST816T走I2C并支持中断唤醒。</a:t>
            </a:r>
            <a:endParaRPr lang="en-US" sz="1000" dirty="0"/>
          </a:p>
        </p:txBody>
      </p:sp>
      <p:sp>
        <p:nvSpPr>
          <p:cNvPr id="61" name="Shape 59"/>
          <p:cNvSpPr/>
          <p:nvPr/>
        </p:nvSpPr>
        <p:spPr>
          <a:xfrm>
            <a:off x="777240" y="2496312"/>
            <a:ext cx="4800600" cy="82296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0160">
            <a:solidFill>
              <a:srgbClr val="D8E4EE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777240" y="2496312"/>
            <a:ext cx="45720" cy="822960"/>
          </a:xfrm>
          <a:prstGeom prst="rect">
            <a:avLst/>
          </a:prstGeom>
          <a:solidFill>
            <a:srgbClr val="F28B2E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941832" y="2651760"/>
            <a:ext cx="44714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172335"/>
                </a:solidFill>
              </a:rPr>
              <a:t>存储系统</a:t>
            </a:r>
            <a:endParaRPr lang="en-US" sz="1450" dirty="0"/>
          </a:p>
        </p:txBody>
      </p:sp>
      <p:sp>
        <p:nvSpPr>
          <p:cNvPr id="64" name="Text 62"/>
          <p:cNvSpPr/>
          <p:nvPr/>
        </p:nvSpPr>
        <p:spPr>
          <a:xfrm>
            <a:off x="941832" y="2971800"/>
            <a:ext cx="4471416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5D6D7E"/>
                </a:solidFill>
              </a:rPr>
              <a:t>Micro SD卡保存图片、视频、小说和本地升级包；W25Q128提供非易失扩展。</a:t>
            </a:r>
            <a:endParaRPr lang="en-US" sz="1000" dirty="0"/>
          </a:p>
        </p:txBody>
      </p:sp>
      <p:sp>
        <p:nvSpPr>
          <p:cNvPr id="65" name="Shape 63"/>
          <p:cNvSpPr/>
          <p:nvPr/>
        </p:nvSpPr>
        <p:spPr>
          <a:xfrm>
            <a:off x="6309360" y="2496312"/>
            <a:ext cx="4800600" cy="82296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0160">
            <a:solidFill>
              <a:srgbClr val="D8E4EE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6309360" y="2496312"/>
            <a:ext cx="45720" cy="822960"/>
          </a:xfrm>
          <a:prstGeom prst="rect">
            <a:avLst/>
          </a:prstGeom>
          <a:solidFill>
            <a:srgbClr val="31A36B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6473952" y="2651760"/>
            <a:ext cx="44714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172335"/>
                </a:solidFill>
              </a:rPr>
              <a:t>时间基准</a:t>
            </a:r>
            <a:endParaRPr lang="en-US" sz="1450" dirty="0"/>
          </a:p>
        </p:txBody>
      </p:sp>
      <p:sp>
        <p:nvSpPr>
          <p:cNvPr id="68" name="Text 66"/>
          <p:cNvSpPr/>
          <p:nvPr/>
        </p:nvSpPr>
        <p:spPr>
          <a:xfrm>
            <a:off x="6473952" y="2971800"/>
            <a:ext cx="4471416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5D6D7E"/>
                </a:solidFill>
              </a:rPr>
              <a:t>SD3078独立RTC用于断网/掉电场景下的时间保持，并支持网络校时回写。</a:t>
            </a:r>
            <a:endParaRPr lang="en-US" sz="1000" dirty="0"/>
          </a:p>
        </p:txBody>
      </p:sp>
      <p:sp>
        <p:nvSpPr>
          <p:cNvPr id="69" name="Shape 67"/>
          <p:cNvSpPr/>
          <p:nvPr/>
        </p:nvSpPr>
        <p:spPr>
          <a:xfrm>
            <a:off x="777240" y="3666744"/>
            <a:ext cx="4983480" cy="82296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0160">
            <a:solidFill>
              <a:srgbClr val="D8E4EE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777240" y="3666744"/>
            <a:ext cx="45720" cy="822960"/>
          </a:xfrm>
          <a:prstGeom prst="rect">
            <a:avLst/>
          </a:prstGeom>
          <a:solidFill>
            <a:srgbClr val="D65757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941832" y="3822192"/>
            <a:ext cx="46542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172335"/>
                </a:solidFill>
              </a:rPr>
              <a:t>电源管理</a:t>
            </a:r>
            <a:endParaRPr lang="en-US" sz="1450" dirty="0"/>
          </a:p>
        </p:txBody>
      </p:sp>
      <p:sp>
        <p:nvSpPr>
          <p:cNvPr id="72" name="Text 70"/>
          <p:cNvSpPr/>
          <p:nvPr/>
        </p:nvSpPr>
        <p:spPr>
          <a:xfrm>
            <a:off x="941832" y="4142232"/>
            <a:ext cx="4654296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5D6D7E"/>
                </a:solidFill>
              </a:rPr>
              <a:t>锂电池充电与ME6217 LDO供电，配合背光、WiFi和休眠策略控制整机功耗。</a:t>
            </a:r>
            <a:endParaRPr lang="en-US" sz="1000" dirty="0"/>
          </a:p>
        </p:txBody>
      </p:sp>
      <p:sp>
        <p:nvSpPr>
          <p:cNvPr id="73" name="Text 71"/>
          <p:cNvSpPr/>
          <p:nvPr/>
        </p:nvSpPr>
        <p:spPr>
          <a:xfrm>
            <a:off x="502920" y="6565392"/>
            <a:ext cx="5212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7E8FA3"/>
                </a:solidFill>
              </a:rPr>
              <a:t>基于ESP32-S3R8与LVGL的低功耗触控智能手表系统设计与实现</a:t>
            </a:r>
            <a:endParaRPr lang="en-US" sz="700" dirty="0"/>
          </a:p>
        </p:txBody>
      </p:sp>
      <p:sp>
        <p:nvSpPr>
          <p:cNvPr id="74" name="Text 72"/>
          <p:cNvSpPr/>
          <p:nvPr/>
        </p:nvSpPr>
        <p:spPr>
          <a:xfrm>
            <a:off x="11356848" y="6528816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0B63B6"/>
                </a:solidFill>
              </a:rPr>
              <a:t>06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 w="12700">
            <a:solidFill>
              <a:srgbClr val="F4F8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82880" y="0"/>
            <a:ext cx="0" cy="6858000"/>
          </a:xfrm>
          <a:prstGeom prst="line">
            <a:avLst/>
          </a:prstGeom>
          <a:noFill/>
          <a:ln w="3175">
            <a:solidFill>
              <a:srgbClr val="E5EEF6">
                <a:alpha val="6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94360" y="0"/>
            <a:ext cx="0" cy="6858000"/>
          </a:xfrm>
          <a:prstGeom prst="line">
            <a:avLst/>
          </a:prstGeom>
          <a:noFill/>
          <a:ln w="3175">
            <a:solidFill>
              <a:srgbClr val="E5EEF6">
                <a:alpha val="6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05840" y="0"/>
            <a:ext cx="0" cy="6858000"/>
          </a:xfrm>
          <a:prstGeom prst="line">
            <a:avLst/>
          </a:prstGeom>
          <a:noFill/>
          <a:ln w="3175">
            <a:solidFill>
              <a:srgbClr val="E5EEF6">
                <a:alpha val="6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417320" y="0"/>
            <a:ext cx="0" cy="6858000"/>
          </a:xfrm>
          <a:prstGeom prst="line">
            <a:avLst/>
          </a:prstGeom>
          <a:noFill/>
          <a:ln w="3175">
            <a:solidFill>
              <a:srgbClr val="E5EEF6">
                <a:alpha val="6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828800" y="0"/>
            <a:ext cx="0" cy="6858000"/>
          </a:xfrm>
          <a:prstGeom prst="line">
            <a:avLst/>
          </a:prstGeom>
          <a:noFill/>
          <a:ln w="3175">
            <a:solidFill>
              <a:srgbClr val="E5EEF6">
                <a:alpha val="65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240280" y="0"/>
            <a:ext cx="0" cy="6858000"/>
          </a:xfrm>
          <a:prstGeom prst="line">
            <a:avLst/>
          </a:prstGeom>
          <a:noFill/>
          <a:ln w="3175">
            <a:solidFill>
              <a:srgbClr val="E5EEF6">
                <a:alpha val="65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651760" y="0"/>
            <a:ext cx="0" cy="6858000"/>
          </a:xfrm>
          <a:prstGeom prst="line">
            <a:avLst/>
          </a:prstGeom>
          <a:noFill/>
          <a:ln w="3175">
            <a:solidFill>
              <a:srgbClr val="E5EEF6">
                <a:alpha val="65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063240" y="0"/>
            <a:ext cx="0" cy="6858000"/>
          </a:xfrm>
          <a:prstGeom prst="line">
            <a:avLst/>
          </a:prstGeom>
          <a:noFill/>
          <a:ln w="3175">
            <a:solidFill>
              <a:srgbClr val="E5EEF6">
                <a:alpha val="65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474720" y="0"/>
            <a:ext cx="0" cy="6858000"/>
          </a:xfrm>
          <a:prstGeom prst="line">
            <a:avLst/>
          </a:prstGeom>
          <a:noFill/>
          <a:ln w="3175">
            <a:solidFill>
              <a:srgbClr val="E5EEF6">
                <a:alpha val="65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886200" y="0"/>
            <a:ext cx="0" cy="6858000"/>
          </a:xfrm>
          <a:prstGeom prst="line">
            <a:avLst/>
          </a:prstGeom>
          <a:noFill/>
          <a:ln w="3175">
            <a:solidFill>
              <a:srgbClr val="E5EEF6">
                <a:alpha val="65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297680" y="0"/>
            <a:ext cx="0" cy="6858000"/>
          </a:xfrm>
          <a:prstGeom prst="line">
            <a:avLst/>
          </a:prstGeom>
          <a:noFill/>
          <a:ln w="3175">
            <a:solidFill>
              <a:srgbClr val="E5EEF6">
                <a:alpha val="65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709160" y="0"/>
            <a:ext cx="0" cy="6858000"/>
          </a:xfrm>
          <a:prstGeom prst="line">
            <a:avLst/>
          </a:prstGeom>
          <a:noFill/>
          <a:ln w="3175">
            <a:solidFill>
              <a:srgbClr val="E5EEF6">
                <a:alpha val="65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120640" y="0"/>
            <a:ext cx="0" cy="6858000"/>
          </a:xfrm>
          <a:prstGeom prst="line">
            <a:avLst/>
          </a:prstGeom>
          <a:noFill/>
          <a:ln w="3175">
            <a:solidFill>
              <a:srgbClr val="E5EEF6">
                <a:alpha val="65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532120" y="0"/>
            <a:ext cx="0" cy="6858000"/>
          </a:xfrm>
          <a:prstGeom prst="line">
            <a:avLst/>
          </a:prstGeom>
          <a:noFill/>
          <a:ln w="3175">
            <a:solidFill>
              <a:srgbClr val="E5EEF6">
                <a:alpha val="65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943600" y="0"/>
            <a:ext cx="0" cy="6858000"/>
          </a:xfrm>
          <a:prstGeom prst="line">
            <a:avLst/>
          </a:prstGeom>
          <a:noFill/>
          <a:ln w="3175">
            <a:solidFill>
              <a:srgbClr val="E5EEF6">
                <a:alpha val="65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355080" y="0"/>
            <a:ext cx="0" cy="6858000"/>
          </a:xfrm>
          <a:prstGeom prst="line">
            <a:avLst/>
          </a:prstGeom>
          <a:noFill/>
          <a:ln w="3175">
            <a:solidFill>
              <a:srgbClr val="E5EEF6">
                <a:alpha val="65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766560" y="0"/>
            <a:ext cx="0" cy="6858000"/>
          </a:xfrm>
          <a:prstGeom prst="line">
            <a:avLst/>
          </a:prstGeom>
          <a:noFill/>
          <a:ln w="3175">
            <a:solidFill>
              <a:srgbClr val="E5EEF6">
                <a:alpha val="65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178040" y="0"/>
            <a:ext cx="0" cy="6858000"/>
          </a:xfrm>
          <a:prstGeom prst="line">
            <a:avLst/>
          </a:prstGeom>
          <a:noFill/>
          <a:ln w="3175">
            <a:solidFill>
              <a:srgbClr val="E5EEF6">
                <a:alpha val="65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589520" y="0"/>
            <a:ext cx="0" cy="6858000"/>
          </a:xfrm>
          <a:prstGeom prst="line">
            <a:avLst/>
          </a:prstGeom>
          <a:noFill/>
          <a:ln w="3175">
            <a:solidFill>
              <a:srgbClr val="E5EEF6">
                <a:alpha val="65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001000" y="0"/>
            <a:ext cx="0" cy="6858000"/>
          </a:xfrm>
          <a:prstGeom prst="line">
            <a:avLst/>
          </a:prstGeom>
          <a:noFill/>
          <a:ln w="3175">
            <a:solidFill>
              <a:srgbClr val="E5EEF6">
                <a:alpha val="65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412480" y="0"/>
            <a:ext cx="0" cy="6858000"/>
          </a:xfrm>
          <a:prstGeom prst="line">
            <a:avLst/>
          </a:prstGeom>
          <a:noFill/>
          <a:ln w="3175">
            <a:solidFill>
              <a:srgbClr val="E5EEF6">
                <a:alpha val="65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823960" y="0"/>
            <a:ext cx="0" cy="6858000"/>
          </a:xfrm>
          <a:prstGeom prst="line">
            <a:avLst/>
          </a:prstGeom>
          <a:noFill/>
          <a:ln w="3175">
            <a:solidFill>
              <a:srgbClr val="E5EEF6">
                <a:alpha val="65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9235440" y="0"/>
            <a:ext cx="0" cy="6858000"/>
          </a:xfrm>
          <a:prstGeom prst="line">
            <a:avLst/>
          </a:prstGeom>
          <a:noFill/>
          <a:ln w="3175">
            <a:solidFill>
              <a:srgbClr val="E5EEF6">
                <a:alpha val="65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9646920" y="0"/>
            <a:ext cx="0" cy="6858000"/>
          </a:xfrm>
          <a:prstGeom prst="line">
            <a:avLst/>
          </a:prstGeom>
          <a:noFill/>
          <a:ln w="3175">
            <a:solidFill>
              <a:srgbClr val="E5EEF6">
                <a:alpha val="65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0058400" y="0"/>
            <a:ext cx="0" cy="6858000"/>
          </a:xfrm>
          <a:prstGeom prst="line">
            <a:avLst/>
          </a:prstGeom>
          <a:noFill/>
          <a:ln w="3175">
            <a:solidFill>
              <a:srgbClr val="E5EEF6">
                <a:alpha val="65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0469880" y="0"/>
            <a:ext cx="0" cy="6858000"/>
          </a:xfrm>
          <a:prstGeom prst="line">
            <a:avLst/>
          </a:prstGeom>
          <a:noFill/>
          <a:ln w="3175">
            <a:solidFill>
              <a:srgbClr val="E5EEF6">
                <a:alpha val="65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0881360" y="0"/>
            <a:ext cx="0" cy="6858000"/>
          </a:xfrm>
          <a:prstGeom prst="line">
            <a:avLst/>
          </a:prstGeom>
          <a:noFill/>
          <a:ln w="3175">
            <a:solidFill>
              <a:srgbClr val="E5EEF6">
                <a:alpha val="65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1292840" y="0"/>
            <a:ext cx="0" cy="6858000"/>
          </a:xfrm>
          <a:prstGeom prst="line">
            <a:avLst/>
          </a:prstGeom>
          <a:noFill/>
          <a:ln w="3175">
            <a:solidFill>
              <a:srgbClr val="E5EEF6">
                <a:alpha val="65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1704320" y="0"/>
            <a:ext cx="0" cy="6858000"/>
          </a:xfrm>
          <a:prstGeom prst="line">
            <a:avLst/>
          </a:prstGeom>
          <a:noFill/>
          <a:ln w="3175">
            <a:solidFill>
              <a:srgbClr val="E5EEF6">
                <a:alpha val="65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12115800" y="0"/>
            <a:ext cx="0" cy="6858000"/>
          </a:xfrm>
          <a:prstGeom prst="line">
            <a:avLst/>
          </a:prstGeom>
          <a:noFill/>
          <a:ln w="3175">
            <a:solidFill>
              <a:srgbClr val="E5EEF6">
                <a:alpha val="65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182880"/>
            <a:ext cx="12191695" cy="0"/>
          </a:xfrm>
          <a:prstGeom prst="line">
            <a:avLst/>
          </a:prstGeom>
          <a:noFill/>
          <a:ln w="3175">
            <a:solidFill>
              <a:srgbClr val="E5EEF6">
                <a:alpha val="65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594360"/>
            <a:ext cx="12191695" cy="0"/>
          </a:xfrm>
          <a:prstGeom prst="line">
            <a:avLst/>
          </a:prstGeom>
          <a:noFill/>
          <a:ln w="3175">
            <a:solidFill>
              <a:srgbClr val="E5EEF6">
                <a:alpha val="65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0" y="1005840"/>
            <a:ext cx="12191695" cy="0"/>
          </a:xfrm>
          <a:prstGeom prst="line">
            <a:avLst/>
          </a:prstGeom>
          <a:noFill/>
          <a:ln w="3175">
            <a:solidFill>
              <a:srgbClr val="E5EEF6">
                <a:alpha val="6500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0" y="1417320"/>
            <a:ext cx="12191695" cy="0"/>
          </a:xfrm>
          <a:prstGeom prst="line">
            <a:avLst/>
          </a:prstGeom>
          <a:noFill/>
          <a:ln w="3175">
            <a:solidFill>
              <a:srgbClr val="E5EEF6">
                <a:alpha val="6500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0" y="1828800"/>
            <a:ext cx="12191695" cy="0"/>
          </a:xfrm>
          <a:prstGeom prst="line">
            <a:avLst/>
          </a:prstGeom>
          <a:noFill/>
          <a:ln w="3175">
            <a:solidFill>
              <a:srgbClr val="E5EEF6">
                <a:alpha val="6500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0" y="2240280"/>
            <a:ext cx="12191695" cy="0"/>
          </a:xfrm>
          <a:prstGeom prst="line">
            <a:avLst/>
          </a:prstGeom>
          <a:noFill/>
          <a:ln w="3175">
            <a:solidFill>
              <a:srgbClr val="E5EEF6">
                <a:alpha val="6500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0" y="2651760"/>
            <a:ext cx="12191695" cy="0"/>
          </a:xfrm>
          <a:prstGeom prst="line">
            <a:avLst/>
          </a:prstGeom>
          <a:noFill/>
          <a:ln w="3175">
            <a:solidFill>
              <a:srgbClr val="E5EEF6">
                <a:alpha val="6500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0" y="3063240"/>
            <a:ext cx="12191695" cy="0"/>
          </a:xfrm>
          <a:prstGeom prst="line">
            <a:avLst/>
          </a:prstGeom>
          <a:noFill/>
          <a:ln w="3175">
            <a:solidFill>
              <a:srgbClr val="E5EEF6">
                <a:alpha val="6500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0" y="3474720"/>
            <a:ext cx="12191695" cy="0"/>
          </a:xfrm>
          <a:prstGeom prst="line">
            <a:avLst/>
          </a:prstGeom>
          <a:noFill/>
          <a:ln w="3175">
            <a:solidFill>
              <a:srgbClr val="E5EEF6">
                <a:alpha val="6500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0" y="3886200"/>
            <a:ext cx="12191695" cy="0"/>
          </a:xfrm>
          <a:prstGeom prst="line">
            <a:avLst/>
          </a:prstGeom>
          <a:noFill/>
          <a:ln w="3175">
            <a:solidFill>
              <a:srgbClr val="E5EEF6">
                <a:alpha val="65000"/>
              </a:srgbClr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0" y="4297680"/>
            <a:ext cx="12191695" cy="0"/>
          </a:xfrm>
          <a:prstGeom prst="line">
            <a:avLst/>
          </a:prstGeom>
          <a:noFill/>
          <a:ln w="3175">
            <a:solidFill>
              <a:srgbClr val="E5EEF6">
                <a:alpha val="65000"/>
              </a:srgbClr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0" y="4709160"/>
            <a:ext cx="12191695" cy="0"/>
          </a:xfrm>
          <a:prstGeom prst="line">
            <a:avLst/>
          </a:prstGeom>
          <a:noFill/>
          <a:ln w="3175">
            <a:solidFill>
              <a:srgbClr val="E5EEF6">
                <a:alpha val="65000"/>
              </a:srgbClr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0" y="5120640"/>
            <a:ext cx="12191695" cy="0"/>
          </a:xfrm>
          <a:prstGeom prst="line">
            <a:avLst/>
          </a:prstGeom>
          <a:noFill/>
          <a:ln w="3175">
            <a:solidFill>
              <a:srgbClr val="E5EEF6">
                <a:alpha val="65000"/>
              </a:srgbClr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0" y="5532120"/>
            <a:ext cx="12191695" cy="0"/>
          </a:xfrm>
          <a:prstGeom prst="line">
            <a:avLst/>
          </a:prstGeom>
          <a:noFill/>
          <a:ln w="3175">
            <a:solidFill>
              <a:srgbClr val="E5EEF6">
                <a:alpha val="65000"/>
              </a:srgbClr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0" y="5943600"/>
            <a:ext cx="12191695" cy="0"/>
          </a:xfrm>
          <a:prstGeom prst="line">
            <a:avLst/>
          </a:prstGeom>
          <a:noFill/>
          <a:ln w="3175">
            <a:solidFill>
              <a:srgbClr val="E5EEF6">
                <a:alpha val="65000"/>
              </a:srgbClr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0" y="6355080"/>
            <a:ext cx="12191695" cy="0"/>
          </a:xfrm>
          <a:prstGeom prst="line">
            <a:avLst/>
          </a:prstGeom>
          <a:noFill/>
          <a:ln w="3175">
            <a:solidFill>
              <a:srgbClr val="E5EEF6">
                <a:alpha val="65000"/>
              </a:srgbClr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DDEDF8">
              <a:alpha val="90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75488" y="329184"/>
            <a:ext cx="3291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2B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1300" dirty="0"/>
          </a:p>
        </p:txBody>
      </p:sp>
      <p:sp>
        <p:nvSpPr>
          <p:cNvPr id="51" name="Text 49"/>
          <p:cNvSpPr/>
          <p:nvPr/>
        </p:nvSpPr>
        <p:spPr>
          <a:xfrm>
            <a:off x="841248" y="310896"/>
            <a:ext cx="7863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723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软件设计：业务层处理状态，显示层统一刷新</a:t>
            </a:r>
            <a:endParaRPr lang="en-US" sz="1800" dirty="0"/>
          </a:p>
        </p:txBody>
      </p:sp>
      <p:sp>
        <p:nvSpPr>
          <p:cNvPr id="52" name="Text 50"/>
          <p:cNvSpPr/>
          <p:nvPr/>
        </p:nvSpPr>
        <p:spPr>
          <a:xfrm>
            <a:off x="841248" y="621792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0B63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SOFTWARE DESIGN</a:t>
            </a:r>
            <a:endParaRPr lang="en-US" sz="750" dirty="0"/>
          </a:p>
        </p:txBody>
      </p:sp>
      <p:sp>
        <p:nvSpPr>
          <p:cNvPr id="53" name="Shape 51"/>
          <p:cNvSpPr/>
          <p:nvPr/>
        </p:nvSpPr>
        <p:spPr>
          <a:xfrm>
            <a:off x="914400" y="1298448"/>
            <a:ext cx="2194560" cy="6858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0B63B6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987552" y="1435608"/>
            <a:ext cx="2048256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72335"/>
                </a:solidFill>
              </a:rPr>
              <a:t>硬件层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172335"/>
                </a:solidFill>
              </a:rPr>
              <a:t>SPI / I2C / GPIO / WiFi</a:t>
            </a:r>
            <a:endParaRPr lang="en-US" sz="1050" dirty="0"/>
          </a:p>
        </p:txBody>
      </p:sp>
      <p:sp>
        <p:nvSpPr>
          <p:cNvPr id="55" name="Shape 53"/>
          <p:cNvSpPr/>
          <p:nvPr/>
        </p:nvSpPr>
        <p:spPr>
          <a:xfrm>
            <a:off x="3657600" y="1298448"/>
            <a:ext cx="2194560" cy="6858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F28B2E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3730752" y="1435608"/>
            <a:ext cx="2048256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72335"/>
                </a:solidFill>
              </a:rPr>
              <a:t>应用层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172335"/>
                </a:solidFill>
              </a:rPr>
              <a:t>多媒体 / 时间 / OTA / 功耗</a:t>
            </a:r>
            <a:endParaRPr lang="en-US" sz="1050" dirty="0"/>
          </a:p>
        </p:txBody>
      </p:sp>
      <p:sp>
        <p:nvSpPr>
          <p:cNvPr id="57" name="Shape 55"/>
          <p:cNvSpPr/>
          <p:nvPr/>
        </p:nvSpPr>
        <p:spPr>
          <a:xfrm>
            <a:off x="6400800" y="1298448"/>
            <a:ext cx="2194560" cy="6858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22B8D7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6473952" y="1435608"/>
            <a:ext cx="2048256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72335"/>
                </a:solidFill>
              </a:rPr>
              <a:t>消息队列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172335"/>
                </a:solidFill>
              </a:rPr>
              <a:t>业务状态同步</a:t>
            </a:r>
            <a:endParaRPr lang="en-US" sz="1050" dirty="0"/>
          </a:p>
        </p:txBody>
      </p:sp>
      <p:sp>
        <p:nvSpPr>
          <p:cNvPr id="59" name="Shape 57"/>
          <p:cNvSpPr/>
          <p:nvPr/>
        </p:nvSpPr>
        <p:spPr>
          <a:xfrm>
            <a:off x="9144000" y="1298448"/>
            <a:ext cx="2194560" cy="6858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31A36B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9217152" y="1435608"/>
            <a:ext cx="2048256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72335"/>
                </a:solidFill>
              </a:rPr>
              <a:t>显示层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172335"/>
                </a:solidFill>
              </a:rPr>
              <a:t>LVGL统一刷新</a:t>
            </a:r>
            <a:endParaRPr lang="en-US" sz="1050" dirty="0"/>
          </a:p>
        </p:txBody>
      </p:sp>
      <p:sp>
        <p:nvSpPr>
          <p:cNvPr id="61" name="Shape 59"/>
          <p:cNvSpPr/>
          <p:nvPr/>
        </p:nvSpPr>
        <p:spPr>
          <a:xfrm>
            <a:off x="3108960" y="1627632"/>
            <a:ext cx="548640" cy="0"/>
          </a:xfrm>
          <a:prstGeom prst="line">
            <a:avLst/>
          </a:prstGeom>
          <a:noFill/>
          <a:ln w="15240">
            <a:solidFill>
              <a:srgbClr val="0B63B6"/>
            </a:solidFill>
            <a:prstDash val="solid"/>
            <a:tailEnd type="triangle"/>
          </a:ln>
        </p:spPr>
      </p:sp>
      <p:sp>
        <p:nvSpPr>
          <p:cNvPr id="62" name="Shape 60"/>
          <p:cNvSpPr/>
          <p:nvPr/>
        </p:nvSpPr>
        <p:spPr>
          <a:xfrm>
            <a:off x="5852160" y="1627632"/>
            <a:ext cx="548640" cy="0"/>
          </a:xfrm>
          <a:prstGeom prst="line">
            <a:avLst/>
          </a:prstGeom>
          <a:noFill/>
          <a:ln w="15240">
            <a:solidFill>
              <a:srgbClr val="0B63B6"/>
            </a:solidFill>
            <a:prstDash val="solid"/>
            <a:tailEnd type="triangle"/>
          </a:ln>
        </p:spPr>
      </p:sp>
      <p:sp>
        <p:nvSpPr>
          <p:cNvPr id="63" name="Shape 61"/>
          <p:cNvSpPr/>
          <p:nvPr/>
        </p:nvSpPr>
        <p:spPr>
          <a:xfrm>
            <a:off x="8595360" y="1627632"/>
            <a:ext cx="548640" cy="0"/>
          </a:xfrm>
          <a:prstGeom prst="line">
            <a:avLst/>
          </a:prstGeom>
          <a:noFill/>
          <a:ln w="15240">
            <a:solidFill>
              <a:srgbClr val="0B63B6"/>
            </a:solidFill>
            <a:prstDash val="solid"/>
            <a:tailEnd type="triangle"/>
          </a:ln>
        </p:spPr>
      </p:sp>
      <p:sp>
        <p:nvSpPr>
          <p:cNvPr id="64" name="Shape 62"/>
          <p:cNvSpPr/>
          <p:nvPr/>
        </p:nvSpPr>
        <p:spPr>
          <a:xfrm>
            <a:off x="914400" y="2743200"/>
            <a:ext cx="4480560" cy="749808"/>
          </a:xfrm>
          <a:prstGeom prst="roundRect">
            <a:avLst>
              <a:gd name="adj" fmla="val 6098"/>
            </a:avLst>
          </a:prstGeom>
          <a:solidFill>
            <a:srgbClr val="FFFFFF"/>
          </a:solidFill>
          <a:ln w="10160">
            <a:solidFill>
              <a:srgbClr val="D8E4EE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914400" y="2743200"/>
            <a:ext cx="45720" cy="749808"/>
          </a:xfrm>
          <a:prstGeom prst="rect">
            <a:avLst/>
          </a:prstGeom>
          <a:solidFill>
            <a:srgbClr val="0B63B6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1078992" y="2898648"/>
            <a:ext cx="41513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72335"/>
                </a:solidFill>
              </a:rPr>
              <a:t>UI主线程</a:t>
            </a:r>
            <a:endParaRPr lang="en-US" sz="1400" dirty="0"/>
          </a:p>
        </p:txBody>
      </p:sp>
      <p:sp>
        <p:nvSpPr>
          <p:cNvPr id="67" name="Text 65"/>
          <p:cNvSpPr/>
          <p:nvPr/>
        </p:nvSpPr>
        <p:spPr>
          <a:xfrm>
            <a:off x="1078992" y="3218688"/>
            <a:ext cx="4151376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5D6D7E"/>
                </a:solidFill>
              </a:rPr>
              <a:t>负责LVGL刷新与触摸事件分发，避免业务任务直接操作屏幕。</a:t>
            </a:r>
            <a:endParaRPr lang="en-US" sz="980" dirty="0"/>
          </a:p>
        </p:txBody>
      </p:sp>
      <p:sp>
        <p:nvSpPr>
          <p:cNvPr id="68" name="Shape 66"/>
          <p:cNvSpPr/>
          <p:nvPr/>
        </p:nvSpPr>
        <p:spPr>
          <a:xfrm>
            <a:off x="6217920" y="2743200"/>
            <a:ext cx="4480560" cy="749808"/>
          </a:xfrm>
          <a:prstGeom prst="roundRect">
            <a:avLst>
              <a:gd name="adj" fmla="val 6098"/>
            </a:avLst>
          </a:prstGeom>
          <a:solidFill>
            <a:srgbClr val="FFFFFF"/>
          </a:solidFill>
          <a:ln w="10160">
            <a:solidFill>
              <a:srgbClr val="D8E4EE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6217920" y="2743200"/>
            <a:ext cx="45720" cy="749808"/>
          </a:xfrm>
          <a:prstGeom prst="rect">
            <a:avLst/>
          </a:prstGeom>
          <a:solidFill>
            <a:srgbClr val="F28B2E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6382512" y="2898648"/>
            <a:ext cx="41513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72335"/>
                </a:solidFill>
              </a:rPr>
              <a:t>存储工作线程</a:t>
            </a:r>
            <a:endParaRPr lang="en-US" sz="1400" dirty="0"/>
          </a:p>
        </p:txBody>
      </p:sp>
      <p:sp>
        <p:nvSpPr>
          <p:cNvPr id="71" name="Text 69"/>
          <p:cNvSpPr/>
          <p:nvPr/>
        </p:nvSpPr>
        <p:spPr>
          <a:xfrm>
            <a:off x="6382512" y="3218688"/>
            <a:ext cx="4151376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5D6D7E"/>
                </a:solidFill>
              </a:rPr>
              <a:t>异步读取SD卡小说、图片和视频帧，减少UI阻塞。</a:t>
            </a:r>
            <a:endParaRPr lang="en-US" sz="980" dirty="0"/>
          </a:p>
        </p:txBody>
      </p:sp>
      <p:sp>
        <p:nvSpPr>
          <p:cNvPr id="72" name="Shape 70"/>
          <p:cNvSpPr/>
          <p:nvPr/>
        </p:nvSpPr>
        <p:spPr>
          <a:xfrm>
            <a:off x="914400" y="3794760"/>
            <a:ext cx="4480560" cy="749808"/>
          </a:xfrm>
          <a:prstGeom prst="roundRect">
            <a:avLst>
              <a:gd name="adj" fmla="val 6098"/>
            </a:avLst>
          </a:prstGeom>
          <a:solidFill>
            <a:srgbClr val="FFFFFF"/>
          </a:solidFill>
          <a:ln w="10160">
            <a:solidFill>
              <a:srgbClr val="D8E4EE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914400" y="3794760"/>
            <a:ext cx="45720" cy="749808"/>
          </a:xfrm>
          <a:prstGeom prst="rect">
            <a:avLst/>
          </a:prstGeom>
          <a:solidFill>
            <a:srgbClr val="22B8D7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1078992" y="3950208"/>
            <a:ext cx="41513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72335"/>
                </a:solidFill>
              </a:rPr>
              <a:t>网络线程</a:t>
            </a:r>
            <a:endParaRPr lang="en-US" sz="1400" dirty="0"/>
          </a:p>
        </p:txBody>
      </p:sp>
      <p:sp>
        <p:nvSpPr>
          <p:cNvPr id="75" name="Text 73"/>
          <p:cNvSpPr/>
          <p:nvPr/>
        </p:nvSpPr>
        <p:spPr>
          <a:xfrm>
            <a:off x="1078992" y="4270248"/>
            <a:ext cx="4151376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5D6D7E"/>
                </a:solidFill>
              </a:rPr>
              <a:t>维护WiFi状态，处理NTP、天气、MQTT和OTA通知。</a:t>
            </a:r>
            <a:endParaRPr lang="en-US" sz="980" dirty="0"/>
          </a:p>
        </p:txBody>
      </p:sp>
      <p:sp>
        <p:nvSpPr>
          <p:cNvPr id="76" name="Shape 74"/>
          <p:cNvSpPr/>
          <p:nvPr/>
        </p:nvSpPr>
        <p:spPr>
          <a:xfrm>
            <a:off x="6217920" y="3794760"/>
            <a:ext cx="4480560" cy="749808"/>
          </a:xfrm>
          <a:prstGeom prst="roundRect">
            <a:avLst>
              <a:gd name="adj" fmla="val 6098"/>
            </a:avLst>
          </a:prstGeom>
          <a:solidFill>
            <a:srgbClr val="FFFFFF"/>
          </a:solidFill>
          <a:ln w="10160">
            <a:solidFill>
              <a:srgbClr val="D8E4EE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6217920" y="3794760"/>
            <a:ext cx="45720" cy="749808"/>
          </a:xfrm>
          <a:prstGeom prst="rect">
            <a:avLst/>
          </a:prstGeom>
          <a:solidFill>
            <a:srgbClr val="31A36B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6382512" y="3950208"/>
            <a:ext cx="41513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72335"/>
                </a:solidFill>
              </a:rPr>
              <a:t>低功耗任务</a:t>
            </a:r>
            <a:endParaRPr lang="en-US" sz="1400" dirty="0"/>
          </a:p>
        </p:txBody>
      </p:sp>
      <p:sp>
        <p:nvSpPr>
          <p:cNvPr id="79" name="Text 77"/>
          <p:cNvSpPr/>
          <p:nvPr/>
        </p:nvSpPr>
        <p:spPr>
          <a:xfrm>
            <a:off x="6382512" y="4270248"/>
            <a:ext cx="4151376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5D6D7E"/>
                </a:solidFill>
              </a:rPr>
              <a:t>监测空闲时间和按键状态，控制LightSleep与DeepSleep。</a:t>
            </a:r>
            <a:endParaRPr lang="en-US" sz="980" dirty="0"/>
          </a:p>
        </p:txBody>
      </p:sp>
      <p:sp>
        <p:nvSpPr>
          <p:cNvPr id="80" name="Text 78"/>
          <p:cNvSpPr/>
          <p:nvPr/>
        </p:nvSpPr>
        <p:spPr>
          <a:xfrm>
            <a:off x="502920" y="6565392"/>
            <a:ext cx="5212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7E8FA3"/>
                </a:solidFill>
              </a:rPr>
              <a:t>基于ESP32-S3R8与LVGL的低功耗触控智能手表系统设计与实现</a:t>
            </a:r>
            <a:endParaRPr lang="en-US" sz="700" dirty="0"/>
          </a:p>
        </p:txBody>
      </p:sp>
      <p:sp>
        <p:nvSpPr>
          <p:cNvPr id="81" name="Text 79"/>
          <p:cNvSpPr/>
          <p:nvPr/>
        </p:nvSpPr>
        <p:spPr>
          <a:xfrm>
            <a:off x="11356848" y="6528816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0B63B6"/>
                </a:solidFill>
              </a:rPr>
              <a:t>07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 w="12700">
            <a:solidFill>
              <a:srgbClr val="F4F8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82880" y="0"/>
            <a:ext cx="0" cy="6858000"/>
          </a:xfrm>
          <a:prstGeom prst="line">
            <a:avLst/>
          </a:prstGeom>
          <a:noFill/>
          <a:ln w="3175">
            <a:solidFill>
              <a:srgbClr val="E5EEF6">
                <a:alpha val="6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94360" y="0"/>
            <a:ext cx="0" cy="6858000"/>
          </a:xfrm>
          <a:prstGeom prst="line">
            <a:avLst/>
          </a:prstGeom>
          <a:noFill/>
          <a:ln w="3175">
            <a:solidFill>
              <a:srgbClr val="E5EEF6">
                <a:alpha val="6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05840" y="0"/>
            <a:ext cx="0" cy="6858000"/>
          </a:xfrm>
          <a:prstGeom prst="line">
            <a:avLst/>
          </a:prstGeom>
          <a:noFill/>
          <a:ln w="3175">
            <a:solidFill>
              <a:srgbClr val="E5EEF6">
                <a:alpha val="6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417320" y="0"/>
            <a:ext cx="0" cy="6858000"/>
          </a:xfrm>
          <a:prstGeom prst="line">
            <a:avLst/>
          </a:prstGeom>
          <a:noFill/>
          <a:ln w="3175">
            <a:solidFill>
              <a:srgbClr val="E5EEF6">
                <a:alpha val="6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828800" y="0"/>
            <a:ext cx="0" cy="6858000"/>
          </a:xfrm>
          <a:prstGeom prst="line">
            <a:avLst/>
          </a:prstGeom>
          <a:noFill/>
          <a:ln w="3175">
            <a:solidFill>
              <a:srgbClr val="E5EEF6">
                <a:alpha val="65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240280" y="0"/>
            <a:ext cx="0" cy="6858000"/>
          </a:xfrm>
          <a:prstGeom prst="line">
            <a:avLst/>
          </a:prstGeom>
          <a:noFill/>
          <a:ln w="3175">
            <a:solidFill>
              <a:srgbClr val="E5EEF6">
                <a:alpha val="65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651760" y="0"/>
            <a:ext cx="0" cy="6858000"/>
          </a:xfrm>
          <a:prstGeom prst="line">
            <a:avLst/>
          </a:prstGeom>
          <a:noFill/>
          <a:ln w="3175">
            <a:solidFill>
              <a:srgbClr val="E5EEF6">
                <a:alpha val="65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063240" y="0"/>
            <a:ext cx="0" cy="6858000"/>
          </a:xfrm>
          <a:prstGeom prst="line">
            <a:avLst/>
          </a:prstGeom>
          <a:noFill/>
          <a:ln w="3175">
            <a:solidFill>
              <a:srgbClr val="E5EEF6">
                <a:alpha val="65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474720" y="0"/>
            <a:ext cx="0" cy="6858000"/>
          </a:xfrm>
          <a:prstGeom prst="line">
            <a:avLst/>
          </a:prstGeom>
          <a:noFill/>
          <a:ln w="3175">
            <a:solidFill>
              <a:srgbClr val="E5EEF6">
                <a:alpha val="65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886200" y="0"/>
            <a:ext cx="0" cy="6858000"/>
          </a:xfrm>
          <a:prstGeom prst="line">
            <a:avLst/>
          </a:prstGeom>
          <a:noFill/>
          <a:ln w="3175">
            <a:solidFill>
              <a:srgbClr val="E5EEF6">
                <a:alpha val="65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297680" y="0"/>
            <a:ext cx="0" cy="6858000"/>
          </a:xfrm>
          <a:prstGeom prst="line">
            <a:avLst/>
          </a:prstGeom>
          <a:noFill/>
          <a:ln w="3175">
            <a:solidFill>
              <a:srgbClr val="E5EEF6">
                <a:alpha val="65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709160" y="0"/>
            <a:ext cx="0" cy="6858000"/>
          </a:xfrm>
          <a:prstGeom prst="line">
            <a:avLst/>
          </a:prstGeom>
          <a:noFill/>
          <a:ln w="3175">
            <a:solidFill>
              <a:srgbClr val="E5EEF6">
                <a:alpha val="65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120640" y="0"/>
            <a:ext cx="0" cy="6858000"/>
          </a:xfrm>
          <a:prstGeom prst="line">
            <a:avLst/>
          </a:prstGeom>
          <a:noFill/>
          <a:ln w="3175">
            <a:solidFill>
              <a:srgbClr val="E5EEF6">
                <a:alpha val="65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532120" y="0"/>
            <a:ext cx="0" cy="6858000"/>
          </a:xfrm>
          <a:prstGeom prst="line">
            <a:avLst/>
          </a:prstGeom>
          <a:noFill/>
          <a:ln w="3175">
            <a:solidFill>
              <a:srgbClr val="E5EEF6">
                <a:alpha val="65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943600" y="0"/>
            <a:ext cx="0" cy="6858000"/>
          </a:xfrm>
          <a:prstGeom prst="line">
            <a:avLst/>
          </a:prstGeom>
          <a:noFill/>
          <a:ln w="3175">
            <a:solidFill>
              <a:srgbClr val="E5EEF6">
                <a:alpha val="65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355080" y="0"/>
            <a:ext cx="0" cy="6858000"/>
          </a:xfrm>
          <a:prstGeom prst="line">
            <a:avLst/>
          </a:prstGeom>
          <a:noFill/>
          <a:ln w="3175">
            <a:solidFill>
              <a:srgbClr val="E5EEF6">
                <a:alpha val="65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766560" y="0"/>
            <a:ext cx="0" cy="6858000"/>
          </a:xfrm>
          <a:prstGeom prst="line">
            <a:avLst/>
          </a:prstGeom>
          <a:noFill/>
          <a:ln w="3175">
            <a:solidFill>
              <a:srgbClr val="E5EEF6">
                <a:alpha val="65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178040" y="0"/>
            <a:ext cx="0" cy="6858000"/>
          </a:xfrm>
          <a:prstGeom prst="line">
            <a:avLst/>
          </a:prstGeom>
          <a:noFill/>
          <a:ln w="3175">
            <a:solidFill>
              <a:srgbClr val="E5EEF6">
                <a:alpha val="65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589520" y="0"/>
            <a:ext cx="0" cy="6858000"/>
          </a:xfrm>
          <a:prstGeom prst="line">
            <a:avLst/>
          </a:prstGeom>
          <a:noFill/>
          <a:ln w="3175">
            <a:solidFill>
              <a:srgbClr val="E5EEF6">
                <a:alpha val="65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001000" y="0"/>
            <a:ext cx="0" cy="6858000"/>
          </a:xfrm>
          <a:prstGeom prst="line">
            <a:avLst/>
          </a:prstGeom>
          <a:noFill/>
          <a:ln w="3175">
            <a:solidFill>
              <a:srgbClr val="E5EEF6">
                <a:alpha val="65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412480" y="0"/>
            <a:ext cx="0" cy="6858000"/>
          </a:xfrm>
          <a:prstGeom prst="line">
            <a:avLst/>
          </a:prstGeom>
          <a:noFill/>
          <a:ln w="3175">
            <a:solidFill>
              <a:srgbClr val="E5EEF6">
                <a:alpha val="65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823960" y="0"/>
            <a:ext cx="0" cy="6858000"/>
          </a:xfrm>
          <a:prstGeom prst="line">
            <a:avLst/>
          </a:prstGeom>
          <a:noFill/>
          <a:ln w="3175">
            <a:solidFill>
              <a:srgbClr val="E5EEF6">
                <a:alpha val="65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9235440" y="0"/>
            <a:ext cx="0" cy="6858000"/>
          </a:xfrm>
          <a:prstGeom prst="line">
            <a:avLst/>
          </a:prstGeom>
          <a:noFill/>
          <a:ln w="3175">
            <a:solidFill>
              <a:srgbClr val="E5EEF6">
                <a:alpha val="65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9646920" y="0"/>
            <a:ext cx="0" cy="6858000"/>
          </a:xfrm>
          <a:prstGeom prst="line">
            <a:avLst/>
          </a:prstGeom>
          <a:noFill/>
          <a:ln w="3175">
            <a:solidFill>
              <a:srgbClr val="E5EEF6">
                <a:alpha val="65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0058400" y="0"/>
            <a:ext cx="0" cy="6858000"/>
          </a:xfrm>
          <a:prstGeom prst="line">
            <a:avLst/>
          </a:prstGeom>
          <a:noFill/>
          <a:ln w="3175">
            <a:solidFill>
              <a:srgbClr val="E5EEF6">
                <a:alpha val="65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0469880" y="0"/>
            <a:ext cx="0" cy="6858000"/>
          </a:xfrm>
          <a:prstGeom prst="line">
            <a:avLst/>
          </a:prstGeom>
          <a:noFill/>
          <a:ln w="3175">
            <a:solidFill>
              <a:srgbClr val="E5EEF6">
                <a:alpha val="65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0881360" y="0"/>
            <a:ext cx="0" cy="6858000"/>
          </a:xfrm>
          <a:prstGeom prst="line">
            <a:avLst/>
          </a:prstGeom>
          <a:noFill/>
          <a:ln w="3175">
            <a:solidFill>
              <a:srgbClr val="E5EEF6">
                <a:alpha val="65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1292840" y="0"/>
            <a:ext cx="0" cy="6858000"/>
          </a:xfrm>
          <a:prstGeom prst="line">
            <a:avLst/>
          </a:prstGeom>
          <a:noFill/>
          <a:ln w="3175">
            <a:solidFill>
              <a:srgbClr val="E5EEF6">
                <a:alpha val="65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1704320" y="0"/>
            <a:ext cx="0" cy="6858000"/>
          </a:xfrm>
          <a:prstGeom prst="line">
            <a:avLst/>
          </a:prstGeom>
          <a:noFill/>
          <a:ln w="3175">
            <a:solidFill>
              <a:srgbClr val="E5EEF6">
                <a:alpha val="65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12115800" y="0"/>
            <a:ext cx="0" cy="6858000"/>
          </a:xfrm>
          <a:prstGeom prst="line">
            <a:avLst/>
          </a:prstGeom>
          <a:noFill/>
          <a:ln w="3175">
            <a:solidFill>
              <a:srgbClr val="E5EEF6">
                <a:alpha val="65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182880"/>
            <a:ext cx="12191695" cy="0"/>
          </a:xfrm>
          <a:prstGeom prst="line">
            <a:avLst/>
          </a:prstGeom>
          <a:noFill/>
          <a:ln w="3175">
            <a:solidFill>
              <a:srgbClr val="E5EEF6">
                <a:alpha val="65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594360"/>
            <a:ext cx="12191695" cy="0"/>
          </a:xfrm>
          <a:prstGeom prst="line">
            <a:avLst/>
          </a:prstGeom>
          <a:noFill/>
          <a:ln w="3175">
            <a:solidFill>
              <a:srgbClr val="E5EEF6">
                <a:alpha val="65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0" y="1005840"/>
            <a:ext cx="12191695" cy="0"/>
          </a:xfrm>
          <a:prstGeom prst="line">
            <a:avLst/>
          </a:prstGeom>
          <a:noFill/>
          <a:ln w="3175">
            <a:solidFill>
              <a:srgbClr val="E5EEF6">
                <a:alpha val="6500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0" y="1417320"/>
            <a:ext cx="12191695" cy="0"/>
          </a:xfrm>
          <a:prstGeom prst="line">
            <a:avLst/>
          </a:prstGeom>
          <a:noFill/>
          <a:ln w="3175">
            <a:solidFill>
              <a:srgbClr val="E5EEF6">
                <a:alpha val="6500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0" y="1828800"/>
            <a:ext cx="12191695" cy="0"/>
          </a:xfrm>
          <a:prstGeom prst="line">
            <a:avLst/>
          </a:prstGeom>
          <a:noFill/>
          <a:ln w="3175">
            <a:solidFill>
              <a:srgbClr val="E5EEF6">
                <a:alpha val="6500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0" y="2240280"/>
            <a:ext cx="12191695" cy="0"/>
          </a:xfrm>
          <a:prstGeom prst="line">
            <a:avLst/>
          </a:prstGeom>
          <a:noFill/>
          <a:ln w="3175">
            <a:solidFill>
              <a:srgbClr val="E5EEF6">
                <a:alpha val="6500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0" y="2651760"/>
            <a:ext cx="12191695" cy="0"/>
          </a:xfrm>
          <a:prstGeom prst="line">
            <a:avLst/>
          </a:prstGeom>
          <a:noFill/>
          <a:ln w="3175">
            <a:solidFill>
              <a:srgbClr val="E5EEF6">
                <a:alpha val="6500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0" y="3063240"/>
            <a:ext cx="12191695" cy="0"/>
          </a:xfrm>
          <a:prstGeom prst="line">
            <a:avLst/>
          </a:prstGeom>
          <a:noFill/>
          <a:ln w="3175">
            <a:solidFill>
              <a:srgbClr val="E5EEF6">
                <a:alpha val="6500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0" y="3474720"/>
            <a:ext cx="12191695" cy="0"/>
          </a:xfrm>
          <a:prstGeom prst="line">
            <a:avLst/>
          </a:prstGeom>
          <a:noFill/>
          <a:ln w="3175">
            <a:solidFill>
              <a:srgbClr val="E5EEF6">
                <a:alpha val="6500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0" y="3886200"/>
            <a:ext cx="12191695" cy="0"/>
          </a:xfrm>
          <a:prstGeom prst="line">
            <a:avLst/>
          </a:prstGeom>
          <a:noFill/>
          <a:ln w="3175">
            <a:solidFill>
              <a:srgbClr val="E5EEF6">
                <a:alpha val="65000"/>
              </a:srgbClr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0" y="4297680"/>
            <a:ext cx="12191695" cy="0"/>
          </a:xfrm>
          <a:prstGeom prst="line">
            <a:avLst/>
          </a:prstGeom>
          <a:noFill/>
          <a:ln w="3175">
            <a:solidFill>
              <a:srgbClr val="E5EEF6">
                <a:alpha val="65000"/>
              </a:srgbClr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0" y="4709160"/>
            <a:ext cx="12191695" cy="0"/>
          </a:xfrm>
          <a:prstGeom prst="line">
            <a:avLst/>
          </a:prstGeom>
          <a:noFill/>
          <a:ln w="3175">
            <a:solidFill>
              <a:srgbClr val="E5EEF6">
                <a:alpha val="65000"/>
              </a:srgbClr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0" y="5120640"/>
            <a:ext cx="12191695" cy="0"/>
          </a:xfrm>
          <a:prstGeom prst="line">
            <a:avLst/>
          </a:prstGeom>
          <a:noFill/>
          <a:ln w="3175">
            <a:solidFill>
              <a:srgbClr val="E5EEF6">
                <a:alpha val="65000"/>
              </a:srgbClr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0" y="5532120"/>
            <a:ext cx="12191695" cy="0"/>
          </a:xfrm>
          <a:prstGeom prst="line">
            <a:avLst/>
          </a:prstGeom>
          <a:noFill/>
          <a:ln w="3175">
            <a:solidFill>
              <a:srgbClr val="E5EEF6">
                <a:alpha val="65000"/>
              </a:srgbClr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0" y="5943600"/>
            <a:ext cx="12191695" cy="0"/>
          </a:xfrm>
          <a:prstGeom prst="line">
            <a:avLst/>
          </a:prstGeom>
          <a:noFill/>
          <a:ln w="3175">
            <a:solidFill>
              <a:srgbClr val="E5EEF6">
                <a:alpha val="65000"/>
              </a:srgbClr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0" y="6355080"/>
            <a:ext cx="12191695" cy="0"/>
          </a:xfrm>
          <a:prstGeom prst="line">
            <a:avLst/>
          </a:prstGeom>
          <a:noFill/>
          <a:ln w="3175">
            <a:solidFill>
              <a:srgbClr val="E5EEF6">
                <a:alpha val="65000"/>
              </a:srgbClr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DDEDF8">
              <a:alpha val="90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75488" y="329184"/>
            <a:ext cx="3291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2B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1300" dirty="0"/>
          </a:p>
        </p:txBody>
      </p:sp>
      <p:sp>
        <p:nvSpPr>
          <p:cNvPr id="51" name="Text 49"/>
          <p:cNvSpPr/>
          <p:nvPr/>
        </p:nvSpPr>
        <p:spPr>
          <a:xfrm>
            <a:off x="841248" y="310896"/>
            <a:ext cx="7863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723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关键模块实现：多媒体、时间联网、OTA和低功耗形成完整闭环</a:t>
            </a:r>
            <a:endParaRPr lang="en-US" sz="1800" dirty="0"/>
          </a:p>
        </p:txBody>
      </p:sp>
      <p:sp>
        <p:nvSpPr>
          <p:cNvPr id="52" name="Text 50"/>
          <p:cNvSpPr/>
          <p:nvPr/>
        </p:nvSpPr>
        <p:spPr>
          <a:xfrm>
            <a:off x="841248" y="621792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0B63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MODULES</a:t>
            </a:r>
            <a:endParaRPr lang="en-US" sz="750" dirty="0"/>
          </a:p>
        </p:txBody>
      </p:sp>
      <p:sp>
        <p:nvSpPr>
          <p:cNvPr id="53" name="Shape 51"/>
          <p:cNvSpPr/>
          <p:nvPr/>
        </p:nvSpPr>
        <p:spPr>
          <a:xfrm>
            <a:off x="777240" y="1417320"/>
            <a:ext cx="4892040" cy="1143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0160">
            <a:solidFill>
              <a:srgbClr val="D8E4EE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777240" y="1417320"/>
            <a:ext cx="45720" cy="1143000"/>
          </a:xfrm>
          <a:prstGeom prst="rect">
            <a:avLst/>
          </a:prstGeom>
          <a:solidFill>
            <a:srgbClr val="F28B2E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941832" y="1572768"/>
            <a:ext cx="45628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72335"/>
                </a:solidFill>
              </a:rPr>
              <a:t>多媒体与文件系统</a:t>
            </a:r>
            <a:endParaRPr lang="en-US" sz="1500" dirty="0"/>
          </a:p>
        </p:txBody>
      </p:sp>
      <p:sp>
        <p:nvSpPr>
          <p:cNvPr id="56" name="Text 54"/>
          <p:cNvSpPr/>
          <p:nvPr/>
        </p:nvSpPr>
        <p:spPr>
          <a:xfrm>
            <a:off x="941832" y="1892808"/>
            <a:ext cx="4562856" cy="5760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5D6D7E"/>
                </a:solidFill>
              </a:rPr>
              <a:t>SD卡挂载FatFS后统一扫描资源；图片分块读取，MJPEG帧解码刷新，TXT按页读取并记录偏移。</a:t>
            </a:r>
            <a:endParaRPr lang="en-US" sz="1080" dirty="0"/>
          </a:p>
        </p:txBody>
      </p:sp>
      <p:sp>
        <p:nvSpPr>
          <p:cNvPr id="57" name="Shape 55"/>
          <p:cNvSpPr/>
          <p:nvPr/>
        </p:nvSpPr>
        <p:spPr>
          <a:xfrm>
            <a:off x="6355080" y="1417320"/>
            <a:ext cx="4892040" cy="1143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0160">
            <a:solidFill>
              <a:srgbClr val="D8E4EE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6355080" y="1417320"/>
            <a:ext cx="45720" cy="1143000"/>
          </a:xfrm>
          <a:prstGeom prst="rect">
            <a:avLst/>
          </a:prstGeom>
          <a:solidFill>
            <a:srgbClr val="22B8D7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6519672" y="1572768"/>
            <a:ext cx="45628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72335"/>
                </a:solidFill>
              </a:rPr>
              <a:t>时间与网络服务</a:t>
            </a:r>
            <a:endParaRPr lang="en-US" sz="1500" dirty="0"/>
          </a:p>
        </p:txBody>
      </p:sp>
      <p:sp>
        <p:nvSpPr>
          <p:cNvPr id="60" name="Text 58"/>
          <p:cNvSpPr/>
          <p:nvPr/>
        </p:nvSpPr>
        <p:spPr>
          <a:xfrm>
            <a:off x="6519672" y="1892808"/>
            <a:ext cx="4562856" cy="5760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5D6D7E"/>
                </a:solidFill>
              </a:rPr>
              <a:t>WiFi连接后使用NTP校时并回写SD3078；离线时由RTC守时，显示层周期读取统一时间缓存。</a:t>
            </a:r>
            <a:endParaRPr lang="en-US" sz="1080" dirty="0"/>
          </a:p>
        </p:txBody>
      </p:sp>
      <p:sp>
        <p:nvSpPr>
          <p:cNvPr id="61" name="Shape 59"/>
          <p:cNvSpPr/>
          <p:nvPr/>
        </p:nvSpPr>
        <p:spPr>
          <a:xfrm>
            <a:off x="777240" y="3108960"/>
            <a:ext cx="4892040" cy="1143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0160">
            <a:solidFill>
              <a:srgbClr val="D8E4EE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777240" y="3108960"/>
            <a:ext cx="45720" cy="1143000"/>
          </a:xfrm>
          <a:prstGeom prst="rect">
            <a:avLst/>
          </a:prstGeom>
          <a:solidFill>
            <a:srgbClr val="0B63B6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941832" y="3264408"/>
            <a:ext cx="45628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72335"/>
                </a:solidFill>
              </a:rPr>
              <a:t>OTA升级维护</a:t>
            </a:r>
            <a:endParaRPr lang="en-US" sz="1500" dirty="0"/>
          </a:p>
        </p:txBody>
      </p:sp>
      <p:sp>
        <p:nvSpPr>
          <p:cNvPr id="64" name="Text 62"/>
          <p:cNvSpPr/>
          <p:nvPr/>
        </p:nvSpPr>
        <p:spPr>
          <a:xfrm>
            <a:off x="941832" y="3584448"/>
            <a:ext cx="4562856" cy="5760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5D6D7E"/>
                </a:solidFill>
              </a:rPr>
              <a:t>OneNET云端OTA与SD卡本地OTA均写入备份分区，完成校验后切换启动分区。</a:t>
            </a:r>
            <a:endParaRPr lang="en-US" sz="1080" dirty="0"/>
          </a:p>
        </p:txBody>
      </p:sp>
      <p:sp>
        <p:nvSpPr>
          <p:cNvPr id="65" name="Shape 63"/>
          <p:cNvSpPr/>
          <p:nvPr/>
        </p:nvSpPr>
        <p:spPr>
          <a:xfrm>
            <a:off x="6355080" y="3108960"/>
            <a:ext cx="4892040" cy="1143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0160">
            <a:solidFill>
              <a:srgbClr val="D8E4EE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6355080" y="3108960"/>
            <a:ext cx="45720" cy="1143000"/>
          </a:xfrm>
          <a:prstGeom prst="rect">
            <a:avLst/>
          </a:prstGeom>
          <a:solidFill>
            <a:srgbClr val="31A36B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6519672" y="3264408"/>
            <a:ext cx="45628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72335"/>
                </a:solidFill>
              </a:rPr>
              <a:t>低功耗控制</a:t>
            </a:r>
            <a:endParaRPr lang="en-US" sz="1500" dirty="0"/>
          </a:p>
        </p:txBody>
      </p:sp>
      <p:sp>
        <p:nvSpPr>
          <p:cNvPr id="68" name="Text 66"/>
          <p:cNvSpPr/>
          <p:nvPr/>
        </p:nvSpPr>
        <p:spPr>
          <a:xfrm>
            <a:off x="6519672" y="3584448"/>
            <a:ext cx="4562856" cy="5760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5D6D7E"/>
                </a:solidFill>
              </a:rPr>
              <a:t>120秒无操作进入LightSleep；确认键长按约3秒进入DeepSleep，兼顾快速恢复与长期收纳。</a:t>
            </a:r>
            <a:endParaRPr lang="en-US" sz="1080" dirty="0"/>
          </a:p>
        </p:txBody>
      </p:sp>
      <p:sp>
        <p:nvSpPr>
          <p:cNvPr id="69" name="Text 67"/>
          <p:cNvSpPr/>
          <p:nvPr/>
        </p:nvSpPr>
        <p:spPr>
          <a:xfrm>
            <a:off x="502920" y="6565392"/>
            <a:ext cx="5212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7E8FA3"/>
                </a:solidFill>
              </a:rPr>
              <a:t>基于ESP32-S3R8与LVGL的低功耗触控智能手表系统设计与实现</a:t>
            </a:r>
            <a:endParaRPr lang="en-US" sz="700" dirty="0"/>
          </a:p>
        </p:txBody>
      </p:sp>
      <p:sp>
        <p:nvSpPr>
          <p:cNvPr id="70" name="Text 68"/>
          <p:cNvSpPr/>
          <p:nvPr/>
        </p:nvSpPr>
        <p:spPr>
          <a:xfrm>
            <a:off x="11356848" y="6528816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0B63B6"/>
                </a:solidFill>
              </a:rPr>
              <a:t>08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 w="12700">
            <a:solidFill>
              <a:srgbClr val="F4F8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82880" y="0"/>
            <a:ext cx="0" cy="6858000"/>
          </a:xfrm>
          <a:prstGeom prst="line">
            <a:avLst/>
          </a:prstGeom>
          <a:noFill/>
          <a:ln w="3175">
            <a:solidFill>
              <a:srgbClr val="E5EEF6">
                <a:alpha val="6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94360" y="0"/>
            <a:ext cx="0" cy="6858000"/>
          </a:xfrm>
          <a:prstGeom prst="line">
            <a:avLst/>
          </a:prstGeom>
          <a:noFill/>
          <a:ln w="3175">
            <a:solidFill>
              <a:srgbClr val="E5EEF6">
                <a:alpha val="6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05840" y="0"/>
            <a:ext cx="0" cy="6858000"/>
          </a:xfrm>
          <a:prstGeom prst="line">
            <a:avLst/>
          </a:prstGeom>
          <a:noFill/>
          <a:ln w="3175">
            <a:solidFill>
              <a:srgbClr val="E5EEF6">
                <a:alpha val="6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417320" y="0"/>
            <a:ext cx="0" cy="6858000"/>
          </a:xfrm>
          <a:prstGeom prst="line">
            <a:avLst/>
          </a:prstGeom>
          <a:noFill/>
          <a:ln w="3175">
            <a:solidFill>
              <a:srgbClr val="E5EEF6">
                <a:alpha val="6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828800" y="0"/>
            <a:ext cx="0" cy="6858000"/>
          </a:xfrm>
          <a:prstGeom prst="line">
            <a:avLst/>
          </a:prstGeom>
          <a:noFill/>
          <a:ln w="3175">
            <a:solidFill>
              <a:srgbClr val="E5EEF6">
                <a:alpha val="65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240280" y="0"/>
            <a:ext cx="0" cy="6858000"/>
          </a:xfrm>
          <a:prstGeom prst="line">
            <a:avLst/>
          </a:prstGeom>
          <a:noFill/>
          <a:ln w="3175">
            <a:solidFill>
              <a:srgbClr val="E5EEF6">
                <a:alpha val="65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651760" y="0"/>
            <a:ext cx="0" cy="6858000"/>
          </a:xfrm>
          <a:prstGeom prst="line">
            <a:avLst/>
          </a:prstGeom>
          <a:noFill/>
          <a:ln w="3175">
            <a:solidFill>
              <a:srgbClr val="E5EEF6">
                <a:alpha val="65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063240" y="0"/>
            <a:ext cx="0" cy="6858000"/>
          </a:xfrm>
          <a:prstGeom prst="line">
            <a:avLst/>
          </a:prstGeom>
          <a:noFill/>
          <a:ln w="3175">
            <a:solidFill>
              <a:srgbClr val="E5EEF6">
                <a:alpha val="65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474720" y="0"/>
            <a:ext cx="0" cy="6858000"/>
          </a:xfrm>
          <a:prstGeom prst="line">
            <a:avLst/>
          </a:prstGeom>
          <a:noFill/>
          <a:ln w="3175">
            <a:solidFill>
              <a:srgbClr val="E5EEF6">
                <a:alpha val="65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886200" y="0"/>
            <a:ext cx="0" cy="6858000"/>
          </a:xfrm>
          <a:prstGeom prst="line">
            <a:avLst/>
          </a:prstGeom>
          <a:noFill/>
          <a:ln w="3175">
            <a:solidFill>
              <a:srgbClr val="E5EEF6">
                <a:alpha val="65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297680" y="0"/>
            <a:ext cx="0" cy="6858000"/>
          </a:xfrm>
          <a:prstGeom prst="line">
            <a:avLst/>
          </a:prstGeom>
          <a:noFill/>
          <a:ln w="3175">
            <a:solidFill>
              <a:srgbClr val="E5EEF6">
                <a:alpha val="65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709160" y="0"/>
            <a:ext cx="0" cy="6858000"/>
          </a:xfrm>
          <a:prstGeom prst="line">
            <a:avLst/>
          </a:prstGeom>
          <a:noFill/>
          <a:ln w="3175">
            <a:solidFill>
              <a:srgbClr val="E5EEF6">
                <a:alpha val="65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120640" y="0"/>
            <a:ext cx="0" cy="6858000"/>
          </a:xfrm>
          <a:prstGeom prst="line">
            <a:avLst/>
          </a:prstGeom>
          <a:noFill/>
          <a:ln w="3175">
            <a:solidFill>
              <a:srgbClr val="E5EEF6">
                <a:alpha val="65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532120" y="0"/>
            <a:ext cx="0" cy="6858000"/>
          </a:xfrm>
          <a:prstGeom prst="line">
            <a:avLst/>
          </a:prstGeom>
          <a:noFill/>
          <a:ln w="3175">
            <a:solidFill>
              <a:srgbClr val="E5EEF6">
                <a:alpha val="65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943600" y="0"/>
            <a:ext cx="0" cy="6858000"/>
          </a:xfrm>
          <a:prstGeom prst="line">
            <a:avLst/>
          </a:prstGeom>
          <a:noFill/>
          <a:ln w="3175">
            <a:solidFill>
              <a:srgbClr val="E5EEF6">
                <a:alpha val="65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355080" y="0"/>
            <a:ext cx="0" cy="6858000"/>
          </a:xfrm>
          <a:prstGeom prst="line">
            <a:avLst/>
          </a:prstGeom>
          <a:noFill/>
          <a:ln w="3175">
            <a:solidFill>
              <a:srgbClr val="E5EEF6">
                <a:alpha val="65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766560" y="0"/>
            <a:ext cx="0" cy="6858000"/>
          </a:xfrm>
          <a:prstGeom prst="line">
            <a:avLst/>
          </a:prstGeom>
          <a:noFill/>
          <a:ln w="3175">
            <a:solidFill>
              <a:srgbClr val="E5EEF6">
                <a:alpha val="65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178040" y="0"/>
            <a:ext cx="0" cy="6858000"/>
          </a:xfrm>
          <a:prstGeom prst="line">
            <a:avLst/>
          </a:prstGeom>
          <a:noFill/>
          <a:ln w="3175">
            <a:solidFill>
              <a:srgbClr val="E5EEF6">
                <a:alpha val="65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589520" y="0"/>
            <a:ext cx="0" cy="6858000"/>
          </a:xfrm>
          <a:prstGeom prst="line">
            <a:avLst/>
          </a:prstGeom>
          <a:noFill/>
          <a:ln w="3175">
            <a:solidFill>
              <a:srgbClr val="E5EEF6">
                <a:alpha val="65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001000" y="0"/>
            <a:ext cx="0" cy="6858000"/>
          </a:xfrm>
          <a:prstGeom prst="line">
            <a:avLst/>
          </a:prstGeom>
          <a:noFill/>
          <a:ln w="3175">
            <a:solidFill>
              <a:srgbClr val="E5EEF6">
                <a:alpha val="65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412480" y="0"/>
            <a:ext cx="0" cy="6858000"/>
          </a:xfrm>
          <a:prstGeom prst="line">
            <a:avLst/>
          </a:prstGeom>
          <a:noFill/>
          <a:ln w="3175">
            <a:solidFill>
              <a:srgbClr val="E5EEF6">
                <a:alpha val="65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823960" y="0"/>
            <a:ext cx="0" cy="6858000"/>
          </a:xfrm>
          <a:prstGeom prst="line">
            <a:avLst/>
          </a:prstGeom>
          <a:noFill/>
          <a:ln w="3175">
            <a:solidFill>
              <a:srgbClr val="E5EEF6">
                <a:alpha val="65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9235440" y="0"/>
            <a:ext cx="0" cy="6858000"/>
          </a:xfrm>
          <a:prstGeom prst="line">
            <a:avLst/>
          </a:prstGeom>
          <a:noFill/>
          <a:ln w="3175">
            <a:solidFill>
              <a:srgbClr val="E5EEF6">
                <a:alpha val="65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9646920" y="0"/>
            <a:ext cx="0" cy="6858000"/>
          </a:xfrm>
          <a:prstGeom prst="line">
            <a:avLst/>
          </a:prstGeom>
          <a:noFill/>
          <a:ln w="3175">
            <a:solidFill>
              <a:srgbClr val="E5EEF6">
                <a:alpha val="65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0058400" y="0"/>
            <a:ext cx="0" cy="6858000"/>
          </a:xfrm>
          <a:prstGeom prst="line">
            <a:avLst/>
          </a:prstGeom>
          <a:noFill/>
          <a:ln w="3175">
            <a:solidFill>
              <a:srgbClr val="E5EEF6">
                <a:alpha val="65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0469880" y="0"/>
            <a:ext cx="0" cy="6858000"/>
          </a:xfrm>
          <a:prstGeom prst="line">
            <a:avLst/>
          </a:prstGeom>
          <a:noFill/>
          <a:ln w="3175">
            <a:solidFill>
              <a:srgbClr val="E5EEF6">
                <a:alpha val="65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0881360" y="0"/>
            <a:ext cx="0" cy="6858000"/>
          </a:xfrm>
          <a:prstGeom prst="line">
            <a:avLst/>
          </a:prstGeom>
          <a:noFill/>
          <a:ln w="3175">
            <a:solidFill>
              <a:srgbClr val="E5EEF6">
                <a:alpha val="65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1292840" y="0"/>
            <a:ext cx="0" cy="6858000"/>
          </a:xfrm>
          <a:prstGeom prst="line">
            <a:avLst/>
          </a:prstGeom>
          <a:noFill/>
          <a:ln w="3175">
            <a:solidFill>
              <a:srgbClr val="E5EEF6">
                <a:alpha val="65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1704320" y="0"/>
            <a:ext cx="0" cy="6858000"/>
          </a:xfrm>
          <a:prstGeom prst="line">
            <a:avLst/>
          </a:prstGeom>
          <a:noFill/>
          <a:ln w="3175">
            <a:solidFill>
              <a:srgbClr val="E5EEF6">
                <a:alpha val="65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12115800" y="0"/>
            <a:ext cx="0" cy="6858000"/>
          </a:xfrm>
          <a:prstGeom prst="line">
            <a:avLst/>
          </a:prstGeom>
          <a:noFill/>
          <a:ln w="3175">
            <a:solidFill>
              <a:srgbClr val="E5EEF6">
                <a:alpha val="65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182880"/>
            <a:ext cx="12191695" cy="0"/>
          </a:xfrm>
          <a:prstGeom prst="line">
            <a:avLst/>
          </a:prstGeom>
          <a:noFill/>
          <a:ln w="3175">
            <a:solidFill>
              <a:srgbClr val="E5EEF6">
                <a:alpha val="65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594360"/>
            <a:ext cx="12191695" cy="0"/>
          </a:xfrm>
          <a:prstGeom prst="line">
            <a:avLst/>
          </a:prstGeom>
          <a:noFill/>
          <a:ln w="3175">
            <a:solidFill>
              <a:srgbClr val="E5EEF6">
                <a:alpha val="65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0" y="1005840"/>
            <a:ext cx="12191695" cy="0"/>
          </a:xfrm>
          <a:prstGeom prst="line">
            <a:avLst/>
          </a:prstGeom>
          <a:noFill/>
          <a:ln w="3175">
            <a:solidFill>
              <a:srgbClr val="E5EEF6">
                <a:alpha val="6500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0" y="1417320"/>
            <a:ext cx="12191695" cy="0"/>
          </a:xfrm>
          <a:prstGeom prst="line">
            <a:avLst/>
          </a:prstGeom>
          <a:noFill/>
          <a:ln w="3175">
            <a:solidFill>
              <a:srgbClr val="E5EEF6">
                <a:alpha val="6500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0" y="1828800"/>
            <a:ext cx="12191695" cy="0"/>
          </a:xfrm>
          <a:prstGeom prst="line">
            <a:avLst/>
          </a:prstGeom>
          <a:noFill/>
          <a:ln w="3175">
            <a:solidFill>
              <a:srgbClr val="E5EEF6">
                <a:alpha val="6500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0" y="2240280"/>
            <a:ext cx="12191695" cy="0"/>
          </a:xfrm>
          <a:prstGeom prst="line">
            <a:avLst/>
          </a:prstGeom>
          <a:noFill/>
          <a:ln w="3175">
            <a:solidFill>
              <a:srgbClr val="E5EEF6">
                <a:alpha val="6500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0" y="2651760"/>
            <a:ext cx="12191695" cy="0"/>
          </a:xfrm>
          <a:prstGeom prst="line">
            <a:avLst/>
          </a:prstGeom>
          <a:noFill/>
          <a:ln w="3175">
            <a:solidFill>
              <a:srgbClr val="E5EEF6">
                <a:alpha val="6500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0" y="3063240"/>
            <a:ext cx="12191695" cy="0"/>
          </a:xfrm>
          <a:prstGeom prst="line">
            <a:avLst/>
          </a:prstGeom>
          <a:noFill/>
          <a:ln w="3175">
            <a:solidFill>
              <a:srgbClr val="E5EEF6">
                <a:alpha val="6500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0" y="3474720"/>
            <a:ext cx="12191695" cy="0"/>
          </a:xfrm>
          <a:prstGeom prst="line">
            <a:avLst/>
          </a:prstGeom>
          <a:noFill/>
          <a:ln w="3175">
            <a:solidFill>
              <a:srgbClr val="E5EEF6">
                <a:alpha val="6500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0" y="3886200"/>
            <a:ext cx="12191695" cy="0"/>
          </a:xfrm>
          <a:prstGeom prst="line">
            <a:avLst/>
          </a:prstGeom>
          <a:noFill/>
          <a:ln w="3175">
            <a:solidFill>
              <a:srgbClr val="E5EEF6">
                <a:alpha val="65000"/>
              </a:srgbClr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0" y="4297680"/>
            <a:ext cx="12191695" cy="0"/>
          </a:xfrm>
          <a:prstGeom prst="line">
            <a:avLst/>
          </a:prstGeom>
          <a:noFill/>
          <a:ln w="3175">
            <a:solidFill>
              <a:srgbClr val="E5EEF6">
                <a:alpha val="65000"/>
              </a:srgbClr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0" y="4709160"/>
            <a:ext cx="12191695" cy="0"/>
          </a:xfrm>
          <a:prstGeom prst="line">
            <a:avLst/>
          </a:prstGeom>
          <a:noFill/>
          <a:ln w="3175">
            <a:solidFill>
              <a:srgbClr val="E5EEF6">
                <a:alpha val="65000"/>
              </a:srgbClr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0" y="5120640"/>
            <a:ext cx="12191695" cy="0"/>
          </a:xfrm>
          <a:prstGeom prst="line">
            <a:avLst/>
          </a:prstGeom>
          <a:noFill/>
          <a:ln w="3175">
            <a:solidFill>
              <a:srgbClr val="E5EEF6">
                <a:alpha val="65000"/>
              </a:srgbClr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0" y="5532120"/>
            <a:ext cx="12191695" cy="0"/>
          </a:xfrm>
          <a:prstGeom prst="line">
            <a:avLst/>
          </a:prstGeom>
          <a:noFill/>
          <a:ln w="3175">
            <a:solidFill>
              <a:srgbClr val="E5EEF6">
                <a:alpha val="65000"/>
              </a:srgbClr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0" y="5943600"/>
            <a:ext cx="12191695" cy="0"/>
          </a:xfrm>
          <a:prstGeom prst="line">
            <a:avLst/>
          </a:prstGeom>
          <a:noFill/>
          <a:ln w="3175">
            <a:solidFill>
              <a:srgbClr val="E5EEF6">
                <a:alpha val="65000"/>
              </a:srgbClr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0" y="6355080"/>
            <a:ext cx="12191695" cy="0"/>
          </a:xfrm>
          <a:prstGeom prst="line">
            <a:avLst/>
          </a:prstGeom>
          <a:noFill/>
          <a:ln w="3175">
            <a:solidFill>
              <a:srgbClr val="E5EEF6">
                <a:alpha val="65000"/>
              </a:srgbClr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DDEDF8">
              <a:alpha val="90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75488" y="329184"/>
            <a:ext cx="3291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2B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</a:t>
            </a:r>
            <a:endParaRPr lang="en-US" sz="1300" dirty="0"/>
          </a:p>
        </p:txBody>
      </p:sp>
      <p:sp>
        <p:nvSpPr>
          <p:cNvPr id="51" name="Text 49"/>
          <p:cNvSpPr/>
          <p:nvPr/>
        </p:nvSpPr>
        <p:spPr>
          <a:xfrm>
            <a:off x="841248" y="310896"/>
            <a:ext cx="7863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723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系统调试：按功能、功耗和升级链路验证系统可用性</a:t>
            </a:r>
            <a:endParaRPr lang="en-US" sz="1800" dirty="0"/>
          </a:p>
        </p:txBody>
      </p:sp>
      <p:sp>
        <p:nvSpPr>
          <p:cNvPr id="52" name="Text 50"/>
          <p:cNvSpPr/>
          <p:nvPr/>
        </p:nvSpPr>
        <p:spPr>
          <a:xfrm>
            <a:off x="841248" y="621792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0B63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TEST</a:t>
            </a:r>
            <a:endParaRPr lang="en-US" sz="750" dirty="0"/>
          </a:p>
        </p:txBody>
      </p:sp>
      <p:sp>
        <p:nvSpPr>
          <p:cNvPr id="53" name="Shape 51"/>
          <p:cNvSpPr/>
          <p:nvPr/>
        </p:nvSpPr>
        <p:spPr>
          <a:xfrm>
            <a:off x="685800" y="1325880"/>
            <a:ext cx="1920240" cy="384048"/>
          </a:xfrm>
          <a:prstGeom prst="rect">
            <a:avLst/>
          </a:prstGeom>
          <a:solidFill>
            <a:srgbClr val="0B63B6"/>
          </a:solidFill>
          <a:ln w="3810">
            <a:solidFill>
              <a:srgbClr val="FFFFFF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722376" y="1444752"/>
            <a:ext cx="184708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测试项</a:t>
            </a:r>
            <a:endParaRPr lang="en-US" sz="850" dirty="0"/>
          </a:p>
        </p:txBody>
      </p:sp>
      <p:sp>
        <p:nvSpPr>
          <p:cNvPr id="55" name="Shape 53"/>
          <p:cNvSpPr/>
          <p:nvPr/>
        </p:nvSpPr>
        <p:spPr>
          <a:xfrm>
            <a:off x="2606040" y="1325880"/>
            <a:ext cx="1143000" cy="384048"/>
          </a:xfrm>
          <a:prstGeom prst="rect">
            <a:avLst/>
          </a:prstGeom>
          <a:solidFill>
            <a:srgbClr val="0B63B6"/>
          </a:solidFill>
          <a:ln w="3810">
            <a:solidFill>
              <a:srgbClr val="FFFFFF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2642616" y="1444752"/>
            <a:ext cx="106984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成功率</a:t>
            </a:r>
            <a:endParaRPr lang="en-US" sz="850" dirty="0"/>
          </a:p>
        </p:txBody>
      </p:sp>
      <p:sp>
        <p:nvSpPr>
          <p:cNvPr id="57" name="Shape 55"/>
          <p:cNvSpPr/>
          <p:nvPr/>
        </p:nvSpPr>
        <p:spPr>
          <a:xfrm>
            <a:off x="3749040" y="1325880"/>
            <a:ext cx="1325880" cy="384048"/>
          </a:xfrm>
          <a:prstGeom prst="rect">
            <a:avLst/>
          </a:prstGeom>
          <a:solidFill>
            <a:srgbClr val="0B63B6"/>
          </a:solidFill>
          <a:ln w="3810">
            <a:solidFill>
              <a:srgbClr val="FFFFFF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3785616" y="1444752"/>
            <a:ext cx="125272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响应/指标</a:t>
            </a:r>
            <a:endParaRPr lang="en-US" sz="850" dirty="0"/>
          </a:p>
        </p:txBody>
      </p:sp>
      <p:sp>
        <p:nvSpPr>
          <p:cNvPr id="59" name="Shape 57"/>
          <p:cNvSpPr/>
          <p:nvPr/>
        </p:nvSpPr>
        <p:spPr>
          <a:xfrm>
            <a:off x="5074920" y="1325880"/>
            <a:ext cx="2194560" cy="384048"/>
          </a:xfrm>
          <a:prstGeom prst="rect">
            <a:avLst/>
          </a:prstGeom>
          <a:solidFill>
            <a:srgbClr val="0B63B6"/>
          </a:solidFill>
          <a:ln w="3810">
            <a:solidFill>
              <a:srgbClr val="FFFFFF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5111496" y="1444752"/>
            <a:ext cx="212140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结论</a:t>
            </a:r>
            <a:endParaRPr lang="en-US" sz="850" dirty="0"/>
          </a:p>
        </p:txBody>
      </p:sp>
      <p:sp>
        <p:nvSpPr>
          <p:cNvPr id="61" name="Shape 59"/>
          <p:cNvSpPr/>
          <p:nvPr/>
        </p:nvSpPr>
        <p:spPr>
          <a:xfrm>
            <a:off x="685800" y="1709928"/>
            <a:ext cx="1920240" cy="420624"/>
          </a:xfrm>
          <a:prstGeom prst="rect">
            <a:avLst/>
          </a:prstGeom>
          <a:solidFill>
            <a:srgbClr val="FFFFFF"/>
          </a:solidFill>
          <a:ln w="4445">
            <a:solidFill>
              <a:srgbClr val="DFE8F2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731520" y="1819656"/>
            <a:ext cx="18288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80" dirty="0">
                <a:solidFill>
                  <a:srgbClr val="172335"/>
                </a:solidFill>
              </a:rPr>
              <a:t>主菜单滑动</a:t>
            </a:r>
            <a:endParaRPr lang="en-US" sz="780" dirty="0"/>
          </a:p>
        </p:txBody>
      </p:sp>
      <p:sp>
        <p:nvSpPr>
          <p:cNvPr id="63" name="Shape 61"/>
          <p:cNvSpPr/>
          <p:nvPr/>
        </p:nvSpPr>
        <p:spPr>
          <a:xfrm>
            <a:off x="2606040" y="1709928"/>
            <a:ext cx="1143000" cy="420624"/>
          </a:xfrm>
          <a:prstGeom prst="rect">
            <a:avLst/>
          </a:prstGeom>
          <a:solidFill>
            <a:srgbClr val="FFFFFF"/>
          </a:solidFill>
          <a:ln w="4445">
            <a:solidFill>
              <a:srgbClr val="DFE8F2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2651760" y="1819656"/>
            <a:ext cx="10515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80" dirty="0">
                <a:solidFill>
                  <a:srgbClr val="172335"/>
                </a:solidFill>
              </a:rPr>
              <a:t>30/30</a:t>
            </a:r>
            <a:endParaRPr lang="en-US" sz="780" dirty="0"/>
          </a:p>
        </p:txBody>
      </p:sp>
      <p:sp>
        <p:nvSpPr>
          <p:cNvPr id="65" name="Shape 63"/>
          <p:cNvSpPr/>
          <p:nvPr/>
        </p:nvSpPr>
        <p:spPr>
          <a:xfrm>
            <a:off x="3749040" y="1709928"/>
            <a:ext cx="1325880" cy="420624"/>
          </a:xfrm>
          <a:prstGeom prst="rect">
            <a:avLst/>
          </a:prstGeom>
          <a:solidFill>
            <a:srgbClr val="FFFFFF"/>
          </a:solidFill>
          <a:ln w="4445">
            <a:solidFill>
              <a:srgbClr val="DFE8F2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3794760" y="1819656"/>
            <a:ext cx="12344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80" dirty="0">
                <a:solidFill>
                  <a:srgbClr val="172335"/>
                </a:solidFill>
              </a:rPr>
              <a:t>&lt;50ms</a:t>
            </a:r>
            <a:endParaRPr lang="en-US" sz="780" dirty="0"/>
          </a:p>
        </p:txBody>
      </p:sp>
      <p:sp>
        <p:nvSpPr>
          <p:cNvPr id="67" name="Shape 65"/>
          <p:cNvSpPr/>
          <p:nvPr/>
        </p:nvSpPr>
        <p:spPr>
          <a:xfrm>
            <a:off x="5074920" y="1709928"/>
            <a:ext cx="2194560" cy="420624"/>
          </a:xfrm>
          <a:prstGeom prst="rect">
            <a:avLst/>
          </a:prstGeom>
          <a:solidFill>
            <a:srgbClr val="FFFFFF"/>
          </a:solidFill>
          <a:ln w="4445">
            <a:solidFill>
              <a:srgbClr val="DFE8F2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5120640" y="1819656"/>
            <a:ext cx="21031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80" dirty="0">
                <a:solidFill>
                  <a:srgbClr val="172335"/>
                </a:solidFill>
              </a:rPr>
              <a:t>交互稳定</a:t>
            </a:r>
            <a:endParaRPr lang="en-US" sz="780" dirty="0"/>
          </a:p>
        </p:txBody>
      </p:sp>
      <p:sp>
        <p:nvSpPr>
          <p:cNvPr id="69" name="Shape 67"/>
          <p:cNvSpPr/>
          <p:nvPr/>
        </p:nvSpPr>
        <p:spPr>
          <a:xfrm>
            <a:off x="685800" y="2130552"/>
            <a:ext cx="1920240" cy="420624"/>
          </a:xfrm>
          <a:prstGeom prst="rect">
            <a:avLst/>
          </a:prstGeom>
          <a:solidFill>
            <a:srgbClr val="F3F7FB"/>
          </a:solidFill>
          <a:ln w="4445">
            <a:solidFill>
              <a:srgbClr val="DFE8F2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731520" y="2240280"/>
            <a:ext cx="18288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80" dirty="0">
                <a:solidFill>
                  <a:srgbClr val="172335"/>
                </a:solidFill>
              </a:rPr>
              <a:t>SD壁纸切换</a:t>
            </a:r>
            <a:endParaRPr lang="en-US" sz="780" dirty="0"/>
          </a:p>
        </p:txBody>
      </p:sp>
      <p:sp>
        <p:nvSpPr>
          <p:cNvPr id="71" name="Shape 69"/>
          <p:cNvSpPr/>
          <p:nvPr/>
        </p:nvSpPr>
        <p:spPr>
          <a:xfrm>
            <a:off x="2606040" y="2130552"/>
            <a:ext cx="1143000" cy="420624"/>
          </a:xfrm>
          <a:prstGeom prst="rect">
            <a:avLst/>
          </a:prstGeom>
          <a:solidFill>
            <a:srgbClr val="F3F7FB"/>
          </a:solidFill>
          <a:ln w="4445">
            <a:solidFill>
              <a:srgbClr val="DFE8F2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2651760" y="2240280"/>
            <a:ext cx="10515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80" dirty="0">
                <a:solidFill>
                  <a:srgbClr val="172335"/>
                </a:solidFill>
              </a:rPr>
              <a:t>25/30</a:t>
            </a:r>
            <a:endParaRPr lang="en-US" sz="780" dirty="0"/>
          </a:p>
        </p:txBody>
      </p:sp>
      <p:sp>
        <p:nvSpPr>
          <p:cNvPr id="73" name="Shape 71"/>
          <p:cNvSpPr/>
          <p:nvPr/>
        </p:nvSpPr>
        <p:spPr>
          <a:xfrm>
            <a:off x="3749040" y="2130552"/>
            <a:ext cx="1325880" cy="420624"/>
          </a:xfrm>
          <a:prstGeom prst="rect">
            <a:avLst/>
          </a:prstGeom>
          <a:solidFill>
            <a:srgbClr val="F3F7FB"/>
          </a:solidFill>
          <a:ln w="4445">
            <a:solidFill>
              <a:srgbClr val="DFE8F2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3794760" y="2240280"/>
            <a:ext cx="12344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80" dirty="0">
                <a:solidFill>
                  <a:srgbClr val="172335"/>
                </a:solidFill>
              </a:rPr>
              <a:t>100~200ms</a:t>
            </a:r>
            <a:endParaRPr lang="en-US" sz="780" dirty="0"/>
          </a:p>
        </p:txBody>
      </p:sp>
      <p:sp>
        <p:nvSpPr>
          <p:cNvPr id="75" name="Shape 73"/>
          <p:cNvSpPr/>
          <p:nvPr/>
        </p:nvSpPr>
        <p:spPr>
          <a:xfrm>
            <a:off x="5074920" y="2130552"/>
            <a:ext cx="2194560" cy="420624"/>
          </a:xfrm>
          <a:prstGeom prst="rect">
            <a:avLst/>
          </a:prstGeom>
          <a:solidFill>
            <a:srgbClr val="F3F7FB"/>
          </a:solidFill>
          <a:ln w="4445">
            <a:solidFill>
              <a:srgbClr val="DFE8F2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5120640" y="2240280"/>
            <a:ext cx="21031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80" dirty="0">
                <a:solidFill>
                  <a:srgbClr val="172335"/>
                </a:solidFill>
              </a:rPr>
              <a:t>大图解码偶发延迟</a:t>
            </a:r>
            <a:endParaRPr lang="en-US" sz="780" dirty="0"/>
          </a:p>
        </p:txBody>
      </p:sp>
      <p:sp>
        <p:nvSpPr>
          <p:cNvPr id="77" name="Shape 75"/>
          <p:cNvSpPr/>
          <p:nvPr/>
        </p:nvSpPr>
        <p:spPr>
          <a:xfrm>
            <a:off x="685800" y="2551176"/>
            <a:ext cx="1920240" cy="420624"/>
          </a:xfrm>
          <a:prstGeom prst="rect">
            <a:avLst/>
          </a:prstGeom>
          <a:solidFill>
            <a:srgbClr val="FFFFFF"/>
          </a:solidFill>
          <a:ln w="4445">
            <a:solidFill>
              <a:srgbClr val="DFE8F2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731520" y="2660904"/>
            <a:ext cx="18288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80" dirty="0">
                <a:solidFill>
                  <a:srgbClr val="172335"/>
                </a:solidFill>
              </a:rPr>
              <a:t>MJPEG播放</a:t>
            </a:r>
            <a:endParaRPr lang="en-US" sz="780" dirty="0"/>
          </a:p>
        </p:txBody>
      </p:sp>
      <p:sp>
        <p:nvSpPr>
          <p:cNvPr id="79" name="Shape 77"/>
          <p:cNvSpPr/>
          <p:nvPr/>
        </p:nvSpPr>
        <p:spPr>
          <a:xfrm>
            <a:off x="2606040" y="2551176"/>
            <a:ext cx="1143000" cy="420624"/>
          </a:xfrm>
          <a:prstGeom prst="rect">
            <a:avLst/>
          </a:prstGeom>
          <a:solidFill>
            <a:srgbClr val="FFFFFF"/>
          </a:solidFill>
          <a:ln w="4445">
            <a:solidFill>
              <a:srgbClr val="DFE8F2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2651760" y="2660904"/>
            <a:ext cx="10515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80" dirty="0">
                <a:solidFill>
                  <a:srgbClr val="172335"/>
                </a:solidFill>
              </a:rPr>
              <a:t>28/30</a:t>
            </a:r>
            <a:endParaRPr lang="en-US" sz="780" dirty="0"/>
          </a:p>
        </p:txBody>
      </p:sp>
      <p:sp>
        <p:nvSpPr>
          <p:cNvPr id="81" name="Shape 79"/>
          <p:cNvSpPr/>
          <p:nvPr/>
        </p:nvSpPr>
        <p:spPr>
          <a:xfrm>
            <a:off x="3749040" y="2551176"/>
            <a:ext cx="1325880" cy="420624"/>
          </a:xfrm>
          <a:prstGeom prst="rect">
            <a:avLst/>
          </a:prstGeom>
          <a:solidFill>
            <a:srgbClr val="FFFFFF"/>
          </a:solidFill>
          <a:ln w="4445">
            <a:solidFill>
              <a:srgbClr val="DFE8F2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3794760" y="2660904"/>
            <a:ext cx="12344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80" dirty="0">
                <a:solidFill>
                  <a:srgbClr val="172335"/>
                </a:solidFill>
              </a:rPr>
              <a:t>约25fps</a:t>
            </a:r>
            <a:endParaRPr lang="en-US" sz="780" dirty="0"/>
          </a:p>
        </p:txBody>
      </p:sp>
      <p:sp>
        <p:nvSpPr>
          <p:cNvPr id="83" name="Shape 81"/>
          <p:cNvSpPr/>
          <p:nvPr/>
        </p:nvSpPr>
        <p:spPr>
          <a:xfrm>
            <a:off x="5074920" y="2551176"/>
            <a:ext cx="2194560" cy="420624"/>
          </a:xfrm>
          <a:prstGeom prst="rect">
            <a:avLst/>
          </a:prstGeom>
          <a:solidFill>
            <a:srgbClr val="FFFFFF"/>
          </a:solidFill>
          <a:ln w="4445">
            <a:solidFill>
              <a:srgbClr val="DFE8F2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5120640" y="2660904"/>
            <a:ext cx="21031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80" dirty="0">
                <a:solidFill>
                  <a:srgbClr val="172335"/>
                </a:solidFill>
              </a:rPr>
              <a:t>高负载偶有掉帧</a:t>
            </a:r>
            <a:endParaRPr lang="en-US" sz="780" dirty="0"/>
          </a:p>
        </p:txBody>
      </p:sp>
      <p:sp>
        <p:nvSpPr>
          <p:cNvPr id="85" name="Shape 83"/>
          <p:cNvSpPr/>
          <p:nvPr/>
        </p:nvSpPr>
        <p:spPr>
          <a:xfrm>
            <a:off x="685800" y="2971800"/>
            <a:ext cx="1920240" cy="420624"/>
          </a:xfrm>
          <a:prstGeom prst="rect">
            <a:avLst/>
          </a:prstGeom>
          <a:solidFill>
            <a:srgbClr val="F3F7FB"/>
          </a:solidFill>
          <a:ln w="4445">
            <a:solidFill>
              <a:srgbClr val="DFE8F2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731520" y="3081528"/>
            <a:ext cx="18288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80" dirty="0">
                <a:solidFill>
                  <a:srgbClr val="172335"/>
                </a:solidFill>
              </a:rPr>
              <a:t>电子书续读</a:t>
            </a:r>
            <a:endParaRPr lang="en-US" sz="780" dirty="0"/>
          </a:p>
        </p:txBody>
      </p:sp>
      <p:sp>
        <p:nvSpPr>
          <p:cNvPr id="87" name="Shape 85"/>
          <p:cNvSpPr/>
          <p:nvPr/>
        </p:nvSpPr>
        <p:spPr>
          <a:xfrm>
            <a:off x="2606040" y="2971800"/>
            <a:ext cx="1143000" cy="420624"/>
          </a:xfrm>
          <a:prstGeom prst="rect">
            <a:avLst/>
          </a:prstGeom>
          <a:solidFill>
            <a:srgbClr val="F3F7FB"/>
          </a:solidFill>
          <a:ln w="4445">
            <a:solidFill>
              <a:srgbClr val="DFE8F2"/>
            </a:solidFill>
            <a:prstDash val="solid"/>
          </a:ln>
        </p:spPr>
      </p:sp>
      <p:sp>
        <p:nvSpPr>
          <p:cNvPr id="88" name="Text 86"/>
          <p:cNvSpPr/>
          <p:nvPr/>
        </p:nvSpPr>
        <p:spPr>
          <a:xfrm>
            <a:off x="2651760" y="3081528"/>
            <a:ext cx="10515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80" dirty="0">
                <a:solidFill>
                  <a:srgbClr val="172335"/>
                </a:solidFill>
              </a:rPr>
              <a:t>30/30</a:t>
            </a:r>
            <a:endParaRPr lang="en-US" sz="780" dirty="0"/>
          </a:p>
        </p:txBody>
      </p:sp>
      <p:sp>
        <p:nvSpPr>
          <p:cNvPr id="89" name="Shape 87"/>
          <p:cNvSpPr/>
          <p:nvPr/>
        </p:nvSpPr>
        <p:spPr>
          <a:xfrm>
            <a:off x="3749040" y="2971800"/>
            <a:ext cx="1325880" cy="420624"/>
          </a:xfrm>
          <a:prstGeom prst="rect">
            <a:avLst/>
          </a:prstGeom>
          <a:solidFill>
            <a:srgbClr val="F3F7FB"/>
          </a:solidFill>
          <a:ln w="4445">
            <a:solidFill>
              <a:srgbClr val="DFE8F2"/>
            </a:solidFill>
            <a:prstDash val="solid"/>
          </a:ln>
        </p:spPr>
      </p:sp>
      <p:sp>
        <p:nvSpPr>
          <p:cNvPr id="90" name="Text 88"/>
          <p:cNvSpPr/>
          <p:nvPr/>
        </p:nvSpPr>
        <p:spPr>
          <a:xfrm>
            <a:off x="3794760" y="3081528"/>
            <a:ext cx="12344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80" dirty="0">
                <a:solidFill>
                  <a:srgbClr val="172335"/>
                </a:solidFill>
              </a:rPr>
              <a:t>&lt;150ms</a:t>
            </a:r>
            <a:endParaRPr lang="en-US" sz="780" dirty="0"/>
          </a:p>
        </p:txBody>
      </p:sp>
      <p:sp>
        <p:nvSpPr>
          <p:cNvPr id="91" name="Shape 89"/>
          <p:cNvSpPr/>
          <p:nvPr/>
        </p:nvSpPr>
        <p:spPr>
          <a:xfrm>
            <a:off x="5074920" y="2971800"/>
            <a:ext cx="2194560" cy="420624"/>
          </a:xfrm>
          <a:prstGeom prst="rect">
            <a:avLst/>
          </a:prstGeom>
          <a:solidFill>
            <a:srgbClr val="F3F7FB"/>
          </a:solidFill>
          <a:ln w="4445">
            <a:solidFill>
              <a:srgbClr val="DFE8F2"/>
            </a:solidFill>
            <a:prstDash val="solid"/>
          </a:ln>
        </p:spPr>
      </p:sp>
      <p:sp>
        <p:nvSpPr>
          <p:cNvPr id="92" name="Text 90"/>
          <p:cNvSpPr/>
          <p:nvPr/>
        </p:nvSpPr>
        <p:spPr>
          <a:xfrm>
            <a:off x="5120640" y="3081528"/>
            <a:ext cx="21031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80" dirty="0">
                <a:solidFill>
                  <a:srgbClr val="172335"/>
                </a:solidFill>
              </a:rPr>
              <a:t>阅读位置准确</a:t>
            </a:r>
            <a:endParaRPr lang="en-US" sz="780" dirty="0"/>
          </a:p>
        </p:txBody>
      </p:sp>
      <p:sp>
        <p:nvSpPr>
          <p:cNvPr id="93" name="Shape 91"/>
          <p:cNvSpPr/>
          <p:nvPr/>
        </p:nvSpPr>
        <p:spPr>
          <a:xfrm>
            <a:off x="685800" y="3392424"/>
            <a:ext cx="1920240" cy="420624"/>
          </a:xfrm>
          <a:prstGeom prst="rect">
            <a:avLst/>
          </a:prstGeom>
          <a:solidFill>
            <a:srgbClr val="FFFFFF"/>
          </a:solidFill>
          <a:ln w="4445">
            <a:solidFill>
              <a:srgbClr val="DFE8F2"/>
            </a:solidFill>
            <a:prstDash val="solid"/>
          </a:ln>
        </p:spPr>
      </p:sp>
      <p:sp>
        <p:nvSpPr>
          <p:cNvPr id="94" name="Text 92"/>
          <p:cNvSpPr/>
          <p:nvPr/>
        </p:nvSpPr>
        <p:spPr>
          <a:xfrm>
            <a:off x="731520" y="3502152"/>
            <a:ext cx="18288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80" dirty="0">
                <a:solidFill>
                  <a:srgbClr val="172335"/>
                </a:solidFill>
              </a:rPr>
              <a:t>WiFi连接</a:t>
            </a:r>
            <a:endParaRPr lang="en-US" sz="780" dirty="0"/>
          </a:p>
        </p:txBody>
      </p:sp>
      <p:sp>
        <p:nvSpPr>
          <p:cNvPr id="95" name="Shape 93"/>
          <p:cNvSpPr/>
          <p:nvPr/>
        </p:nvSpPr>
        <p:spPr>
          <a:xfrm>
            <a:off x="2606040" y="3392424"/>
            <a:ext cx="1143000" cy="420624"/>
          </a:xfrm>
          <a:prstGeom prst="rect">
            <a:avLst/>
          </a:prstGeom>
          <a:solidFill>
            <a:srgbClr val="FFFFFF"/>
          </a:solidFill>
          <a:ln w="4445">
            <a:solidFill>
              <a:srgbClr val="DFE8F2"/>
            </a:solidFill>
            <a:prstDash val="solid"/>
          </a:ln>
        </p:spPr>
      </p:sp>
      <p:sp>
        <p:nvSpPr>
          <p:cNvPr id="96" name="Text 94"/>
          <p:cNvSpPr/>
          <p:nvPr/>
        </p:nvSpPr>
        <p:spPr>
          <a:xfrm>
            <a:off x="2651760" y="3502152"/>
            <a:ext cx="10515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80" dirty="0">
                <a:solidFill>
                  <a:srgbClr val="172335"/>
                </a:solidFill>
              </a:rPr>
              <a:t>29/30</a:t>
            </a:r>
            <a:endParaRPr lang="en-US" sz="780" dirty="0"/>
          </a:p>
        </p:txBody>
      </p:sp>
      <p:sp>
        <p:nvSpPr>
          <p:cNvPr id="97" name="Shape 95"/>
          <p:cNvSpPr/>
          <p:nvPr/>
        </p:nvSpPr>
        <p:spPr>
          <a:xfrm>
            <a:off x="3749040" y="3392424"/>
            <a:ext cx="1325880" cy="420624"/>
          </a:xfrm>
          <a:prstGeom prst="rect">
            <a:avLst/>
          </a:prstGeom>
          <a:solidFill>
            <a:srgbClr val="FFFFFF"/>
          </a:solidFill>
          <a:ln w="4445">
            <a:solidFill>
              <a:srgbClr val="DFE8F2"/>
            </a:solidFill>
            <a:prstDash val="solid"/>
          </a:ln>
        </p:spPr>
      </p:sp>
      <p:sp>
        <p:nvSpPr>
          <p:cNvPr id="98" name="Text 96"/>
          <p:cNvSpPr/>
          <p:nvPr/>
        </p:nvSpPr>
        <p:spPr>
          <a:xfrm>
            <a:off x="3794760" y="3502152"/>
            <a:ext cx="12344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80" dirty="0">
                <a:solidFill>
                  <a:srgbClr val="172335"/>
                </a:solidFill>
              </a:rPr>
              <a:t>约4.5s</a:t>
            </a:r>
            <a:endParaRPr lang="en-US" sz="780" dirty="0"/>
          </a:p>
        </p:txBody>
      </p:sp>
      <p:sp>
        <p:nvSpPr>
          <p:cNvPr id="99" name="Shape 97"/>
          <p:cNvSpPr/>
          <p:nvPr/>
        </p:nvSpPr>
        <p:spPr>
          <a:xfrm>
            <a:off x="5074920" y="3392424"/>
            <a:ext cx="2194560" cy="420624"/>
          </a:xfrm>
          <a:prstGeom prst="rect">
            <a:avLst/>
          </a:prstGeom>
          <a:solidFill>
            <a:srgbClr val="FFFFFF"/>
          </a:solidFill>
          <a:ln w="4445">
            <a:solidFill>
              <a:srgbClr val="DFE8F2"/>
            </a:solidFill>
            <a:prstDash val="solid"/>
          </a:ln>
        </p:spPr>
      </p:sp>
      <p:sp>
        <p:nvSpPr>
          <p:cNvPr id="100" name="Text 98"/>
          <p:cNvSpPr/>
          <p:nvPr/>
        </p:nvSpPr>
        <p:spPr>
          <a:xfrm>
            <a:off x="5120640" y="3502152"/>
            <a:ext cx="21031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80" dirty="0">
                <a:solidFill>
                  <a:srgbClr val="172335"/>
                </a:solidFill>
              </a:rPr>
              <a:t>弱网下可恢复</a:t>
            </a:r>
            <a:endParaRPr lang="en-US" sz="780" dirty="0"/>
          </a:p>
        </p:txBody>
      </p:sp>
      <p:sp>
        <p:nvSpPr>
          <p:cNvPr id="101" name="Shape 99"/>
          <p:cNvSpPr/>
          <p:nvPr/>
        </p:nvSpPr>
        <p:spPr>
          <a:xfrm>
            <a:off x="685800" y="3813048"/>
            <a:ext cx="1920240" cy="420624"/>
          </a:xfrm>
          <a:prstGeom prst="rect">
            <a:avLst/>
          </a:prstGeom>
          <a:solidFill>
            <a:srgbClr val="F3F7FB"/>
          </a:solidFill>
          <a:ln w="4445">
            <a:solidFill>
              <a:srgbClr val="DFE8F2"/>
            </a:solidFill>
            <a:prstDash val="solid"/>
          </a:ln>
        </p:spPr>
      </p:sp>
      <p:sp>
        <p:nvSpPr>
          <p:cNvPr id="102" name="Text 100"/>
          <p:cNvSpPr/>
          <p:nvPr/>
        </p:nvSpPr>
        <p:spPr>
          <a:xfrm>
            <a:off x="731520" y="3922776"/>
            <a:ext cx="18288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80" dirty="0">
                <a:solidFill>
                  <a:srgbClr val="172335"/>
                </a:solidFill>
              </a:rPr>
              <a:t>OTA升级</a:t>
            </a:r>
            <a:endParaRPr lang="en-US" sz="780" dirty="0"/>
          </a:p>
        </p:txBody>
      </p:sp>
      <p:sp>
        <p:nvSpPr>
          <p:cNvPr id="103" name="Shape 101"/>
          <p:cNvSpPr/>
          <p:nvPr/>
        </p:nvSpPr>
        <p:spPr>
          <a:xfrm>
            <a:off x="2606040" y="3813048"/>
            <a:ext cx="1143000" cy="420624"/>
          </a:xfrm>
          <a:prstGeom prst="rect">
            <a:avLst/>
          </a:prstGeom>
          <a:solidFill>
            <a:srgbClr val="F3F7FB"/>
          </a:solidFill>
          <a:ln w="4445">
            <a:solidFill>
              <a:srgbClr val="DFE8F2"/>
            </a:solidFill>
            <a:prstDash val="solid"/>
          </a:ln>
        </p:spPr>
      </p:sp>
      <p:sp>
        <p:nvSpPr>
          <p:cNvPr id="104" name="Text 102"/>
          <p:cNvSpPr/>
          <p:nvPr/>
        </p:nvSpPr>
        <p:spPr>
          <a:xfrm>
            <a:off x="2651760" y="3922776"/>
            <a:ext cx="10515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80" dirty="0">
                <a:solidFill>
                  <a:srgbClr val="172335"/>
                </a:solidFill>
              </a:rPr>
              <a:t>10/10</a:t>
            </a:r>
            <a:endParaRPr lang="en-US" sz="780" dirty="0"/>
          </a:p>
        </p:txBody>
      </p:sp>
      <p:sp>
        <p:nvSpPr>
          <p:cNvPr id="105" name="Shape 103"/>
          <p:cNvSpPr/>
          <p:nvPr/>
        </p:nvSpPr>
        <p:spPr>
          <a:xfrm>
            <a:off x="3749040" y="3813048"/>
            <a:ext cx="1325880" cy="420624"/>
          </a:xfrm>
          <a:prstGeom prst="rect">
            <a:avLst/>
          </a:prstGeom>
          <a:solidFill>
            <a:srgbClr val="F3F7FB"/>
          </a:solidFill>
          <a:ln w="4445">
            <a:solidFill>
              <a:srgbClr val="DFE8F2"/>
            </a:solidFill>
            <a:prstDash val="solid"/>
          </a:ln>
        </p:spPr>
      </p:sp>
      <p:sp>
        <p:nvSpPr>
          <p:cNvPr id="106" name="Text 104"/>
          <p:cNvSpPr/>
          <p:nvPr/>
        </p:nvSpPr>
        <p:spPr>
          <a:xfrm>
            <a:off x="3794760" y="3922776"/>
            <a:ext cx="12344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80" dirty="0">
                <a:solidFill>
                  <a:srgbClr val="172335"/>
                </a:solidFill>
              </a:rPr>
              <a:t>约70s</a:t>
            </a:r>
            <a:endParaRPr lang="en-US" sz="780" dirty="0"/>
          </a:p>
        </p:txBody>
      </p:sp>
      <p:sp>
        <p:nvSpPr>
          <p:cNvPr id="107" name="Shape 105"/>
          <p:cNvSpPr/>
          <p:nvPr/>
        </p:nvSpPr>
        <p:spPr>
          <a:xfrm>
            <a:off x="5074920" y="3813048"/>
            <a:ext cx="2194560" cy="420624"/>
          </a:xfrm>
          <a:prstGeom prst="rect">
            <a:avLst/>
          </a:prstGeom>
          <a:solidFill>
            <a:srgbClr val="F3F7FB"/>
          </a:solidFill>
          <a:ln w="4445">
            <a:solidFill>
              <a:srgbClr val="DFE8F2"/>
            </a:solidFill>
            <a:prstDash val="solid"/>
          </a:ln>
        </p:spPr>
      </p:sp>
      <p:sp>
        <p:nvSpPr>
          <p:cNvPr id="108" name="Text 106"/>
          <p:cNvSpPr/>
          <p:nvPr/>
        </p:nvSpPr>
        <p:spPr>
          <a:xfrm>
            <a:off x="5120640" y="3922776"/>
            <a:ext cx="21031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80" dirty="0">
                <a:solidFill>
                  <a:srgbClr val="172335"/>
                </a:solidFill>
              </a:rPr>
              <a:t>回滚保护有效</a:t>
            </a:r>
            <a:endParaRPr lang="en-US" sz="780" dirty="0"/>
          </a:p>
        </p:txBody>
      </p:sp>
      <p:sp>
        <p:nvSpPr>
          <p:cNvPr id="109" name="Shape 107"/>
          <p:cNvSpPr/>
          <p:nvPr/>
        </p:nvSpPr>
        <p:spPr>
          <a:xfrm>
            <a:off x="7635240" y="1325880"/>
            <a:ext cx="3383280" cy="914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0160">
            <a:solidFill>
              <a:srgbClr val="D8E4EE"/>
            </a:solidFill>
            <a:prstDash val="solid"/>
          </a:ln>
        </p:spPr>
      </p:sp>
      <p:sp>
        <p:nvSpPr>
          <p:cNvPr id="110" name="Shape 108"/>
          <p:cNvSpPr/>
          <p:nvPr/>
        </p:nvSpPr>
        <p:spPr>
          <a:xfrm>
            <a:off x="7635240" y="1325880"/>
            <a:ext cx="45720" cy="914400"/>
          </a:xfrm>
          <a:prstGeom prst="rect">
            <a:avLst/>
          </a:prstGeom>
          <a:solidFill>
            <a:srgbClr val="F28B2E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11" name="Text 109"/>
          <p:cNvSpPr/>
          <p:nvPr/>
        </p:nvSpPr>
        <p:spPr>
          <a:xfrm>
            <a:off x="7799832" y="1481328"/>
            <a:ext cx="30540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72335"/>
                </a:solidFill>
              </a:rPr>
              <a:t>功耗测试结论</a:t>
            </a:r>
            <a:endParaRPr lang="en-US" sz="1400" dirty="0"/>
          </a:p>
        </p:txBody>
      </p:sp>
      <p:sp>
        <p:nvSpPr>
          <p:cNvPr id="112" name="Text 110"/>
          <p:cNvSpPr/>
          <p:nvPr/>
        </p:nvSpPr>
        <p:spPr>
          <a:xfrm>
            <a:off x="7799832" y="1801368"/>
            <a:ext cx="3054096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5D6D7E"/>
                </a:solidFill>
              </a:rPr>
              <a:t>10%亮度、WiFi关闭时约0.058A；100%亮度、WiFi关闭时约0.163A，亮屏功耗随背光升高明显增长。</a:t>
            </a:r>
            <a:endParaRPr lang="en-US" sz="1020" dirty="0"/>
          </a:p>
        </p:txBody>
      </p:sp>
      <p:sp>
        <p:nvSpPr>
          <p:cNvPr id="113" name="Shape 111"/>
          <p:cNvSpPr/>
          <p:nvPr/>
        </p:nvSpPr>
        <p:spPr>
          <a:xfrm>
            <a:off x="7635240" y="2560320"/>
            <a:ext cx="3383280" cy="914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0160">
            <a:solidFill>
              <a:srgbClr val="D8E4EE"/>
            </a:solidFill>
            <a:prstDash val="solid"/>
          </a:ln>
        </p:spPr>
      </p:sp>
      <p:sp>
        <p:nvSpPr>
          <p:cNvPr id="114" name="Shape 112"/>
          <p:cNvSpPr/>
          <p:nvPr/>
        </p:nvSpPr>
        <p:spPr>
          <a:xfrm>
            <a:off x="7635240" y="2560320"/>
            <a:ext cx="45720" cy="914400"/>
          </a:xfrm>
          <a:prstGeom prst="rect">
            <a:avLst/>
          </a:prstGeom>
          <a:solidFill>
            <a:srgbClr val="31A36B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15" name="Text 113"/>
          <p:cNvSpPr/>
          <p:nvPr/>
        </p:nvSpPr>
        <p:spPr>
          <a:xfrm>
            <a:off x="7799832" y="2715768"/>
            <a:ext cx="30540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72335"/>
                </a:solidFill>
              </a:rPr>
              <a:t>休眠测试结论</a:t>
            </a:r>
            <a:endParaRPr lang="en-US" sz="1400" dirty="0"/>
          </a:p>
        </p:txBody>
      </p:sp>
      <p:sp>
        <p:nvSpPr>
          <p:cNvPr id="116" name="Text 114"/>
          <p:cNvSpPr/>
          <p:nvPr/>
        </p:nvSpPr>
        <p:spPr>
          <a:xfrm>
            <a:off x="7799832" y="3035808"/>
            <a:ext cx="3054096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5D6D7E"/>
                </a:solidFill>
              </a:rPr>
              <a:t>LightSleep适合短时空闲快速恢复；DeepSleep适合长时间不用和防误触唤醒。</a:t>
            </a:r>
            <a:endParaRPr lang="en-US" sz="1020" dirty="0"/>
          </a:p>
        </p:txBody>
      </p:sp>
      <p:sp>
        <p:nvSpPr>
          <p:cNvPr id="117" name="Shape 115"/>
          <p:cNvSpPr/>
          <p:nvPr/>
        </p:nvSpPr>
        <p:spPr>
          <a:xfrm>
            <a:off x="7635240" y="3794760"/>
            <a:ext cx="3383280" cy="914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0160">
            <a:solidFill>
              <a:srgbClr val="D8E4EE"/>
            </a:solidFill>
            <a:prstDash val="solid"/>
          </a:ln>
        </p:spPr>
      </p:sp>
      <p:sp>
        <p:nvSpPr>
          <p:cNvPr id="118" name="Shape 116"/>
          <p:cNvSpPr/>
          <p:nvPr/>
        </p:nvSpPr>
        <p:spPr>
          <a:xfrm>
            <a:off x="7635240" y="3794760"/>
            <a:ext cx="45720" cy="914400"/>
          </a:xfrm>
          <a:prstGeom prst="rect">
            <a:avLst/>
          </a:prstGeom>
          <a:solidFill>
            <a:srgbClr val="D65757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19" name="Text 117"/>
          <p:cNvSpPr/>
          <p:nvPr/>
        </p:nvSpPr>
        <p:spPr>
          <a:xfrm>
            <a:off x="7799832" y="3950208"/>
            <a:ext cx="30540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72335"/>
                </a:solidFill>
              </a:rPr>
              <a:t>调试发现</a:t>
            </a:r>
            <a:endParaRPr lang="en-US" sz="1400" dirty="0"/>
          </a:p>
        </p:txBody>
      </p:sp>
      <p:sp>
        <p:nvSpPr>
          <p:cNvPr id="120" name="Text 118"/>
          <p:cNvSpPr/>
          <p:nvPr/>
        </p:nvSpPr>
        <p:spPr>
          <a:xfrm>
            <a:off x="7799832" y="4270248"/>
            <a:ext cx="3054096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5D6D7E"/>
                </a:solidFill>
              </a:rPr>
              <a:t>主要瓶颈集中在SD卡读取速度、大图解码时间和高负载视频刷新。</a:t>
            </a:r>
            <a:endParaRPr lang="en-US" sz="1020" dirty="0"/>
          </a:p>
        </p:txBody>
      </p:sp>
      <p:sp>
        <p:nvSpPr>
          <p:cNvPr id="121" name="Text 119"/>
          <p:cNvSpPr/>
          <p:nvPr/>
        </p:nvSpPr>
        <p:spPr>
          <a:xfrm>
            <a:off x="502920" y="6565392"/>
            <a:ext cx="5212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7E8FA3"/>
                </a:solidFill>
              </a:rPr>
              <a:t>基于ESP32-S3R8与LVGL的低功耗触控智能手表系统设计与实现</a:t>
            </a:r>
            <a:endParaRPr lang="en-US" sz="700" dirty="0"/>
          </a:p>
        </p:txBody>
      </p:sp>
      <p:sp>
        <p:nvSpPr>
          <p:cNvPr id="122" name="Text 120"/>
          <p:cNvSpPr/>
          <p:nvPr/>
        </p:nvSpPr>
        <p:spPr>
          <a:xfrm>
            <a:off x="11356848" y="6528816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0B63B6"/>
                </a:solidFill>
              </a:rPr>
              <a:t>09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 w="12700">
            <a:solidFill>
              <a:srgbClr val="F4F8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82880" y="0"/>
            <a:ext cx="0" cy="6858000"/>
          </a:xfrm>
          <a:prstGeom prst="line">
            <a:avLst/>
          </a:prstGeom>
          <a:noFill/>
          <a:ln w="3175">
            <a:solidFill>
              <a:srgbClr val="E5EEF6">
                <a:alpha val="6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94360" y="0"/>
            <a:ext cx="0" cy="6858000"/>
          </a:xfrm>
          <a:prstGeom prst="line">
            <a:avLst/>
          </a:prstGeom>
          <a:noFill/>
          <a:ln w="3175">
            <a:solidFill>
              <a:srgbClr val="E5EEF6">
                <a:alpha val="6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05840" y="0"/>
            <a:ext cx="0" cy="6858000"/>
          </a:xfrm>
          <a:prstGeom prst="line">
            <a:avLst/>
          </a:prstGeom>
          <a:noFill/>
          <a:ln w="3175">
            <a:solidFill>
              <a:srgbClr val="E5EEF6">
                <a:alpha val="6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417320" y="0"/>
            <a:ext cx="0" cy="6858000"/>
          </a:xfrm>
          <a:prstGeom prst="line">
            <a:avLst/>
          </a:prstGeom>
          <a:noFill/>
          <a:ln w="3175">
            <a:solidFill>
              <a:srgbClr val="E5EEF6">
                <a:alpha val="6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828800" y="0"/>
            <a:ext cx="0" cy="6858000"/>
          </a:xfrm>
          <a:prstGeom prst="line">
            <a:avLst/>
          </a:prstGeom>
          <a:noFill/>
          <a:ln w="3175">
            <a:solidFill>
              <a:srgbClr val="E5EEF6">
                <a:alpha val="65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240280" y="0"/>
            <a:ext cx="0" cy="6858000"/>
          </a:xfrm>
          <a:prstGeom prst="line">
            <a:avLst/>
          </a:prstGeom>
          <a:noFill/>
          <a:ln w="3175">
            <a:solidFill>
              <a:srgbClr val="E5EEF6">
                <a:alpha val="65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651760" y="0"/>
            <a:ext cx="0" cy="6858000"/>
          </a:xfrm>
          <a:prstGeom prst="line">
            <a:avLst/>
          </a:prstGeom>
          <a:noFill/>
          <a:ln w="3175">
            <a:solidFill>
              <a:srgbClr val="E5EEF6">
                <a:alpha val="65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063240" y="0"/>
            <a:ext cx="0" cy="6858000"/>
          </a:xfrm>
          <a:prstGeom prst="line">
            <a:avLst/>
          </a:prstGeom>
          <a:noFill/>
          <a:ln w="3175">
            <a:solidFill>
              <a:srgbClr val="E5EEF6">
                <a:alpha val="65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474720" y="0"/>
            <a:ext cx="0" cy="6858000"/>
          </a:xfrm>
          <a:prstGeom prst="line">
            <a:avLst/>
          </a:prstGeom>
          <a:noFill/>
          <a:ln w="3175">
            <a:solidFill>
              <a:srgbClr val="E5EEF6">
                <a:alpha val="65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886200" y="0"/>
            <a:ext cx="0" cy="6858000"/>
          </a:xfrm>
          <a:prstGeom prst="line">
            <a:avLst/>
          </a:prstGeom>
          <a:noFill/>
          <a:ln w="3175">
            <a:solidFill>
              <a:srgbClr val="E5EEF6">
                <a:alpha val="65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297680" y="0"/>
            <a:ext cx="0" cy="6858000"/>
          </a:xfrm>
          <a:prstGeom prst="line">
            <a:avLst/>
          </a:prstGeom>
          <a:noFill/>
          <a:ln w="3175">
            <a:solidFill>
              <a:srgbClr val="E5EEF6">
                <a:alpha val="65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709160" y="0"/>
            <a:ext cx="0" cy="6858000"/>
          </a:xfrm>
          <a:prstGeom prst="line">
            <a:avLst/>
          </a:prstGeom>
          <a:noFill/>
          <a:ln w="3175">
            <a:solidFill>
              <a:srgbClr val="E5EEF6">
                <a:alpha val="65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120640" y="0"/>
            <a:ext cx="0" cy="6858000"/>
          </a:xfrm>
          <a:prstGeom prst="line">
            <a:avLst/>
          </a:prstGeom>
          <a:noFill/>
          <a:ln w="3175">
            <a:solidFill>
              <a:srgbClr val="E5EEF6">
                <a:alpha val="65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532120" y="0"/>
            <a:ext cx="0" cy="6858000"/>
          </a:xfrm>
          <a:prstGeom prst="line">
            <a:avLst/>
          </a:prstGeom>
          <a:noFill/>
          <a:ln w="3175">
            <a:solidFill>
              <a:srgbClr val="E5EEF6">
                <a:alpha val="65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943600" y="0"/>
            <a:ext cx="0" cy="6858000"/>
          </a:xfrm>
          <a:prstGeom prst="line">
            <a:avLst/>
          </a:prstGeom>
          <a:noFill/>
          <a:ln w="3175">
            <a:solidFill>
              <a:srgbClr val="E5EEF6">
                <a:alpha val="65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355080" y="0"/>
            <a:ext cx="0" cy="6858000"/>
          </a:xfrm>
          <a:prstGeom prst="line">
            <a:avLst/>
          </a:prstGeom>
          <a:noFill/>
          <a:ln w="3175">
            <a:solidFill>
              <a:srgbClr val="E5EEF6">
                <a:alpha val="65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766560" y="0"/>
            <a:ext cx="0" cy="6858000"/>
          </a:xfrm>
          <a:prstGeom prst="line">
            <a:avLst/>
          </a:prstGeom>
          <a:noFill/>
          <a:ln w="3175">
            <a:solidFill>
              <a:srgbClr val="E5EEF6">
                <a:alpha val="65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178040" y="0"/>
            <a:ext cx="0" cy="6858000"/>
          </a:xfrm>
          <a:prstGeom prst="line">
            <a:avLst/>
          </a:prstGeom>
          <a:noFill/>
          <a:ln w="3175">
            <a:solidFill>
              <a:srgbClr val="E5EEF6">
                <a:alpha val="65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589520" y="0"/>
            <a:ext cx="0" cy="6858000"/>
          </a:xfrm>
          <a:prstGeom prst="line">
            <a:avLst/>
          </a:prstGeom>
          <a:noFill/>
          <a:ln w="3175">
            <a:solidFill>
              <a:srgbClr val="E5EEF6">
                <a:alpha val="65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001000" y="0"/>
            <a:ext cx="0" cy="6858000"/>
          </a:xfrm>
          <a:prstGeom prst="line">
            <a:avLst/>
          </a:prstGeom>
          <a:noFill/>
          <a:ln w="3175">
            <a:solidFill>
              <a:srgbClr val="E5EEF6">
                <a:alpha val="65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412480" y="0"/>
            <a:ext cx="0" cy="6858000"/>
          </a:xfrm>
          <a:prstGeom prst="line">
            <a:avLst/>
          </a:prstGeom>
          <a:noFill/>
          <a:ln w="3175">
            <a:solidFill>
              <a:srgbClr val="E5EEF6">
                <a:alpha val="65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823960" y="0"/>
            <a:ext cx="0" cy="6858000"/>
          </a:xfrm>
          <a:prstGeom prst="line">
            <a:avLst/>
          </a:prstGeom>
          <a:noFill/>
          <a:ln w="3175">
            <a:solidFill>
              <a:srgbClr val="E5EEF6">
                <a:alpha val="65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9235440" y="0"/>
            <a:ext cx="0" cy="6858000"/>
          </a:xfrm>
          <a:prstGeom prst="line">
            <a:avLst/>
          </a:prstGeom>
          <a:noFill/>
          <a:ln w="3175">
            <a:solidFill>
              <a:srgbClr val="E5EEF6">
                <a:alpha val="65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9646920" y="0"/>
            <a:ext cx="0" cy="6858000"/>
          </a:xfrm>
          <a:prstGeom prst="line">
            <a:avLst/>
          </a:prstGeom>
          <a:noFill/>
          <a:ln w="3175">
            <a:solidFill>
              <a:srgbClr val="E5EEF6">
                <a:alpha val="65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0058400" y="0"/>
            <a:ext cx="0" cy="6858000"/>
          </a:xfrm>
          <a:prstGeom prst="line">
            <a:avLst/>
          </a:prstGeom>
          <a:noFill/>
          <a:ln w="3175">
            <a:solidFill>
              <a:srgbClr val="E5EEF6">
                <a:alpha val="65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0469880" y="0"/>
            <a:ext cx="0" cy="6858000"/>
          </a:xfrm>
          <a:prstGeom prst="line">
            <a:avLst/>
          </a:prstGeom>
          <a:noFill/>
          <a:ln w="3175">
            <a:solidFill>
              <a:srgbClr val="E5EEF6">
                <a:alpha val="65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0881360" y="0"/>
            <a:ext cx="0" cy="6858000"/>
          </a:xfrm>
          <a:prstGeom prst="line">
            <a:avLst/>
          </a:prstGeom>
          <a:noFill/>
          <a:ln w="3175">
            <a:solidFill>
              <a:srgbClr val="E5EEF6">
                <a:alpha val="65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1292840" y="0"/>
            <a:ext cx="0" cy="6858000"/>
          </a:xfrm>
          <a:prstGeom prst="line">
            <a:avLst/>
          </a:prstGeom>
          <a:noFill/>
          <a:ln w="3175">
            <a:solidFill>
              <a:srgbClr val="E5EEF6">
                <a:alpha val="65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1704320" y="0"/>
            <a:ext cx="0" cy="6858000"/>
          </a:xfrm>
          <a:prstGeom prst="line">
            <a:avLst/>
          </a:prstGeom>
          <a:noFill/>
          <a:ln w="3175">
            <a:solidFill>
              <a:srgbClr val="E5EEF6">
                <a:alpha val="65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12115800" y="0"/>
            <a:ext cx="0" cy="6858000"/>
          </a:xfrm>
          <a:prstGeom prst="line">
            <a:avLst/>
          </a:prstGeom>
          <a:noFill/>
          <a:ln w="3175">
            <a:solidFill>
              <a:srgbClr val="E5EEF6">
                <a:alpha val="65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182880"/>
            <a:ext cx="12191695" cy="0"/>
          </a:xfrm>
          <a:prstGeom prst="line">
            <a:avLst/>
          </a:prstGeom>
          <a:noFill/>
          <a:ln w="3175">
            <a:solidFill>
              <a:srgbClr val="E5EEF6">
                <a:alpha val="65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594360"/>
            <a:ext cx="12191695" cy="0"/>
          </a:xfrm>
          <a:prstGeom prst="line">
            <a:avLst/>
          </a:prstGeom>
          <a:noFill/>
          <a:ln w="3175">
            <a:solidFill>
              <a:srgbClr val="E5EEF6">
                <a:alpha val="65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0" y="1005840"/>
            <a:ext cx="12191695" cy="0"/>
          </a:xfrm>
          <a:prstGeom prst="line">
            <a:avLst/>
          </a:prstGeom>
          <a:noFill/>
          <a:ln w="3175">
            <a:solidFill>
              <a:srgbClr val="E5EEF6">
                <a:alpha val="6500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0" y="1417320"/>
            <a:ext cx="12191695" cy="0"/>
          </a:xfrm>
          <a:prstGeom prst="line">
            <a:avLst/>
          </a:prstGeom>
          <a:noFill/>
          <a:ln w="3175">
            <a:solidFill>
              <a:srgbClr val="E5EEF6">
                <a:alpha val="6500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0" y="1828800"/>
            <a:ext cx="12191695" cy="0"/>
          </a:xfrm>
          <a:prstGeom prst="line">
            <a:avLst/>
          </a:prstGeom>
          <a:noFill/>
          <a:ln w="3175">
            <a:solidFill>
              <a:srgbClr val="E5EEF6">
                <a:alpha val="6500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0" y="2240280"/>
            <a:ext cx="12191695" cy="0"/>
          </a:xfrm>
          <a:prstGeom prst="line">
            <a:avLst/>
          </a:prstGeom>
          <a:noFill/>
          <a:ln w="3175">
            <a:solidFill>
              <a:srgbClr val="E5EEF6">
                <a:alpha val="6500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0" y="2651760"/>
            <a:ext cx="12191695" cy="0"/>
          </a:xfrm>
          <a:prstGeom prst="line">
            <a:avLst/>
          </a:prstGeom>
          <a:noFill/>
          <a:ln w="3175">
            <a:solidFill>
              <a:srgbClr val="E5EEF6">
                <a:alpha val="6500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0" y="3063240"/>
            <a:ext cx="12191695" cy="0"/>
          </a:xfrm>
          <a:prstGeom prst="line">
            <a:avLst/>
          </a:prstGeom>
          <a:noFill/>
          <a:ln w="3175">
            <a:solidFill>
              <a:srgbClr val="E5EEF6">
                <a:alpha val="6500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0" y="3474720"/>
            <a:ext cx="12191695" cy="0"/>
          </a:xfrm>
          <a:prstGeom prst="line">
            <a:avLst/>
          </a:prstGeom>
          <a:noFill/>
          <a:ln w="3175">
            <a:solidFill>
              <a:srgbClr val="E5EEF6">
                <a:alpha val="6500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0" y="3886200"/>
            <a:ext cx="12191695" cy="0"/>
          </a:xfrm>
          <a:prstGeom prst="line">
            <a:avLst/>
          </a:prstGeom>
          <a:noFill/>
          <a:ln w="3175">
            <a:solidFill>
              <a:srgbClr val="E5EEF6">
                <a:alpha val="65000"/>
              </a:srgbClr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0" y="4297680"/>
            <a:ext cx="12191695" cy="0"/>
          </a:xfrm>
          <a:prstGeom prst="line">
            <a:avLst/>
          </a:prstGeom>
          <a:noFill/>
          <a:ln w="3175">
            <a:solidFill>
              <a:srgbClr val="E5EEF6">
                <a:alpha val="65000"/>
              </a:srgbClr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0" y="4709160"/>
            <a:ext cx="12191695" cy="0"/>
          </a:xfrm>
          <a:prstGeom prst="line">
            <a:avLst/>
          </a:prstGeom>
          <a:noFill/>
          <a:ln w="3175">
            <a:solidFill>
              <a:srgbClr val="E5EEF6">
                <a:alpha val="65000"/>
              </a:srgbClr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0" y="5120640"/>
            <a:ext cx="12191695" cy="0"/>
          </a:xfrm>
          <a:prstGeom prst="line">
            <a:avLst/>
          </a:prstGeom>
          <a:noFill/>
          <a:ln w="3175">
            <a:solidFill>
              <a:srgbClr val="E5EEF6">
                <a:alpha val="65000"/>
              </a:srgbClr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0" y="5532120"/>
            <a:ext cx="12191695" cy="0"/>
          </a:xfrm>
          <a:prstGeom prst="line">
            <a:avLst/>
          </a:prstGeom>
          <a:noFill/>
          <a:ln w="3175">
            <a:solidFill>
              <a:srgbClr val="E5EEF6">
                <a:alpha val="65000"/>
              </a:srgbClr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0" y="5943600"/>
            <a:ext cx="12191695" cy="0"/>
          </a:xfrm>
          <a:prstGeom prst="line">
            <a:avLst/>
          </a:prstGeom>
          <a:noFill/>
          <a:ln w="3175">
            <a:solidFill>
              <a:srgbClr val="E5EEF6">
                <a:alpha val="65000"/>
              </a:srgbClr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0" y="6355080"/>
            <a:ext cx="12191695" cy="0"/>
          </a:xfrm>
          <a:prstGeom prst="line">
            <a:avLst/>
          </a:prstGeom>
          <a:noFill/>
          <a:ln w="3175">
            <a:solidFill>
              <a:srgbClr val="E5EEF6">
                <a:alpha val="65000"/>
              </a:srgbClr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DDEDF8">
              <a:alpha val="90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75488" y="329184"/>
            <a:ext cx="3291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2B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06</a:t>
            </a:r>
            <a:endParaRPr lang="en-US" sz="1300" dirty="0"/>
          </a:p>
        </p:txBody>
      </p:sp>
      <p:sp>
        <p:nvSpPr>
          <p:cNvPr id="51" name="Text 49"/>
          <p:cNvSpPr/>
          <p:nvPr/>
        </p:nvSpPr>
        <p:spPr>
          <a:xfrm>
            <a:off x="841248" y="310896"/>
            <a:ext cx="7863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723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总结与未来展望</a:t>
            </a:r>
            <a:endParaRPr lang="en-US" sz="1800" dirty="0"/>
          </a:p>
        </p:txBody>
      </p:sp>
      <p:sp>
        <p:nvSpPr>
          <p:cNvPr id="52" name="Text 50"/>
          <p:cNvSpPr/>
          <p:nvPr/>
        </p:nvSpPr>
        <p:spPr>
          <a:xfrm>
            <a:off x="841248" y="621792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0B63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CONCLUSION</a:t>
            </a:r>
            <a:endParaRPr lang="en-US" sz="750" dirty="0"/>
          </a:p>
        </p:txBody>
      </p:sp>
      <p:sp>
        <p:nvSpPr>
          <p:cNvPr id="53" name="Shape 51"/>
          <p:cNvSpPr/>
          <p:nvPr/>
        </p:nvSpPr>
        <p:spPr>
          <a:xfrm>
            <a:off x="685800" y="1280160"/>
            <a:ext cx="4983480" cy="4160520"/>
          </a:xfrm>
          <a:prstGeom prst="roundRect">
            <a:avLst>
              <a:gd name="adj" fmla="val 1099"/>
            </a:avLst>
          </a:prstGeom>
          <a:solidFill>
            <a:srgbClr val="FFFFFF"/>
          </a:solidFill>
          <a:ln w="10160">
            <a:solidFill>
              <a:srgbClr val="D8E4EE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685800" y="1280160"/>
            <a:ext cx="45720" cy="4160520"/>
          </a:xfrm>
          <a:prstGeom prst="rect">
            <a:avLst/>
          </a:prstGeom>
          <a:solidFill>
            <a:srgbClr val="0B63B6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850392" y="1435608"/>
            <a:ext cx="46542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72335"/>
                </a:solidFill>
              </a:rPr>
              <a:t>研究总结</a:t>
            </a:r>
            <a:endParaRPr lang="en-US" sz="1600" dirty="0"/>
          </a:p>
        </p:txBody>
      </p:sp>
      <p:sp>
        <p:nvSpPr>
          <p:cNvPr id="56" name="Text 54"/>
          <p:cNvSpPr/>
          <p:nvPr/>
        </p:nvSpPr>
        <p:spPr>
          <a:xfrm>
            <a:off x="850392" y="1755648"/>
            <a:ext cx="4654296" cy="3593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5D6D7E"/>
                </a:solidFill>
              </a:rPr>
              <a:t>本课题完成了基于ESP32-S3R8的低功耗触控智能手表系统，从硬件最小系统、显示触控驱动、SD卡存储、RTC时间管理，到LVGL图形界面、FreeRTOS任务调度、多媒体播放、联网服务和OTA升级，形成了一套较完整的嵌入式穿戴终端实现方案。</a:t>
            </a:r>
            <a:endParaRPr lang="en-US" sz="1220" dirty="0"/>
          </a:p>
        </p:txBody>
      </p:sp>
      <p:sp>
        <p:nvSpPr>
          <p:cNvPr id="57" name="Shape 55"/>
          <p:cNvSpPr/>
          <p:nvPr/>
        </p:nvSpPr>
        <p:spPr>
          <a:xfrm>
            <a:off x="6172200" y="1280160"/>
            <a:ext cx="4754880" cy="713232"/>
          </a:xfrm>
          <a:prstGeom prst="roundRect">
            <a:avLst>
              <a:gd name="adj" fmla="val 6410"/>
            </a:avLst>
          </a:prstGeom>
          <a:solidFill>
            <a:srgbClr val="FFFFFF"/>
          </a:solidFill>
          <a:ln w="10160">
            <a:solidFill>
              <a:srgbClr val="D8E4EE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6172200" y="1280160"/>
            <a:ext cx="45720" cy="713232"/>
          </a:xfrm>
          <a:prstGeom prst="rect">
            <a:avLst/>
          </a:prstGeom>
          <a:solidFill>
            <a:srgbClr val="F28B2E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6336792" y="1435608"/>
            <a:ext cx="44256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172335"/>
                </a:solidFill>
              </a:rPr>
              <a:t>多媒体性能</a:t>
            </a:r>
            <a:endParaRPr lang="en-US" sz="1350" dirty="0"/>
          </a:p>
        </p:txBody>
      </p:sp>
      <p:sp>
        <p:nvSpPr>
          <p:cNvPr id="60" name="Text 58"/>
          <p:cNvSpPr/>
          <p:nvPr/>
        </p:nvSpPr>
        <p:spPr>
          <a:xfrm>
            <a:off x="6336792" y="1755648"/>
            <a:ext cx="4425696" cy="1463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5D6D7E"/>
                </a:solidFill>
              </a:rPr>
              <a:t>优化缓存和解码流程，减少大图与视频场景卡顿</a:t>
            </a:r>
            <a:endParaRPr lang="en-US" sz="960" dirty="0"/>
          </a:p>
        </p:txBody>
      </p:sp>
      <p:sp>
        <p:nvSpPr>
          <p:cNvPr id="61" name="Shape 59"/>
          <p:cNvSpPr/>
          <p:nvPr/>
        </p:nvSpPr>
        <p:spPr>
          <a:xfrm>
            <a:off x="6172200" y="2313432"/>
            <a:ext cx="4754880" cy="713232"/>
          </a:xfrm>
          <a:prstGeom prst="roundRect">
            <a:avLst>
              <a:gd name="adj" fmla="val 6410"/>
            </a:avLst>
          </a:prstGeom>
          <a:solidFill>
            <a:srgbClr val="FFFFFF"/>
          </a:solidFill>
          <a:ln w="10160">
            <a:solidFill>
              <a:srgbClr val="D8E4EE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6172200" y="2313432"/>
            <a:ext cx="45720" cy="713232"/>
          </a:xfrm>
          <a:prstGeom prst="rect">
            <a:avLst/>
          </a:prstGeom>
          <a:solidFill>
            <a:srgbClr val="31A36B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6336792" y="2468880"/>
            <a:ext cx="44256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172335"/>
                </a:solidFill>
              </a:rPr>
              <a:t>功耗优化</a:t>
            </a:r>
            <a:endParaRPr lang="en-US" sz="1350" dirty="0"/>
          </a:p>
        </p:txBody>
      </p:sp>
      <p:sp>
        <p:nvSpPr>
          <p:cNvPr id="64" name="Text 62"/>
          <p:cNvSpPr/>
          <p:nvPr/>
        </p:nvSpPr>
        <p:spPr>
          <a:xfrm>
            <a:off x="6336792" y="2788920"/>
            <a:ext cx="4425696" cy="1463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5D6D7E"/>
                </a:solidFill>
              </a:rPr>
              <a:t>增加外设断电控制，进一步降低休眠电流</a:t>
            </a:r>
            <a:endParaRPr lang="en-US" sz="960" dirty="0"/>
          </a:p>
        </p:txBody>
      </p:sp>
      <p:sp>
        <p:nvSpPr>
          <p:cNvPr id="65" name="Shape 63"/>
          <p:cNvSpPr/>
          <p:nvPr/>
        </p:nvSpPr>
        <p:spPr>
          <a:xfrm>
            <a:off x="6172200" y="3346704"/>
            <a:ext cx="4754880" cy="713232"/>
          </a:xfrm>
          <a:prstGeom prst="roundRect">
            <a:avLst>
              <a:gd name="adj" fmla="val 6410"/>
            </a:avLst>
          </a:prstGeom>
          <a:solidFill>
            <a:srgbClr val="FFFFFF"/>
          </a:solidFill>
          <a:ln w="10160">
            <a:solidFill>
              <a:srgbClr val="D8E4EE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6172200" y="3346704"/>
            <a:ext cx="45720" cy="713232"/>
          </a:xfrm>
          <a:prstGeom prst="rect">
            <a:avLst/>
          </a:prstGeom>
          <a:solidFill>
            <a:srgbClr val="22B8D7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6336792" y="3502152"/>
            <a:ext cx="44256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172335"/>
                </a:solidFill>
              </a:rPr>
              <a:t>结构优化</a:t>
            </a:r>
            <a:endParaRPr lang="en-US" sz="1350" dirty="0"/>
          </a:p>
        </p:txBody>
      </p:sp>
      <p:sp>
        <p:nvSpPr>
          <p:cNvPr id="68" name="Text 66"/>
          <p:cNvSpPr/>
          <p:nvPr/>
        </p:nvSpPr>
        <p:spPr>
          <a:xfrm>
            <a:off x="6336792" y="3822192"/>
            <a:ext cx="4425696" cy="1463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5D6D7E"/>
                </a:solidFill>
              </a:rPr>
              <a:t>优化PCB与屏幕布局，压缩整机厚度</a:t>
            </a:r>
            <a:endParaRPr lang="en-US" sz="960" dirty="0"/>
          </a:p>
        </p:txBody>
      </p:sp>
      <p:sp>
        <p:nvSpPr>
          <p:cNvPr id="69" name="Shape 67"/>
          <p:cNvSpPr/>
          <p:nvPr/>
        </p:nvSpPr>
        <p:spPr>
          <a:xfrm>
            <a:off x="6172200" y="4379976"/>
            <a:ext cx="4754880" cy="713232"/>
          </a:xfrm>
          <a:prstGeom prst="roundRect">
            <a:avLst>
              <a:gd name="adj" fmla="val 6410"/>
            </a:avLst>
          </a:prstGeom>
          <a:solidFill>
            <a:srgbClr val="FFFFFF"/>
          </a:solidFill>
          <a:ln w="10160">
            <a:solidFill>
              <a:srgbClr val="D8E4EE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6172200" y="4379976"/>
            <a:ext cx="45720" cy="713232"/>
          </a:xfrm>
          <a:prstGeom prst="rect">
            <a:avLst/>
          </a:prstGeom>
          <a:solidFill>
            <a:srgbClr val="D65757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6336792" y="4535424"/>
            <a:ext cx="44256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172335"/>
                </a:solidFill>
              </a:rPr>
              <a:t>可靠性提升</a:t>
            </a:r>
            <a:endParaRPr lang="en-US" sz="1350" dirty="0"/>
          </a:p>
        </p:txBody>
      </p:sp>
      <p:sp>
        <p:nvSpPr>
          <p:cNvPr id="72" name="Text 70"/>
          <p:cNvSpPr/>
          <p:nvPr/>
        </p:nvSpPr>
        <p:spPr>
          <a:xfrm>
            <a:off x="6336792" y="4855464"/>
            <a:ext cx="4425696" cy="1463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5D6D7E"/>
                </a:solidFill>
              </a:rPr>
              <a:t>增强弱网重连、异常恢复和长期运行监控</a:t>
            </a:r>
            <a:endParaRPr lang="en-US" sz="960" dirty="0"/>
          </a:p>
        </p:txBody>
      </p:sp>
      <p:sp>
        <p:nvSpPr>
          <p:cNvPr id="73" name="Text 71"/>
          <p:cNvSpPr/>
          <p:nvPr/>
        </p:nvSpPr>
        <p:spPr>
          <a:xfrm>
            <a:off x="502920" y="6565392"/>
            <a:ext cx="5212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7E8FA3"/>
                </a:solidFill>
              </a:rPr>
              <a:t>基于ESP32-S3R8与LVGL的低功耗触控智能手表系统设计与实现</a:t>
            </a:r>
            <a:endParaRPr lang="en-US" sz="700" dirty="0"/>
          </a:p>
        </p:txBody>
      </p:sp>
      <p:sp>
        <p:nvSpPr>
          <p:cNvPr id="74" name="Text 72"/>
          <p:cNvSpPr/>
          <p:nvPr/>
        </p:nvSpPr>
        <p:spPr>
          <a:xfrm>
            <a:off x="11356848" y="6528816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0B63B6"/>
                </a:solidFill>
              </a:rPr>
              <a:t>10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EFF6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FF6FC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617720"/>
            <a:ext cx="12191695" cy="2240280"/>
          </a:xfrm>
          <a:prstGeom prst="rect">
            <a:avLst/>
          </a:prstGeom>
          <a:solidFill>
            <a:srgbClr val="D8EBF7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5669280"/>
            <a:ext cx="822960" cy="-365760"/>
          </a:xfrm>
          <a:prstGeom prst="line">
            <a:avLst/>
          </a:prstGeom>
          <a:noFill/>
          <a:ln w="10160">
            <a:solidFill>
              <a:srgbClr val="A8C8DD">
                <a:alpha val="7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463040" y="5532120"/>
            <a:ext cx="822960" cy="-365760"/>
          </a:xfrm>
          <a:prstGeom prst="line">
            <a:avLst/>
          </a:prstGeom>
          <a:noFill/>
          <a:ln w="10160">
            <a:solidFill>
              <a:srgbClr val="A8C8DD">
                <a:alpha val="7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560320" y="5394960"/>
            <a:ext cx="822960" cy="-365760"/>
          </a:xfrm>
          <a:prstGeom prst="line">
            <a:avLst/>
          </a:prstGeom>
          <a:noFill/>
          <a:ln w="10160">
            <a:solidFill>
              <a:srgbClr val="A8C8DD">
                <a:alpha val="7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0" y="5669280"/>
            <a:ext cx="822960" cy="-365760"/>
          </a:xfrm>
          <a:prstGeom prst="line">
            <a:avLst/>
          </a:prstGeom>
          <a:noFill/>
          <a:ln w="10160">
            <a:solidFill>
              <a:srgbClr val="A8C8DD">
                <a:alpha val="75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754880" y="5532120"/>
            <a:ext cx="822960" cy="-365760"/>
          </a:xfrm>
          <a:prstGeom prst="line">
            <a:avLst/>
          </a:prstGeom>
          <a:noFill/>
          <a:ln w="10160">
            <a:solidFill>
              <a:srgbClr val="A8C8DD">
                <a:alpha val="75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852160" y="5394960"/>
            <a:ext cx="822960" cy="-365760"/>
          </a:xfrm>
          <a:prstGeom prst="line">
            <a:avLst/>
          </a:prstGeom>
          <a:noFill/>
          <a:ln w="10160">
            <a:solidFill>
              <a:srgbClr val="A8C8DD">
                <a:alpha val="75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949440" y="5669280"/>
            <a:ext cx="822960" cy="-365760"/>
          </a:xfrm>
          <a:prstGeom prst="line">
            <a:avLst/>
          </a:prstGeom>
          <a:noFill/>
          <a:ln w="10160">
            <a:solidFill>
              <a:srgbClr val="A8C8DD">
                <a:alpha val="75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046720" y="5532120"/>
            <a:ext cx="822960" cy="-365760"/>
          </a:xfrm>
          <a:prstGeom prst="line">
            <a:avLst/>
          </a:prstGeom>
          <a:noFill/>
          <a:ln w="10160">
            <a:solidFill>
              <a:srgbClr val="A8C8DD">
                <a:alpha val="75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144000" y="5394960"/>
            <a:ext cx="822960" cy="-365760"/>
          </a:xfrm>
          <a:prstGeom prst="line">
            <a:avLst/>
          </a:prstGeom>
          <a:noFill/>
          <a:ln w="10160">
            <a:solidFill>
              <a:srgbClr val="A8C8DD">
                <a:alpha val="75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0241280" y="5669280"/>
            <a:ext cx="822960" cy="-365760"/>
          </a:xfrm>
          <a:prstGeom prst="line">
            <a:avLst/>
          </a:prstGeom>
          <a:noFill/>
          <a:ln w="10160">
            <a:solidFill>
              <a:srgbClr val="A8C8DD">
                <a:alpha val="75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297680" y="2331720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900" b="1" dirty="0">
                <a:solidFill>
                  <a:srgbClr val="0B63B6"/>
                </a:solidFill>
              </a:rPr>
              <a:t>感谢聆听</a:t>
            </a:r>
            <a:endParaRPr lang="en-US" sz="2900" dirty="0"/>
          </a:p>
        </p:txBody>
      </p:sp>
      <p:sp>
        <p:nvSpPr>
          <p:cNvPr id="15" name="Text 13"/>
          <p:cNvSpPr/>
          <p:nvPr/>
        </p:nvSpPr>
        <p:spPr>
          <a:xfrm>
            <a:off x="4251960" y="2999232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72335"/>
                </a:solidFill>
              </a:rPr>
              <a:t>恳请各位老师批评指正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2971800" y="5989320"/>
            <a:ext cx="6217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D6D7E"/>
                </a:solidFill>
              </a:rPr>
              <a:t>基于ESP32-S3R8与LVGL的低功耗触控智能手表系统设计与实现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Ya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Ya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ESP32-S3R8低功耗触控智能手表系统答辩汇报</dc:title>
  <dc:subject>基于ESP32-S3R8与LVGL的低功耗触控智能手表系统设计与实现</dc:subject>
  <dc:creator>Codex</dc:creator>
  <cp:lastModifiedBy>Codex</cp:lastModifiedBy>
  <cp:revision>1</cp:revision>
  <dcterms:created xsi:type="dcterms:W3CDTF">2026-05-25T16:41:45Z</dcterms:created>
  <dcterms:modified xsi:type="dcterms:W3CDTF">2026-05-25T16:41:45Z</dcterms:modified>
</cp:coreProperties>
</file>