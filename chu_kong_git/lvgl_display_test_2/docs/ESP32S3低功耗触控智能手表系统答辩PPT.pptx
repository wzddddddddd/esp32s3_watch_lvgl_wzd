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B6B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DCE7"/>
                </a:solidFill>
              </a:rPr>
              <a:t>毕业论文答辩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基于ESP32-S3R8与LVGL的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低功耗触控智能手表系统设计与实现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76656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6F2"/>
                </a:solidFill>
              </a:rPr>
              <a:t>面向资源受限 MCU 的图形交互、多媒体、云端协同与低功耗综合实现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6656" y="3886200"/>
            <a:ext cx="1874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02336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</a:rPr>
              <a:t>≈25fps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437997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视频播放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41248" y="459943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MJPEG连续帧显示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788920" y="3886200"/>
            <a:ext cx="1874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35224" y="402336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A6B8"/>
                </a:solidFill>
              </a:rPr>
              <a:t>&lt;50ms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53512" y="437997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触控响应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2953512" y="459943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手势与点击跟手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4901184" y="3886200"/>
            <a:ext cx="1874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402336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267"/>
                </a:solidFill>
              </a:rPr>
              <a:t>OTA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65776" y="437997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升级维护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065776" y="459943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本地与云端双路径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013448" y="3886200"/>
            <a:ext cx="1874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9752" y="4023360"/>
            <a:ext cx="1581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A4E8"/>
                </a:solidFill>
              </a:rPr>
              <a:t>双休眠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78040" y="4379976"/>
            <a:ext cx="1581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低功耗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178040" y="4599432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Light/Deep Sleep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658368" y="6080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D0E4"/>
                </a:solidFill>
              </a:rPr>
              <a:t>ESP32-S3R8 · ST7789P3 · CST816T · SD3078 · LVGL · FreeRTOS · OneNET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26880" y="1143000"/>
            <a:ext cx="2011680" cy="2011680"/>
          </a:xfrm>
          <a:prstGeom prst="arc">
            <a:avLst/>
          </a:prstGeom>
          <a:solidFill>
            <a:srgbClr val="000000">
              <a:alpha val="0"/>
            </a:srgbClr>
          </a:solidFill>
          <a:ln w="38100">
            <a:solidFill>
              <a:srgbClr val="99DCE7">
                <a:alpha val="8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1554480"/>
            <a:ext cx="1188720" cy="1188720"/>
          </a:xfrm>
          <a:prstGeom prst="arc">
            <a:avLst/>
          </a:prstGeom>
          <a:solidFill>
            <a:srgbClr val="000000">
              <a:alpha val="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BACKGROUND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研究目标：在 MCU 平台上兼顾流畅交互、多媒体能力与功耗可控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高性能智能手表与低成本嵌入式方案之间存在明显工程空档。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" y="17556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问题场景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" y="2075688"/>
            <a:ext cx="300837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</a:rPr>
              <a:t>传统低功耗手环界面和多媒体能力有限；高端智能手表性能强但硬件成本与系统复杂度高。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6002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9432" y="17556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课题切入点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99432" y="2075688"/>
            <a:ext cx="300837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</a:rPr>
              <a:t>以 ESP32-S3R8 为主控，利用双核处理、外部存储、LVGL图形框架和FreeRTOS调度完成系统级整合。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75320" y="1600200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9912" y="1755648"/>
            <a:ext cx="3008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33"/>
                </a:solidFill>
              </a:rPr>
              <a:t>答辩关注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39912" y="2075688"/>
            <a:ext cx="3008376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B6B7E"/>
                </a:solidFill>
              </a:rPr>
              <a:t>不只展示功能堆叠，而是说明硬件资源、软件任务、消息队列和功耗策略如何协同。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617720"/>
            <a:ext cx="9966960" cy="0"/>
          </a:xfrm>
          <a:prstGeom prst="line">
            <a:avLst/>
          </a:prstGeom>
          <a:noFill/>
          <a:ln w="15240">
            <a:solidFill>
              <a:srgbClr val="D5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462272"/>
            <a:ext cx="310896" cy="310896"/>
          </a:xfrm>
          <a:prstGeom prst="ellipse">
            <a:avLst/>
          </a:prstGeom>
          <a:solidFill>
            <a:srgbClr val="2B66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低成本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0" y="4462272"/>
            <a:ext cx="310896" cy="310896"/>
          </a:xfrm>
          <a:prstGeom prst="ellipse">
            <a:avLst/>
          </a:prstGeom>
          <a:solidFill>
            <a:srgbClr val="2B66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图形界面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937760" y="4462272"/>
            <a:ext cx="310896" cy="310896"/>
          </a:xfrm>
          <a:prstGeom prst="ellipse">
            <a:avLst/>
          </a:prstGeom>
          <a:solidFill>
            <a:srgbClr val="2B66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多媒体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49440" y="4462272"/>
            <a:ext cx="310896" cy="310896"/>
          </a:xfrm>
          <a:prstGeom prst="ellipse">
            <a:avLst/>
          </a:prstGeom>
          <a:solidFill>
            <a:srgbClr val="2B66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云端维护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61120" y="4462272"/>
            <a:ext cx="310896" cy="31089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4864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033"/>
                </a:solidFill>
              </a:rPr>
              <a:t>低功耗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需求与指标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TARGETS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核心指标围绕显示、触控、功耗、通信和可维护性展开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指标设定直接对应智能手表的日常穿戴场景和嵌入式资源边界。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" y="1737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</a:rPr>
              <a:t>25fps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20939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显示播放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50392" y="231343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MJPEG视频平均帧率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2971800" y="160020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18104" y="1737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A6B8"/>
                </a:solidFill>
              </a:rPr>
              <a:t>&lt;50ms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36392" y="20939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触控响应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3136392" y="231343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点击/滑动事件响应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257800" y="160020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1737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66D9"/>
                </a:solidFill>
              </a:rPr>
              <a:t>120s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22392" y="20939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空闲进入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422392" y="231343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自动 Light Sleep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543800" y="1600200"/>
            <a:ext cx="205740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0104" y="1737360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267"/>
                </a:solidFill>
              </a:rPr>
              <a:t>3s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08392" y="2093976"/>
            <a:ext cx="1764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按键进入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708392" y="231343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长按 Deep Sleep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9829800" y="1600200"/>
            <a:ext cx="16459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76104" y="1737360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04A4A"/>
                </a:solidFill>
              </a:rPr>
              <a:t>OTA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994392" y="209397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维护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994392" y="231343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云端/本地升级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914400" y="3154680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4EEF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3223260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66D9"/>
                </a:solidFill>
              </a:rPr>
              <a:t>时间与环境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3154680" y="3204972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033"/>
                </a:solidFill>
              </a:rPr>
              <a:t>RTC守时、NTP校时、HTTP天气获取</a:t>
            </a:r>
            <a:endParaRPr lang="en-US" sz="1130" dirty="0"/>
          </a:p>
        </p:txBody>
      </p:sp>
      <p:sp>
        <p:nvSpPr>
          <p:cNvPr id="31" name="Shape 29"/>
          <p:cNvSpPr/>
          <p:nvPr/>
        </p:nvSpPr>
        <p:spPr>
          <a:xfrm>
            <a:off x="914400" y="3593592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4EEF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3662172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66D9"/>
                </a:solidFill>
              </a:rPr>
              <a:t>图形与交互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3154680" y="3643884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033"/>
                </a:solidFill>
              </a:rPr>
              <a:t>LVGL多页面、手势切换、快捷面板、键盘输入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914400" y="4032504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4EEF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4128" y="4101084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66D9"/>
                </a:solidFill>
              </a:rPr>
              <a:t>多媒体存储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3154680" y="4082796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033"/>
                </a:solidFill>
              </a:rPr>
              <a:t>SD卡图片、TXT小说、MJPEG视频流读取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914400" y="4471416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4EEF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24128" y="4539996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66D9"/>
                </a:solidFill>
              </a:rPr>
              <a:t>云端协同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3154680" y="4521708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033"/>
                </a:solidFill>
              </a:rPr>
              <a:t>WiFi管理、MQTT/OneNET接入、远程OTA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914400" y="4910328"/>
            <a:ext cx="1920240" cy="301752"/>
          </a:xfrm>
          <a:prstGeom prst="roundRect">
            <a:avLst>
              <a:gd name="adj" fmla="val 18182"/>
            </a:avLst>
          </a:prstGeom>
          <a:solidFill>
            <a:srgbClr val="E4EEF9"/>
          </a:solidFill>
          <a:ln w="12700">
            <a:solidFill>
              <a:srgbClr val="C9D8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24128" y="4978908"/>
            <a:ext cx="1691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B66D9"/>
                </a:solidFill>
              </a:rPr>
              <a:t>功耗管理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154680" y="4960620"/>
            <a:ext cx="7589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02033"/>
                </a:solidFill>
              </a:rPr>
              <a:t>背光调节、WiFi按需启停、分级休眠唤醒</a:t>
            </a:r>
            <a:endParaRPr lang="en-US" sz="1130" dirty="0"/>
          </a:p>
        </p:txBody>
      </p:sp>
      <p:sp>
        <p:nvSpPr>
          <p:cNvPr id="43" name="Text 41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02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总体方案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硬件以 ESP32-S3R8 为中心，围绕显示、存储、时间、电源和网络扩展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353312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系统选型强调可实现性：不用高端应用处理器，也能完成较完整的穿戴终端功能。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26280" y="2331720"/>
            <a:ext cx="27432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B6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505456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ESP32-S3R8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双核240MHz / 8MB PSRAM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20A6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5910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1.83英寸触控屏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ST7789P3 + CST816T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84048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0142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Micro SD / W25Q128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图片、视频、小说与固件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0" y="141732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43A2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53728" y="159105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SD3078 RTC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断电守时与时间同步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3840480"/>
            <a:ext cx="22860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0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53728" y="401421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电源与唤醒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锂电池、LDO、按键/触摸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71800" y="1773936"/>
            <a:ext cx="1554480" cy="804672"/>
          </a:xfrm>
          <a:prstGeom prst="line">
            <a:avLst/>
          </a:prstGeom>
          <a:noFill/>
          <a:ln w="20320">
            <a:solidFill>
              <a:srgbClr val="20A6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971800" y="4187952"/>
            <a:ext cx="1554480" cy="-1353312"/>
          </a:xfrm>
          <a:prstGeom prst="line">
            <a:avLst/>
          </a:prstGeom>
          <a:noFill/>
          <a:ln w="20320">
            <a:solidFill>
              <a:srgbClr val="F28C2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1773936"/>
            <a:ext cx="-1874520" cy="804672"/>
          </a:xfrm>
          <a:prstGeom prst="line">
            <a:avLst/>
          </a:prstGeom>
          <a:noFill/>
          <a:ln w="20320">
            <a:solidFill>
              <a:srgbClr val="43A26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144000" y="4187952"/>
            <a:ext cx="-1874520" cy="-1353312"/>
          </a:xfrm>
          <a:prstGeom prst="line">
            <a:avLst/>
          </a:prstGeom>
          <a:noFill/>
          <a:ln w="20320">
            <a:solidFill>
              <a:srgbClr val="D04A4A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206240" y="3703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33"/>
                </a:solidFill>
              </a:rPr>
              <a:t>SPI / I2C / GPIO / DMA / WiFi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4709160"/>
            <a:ext cx="3749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87952" y="4864608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设计原则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187952" y="5184648"/>
            <a:ext cx="341985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B6B7E"/>
                </a:solidFill>
              </a:rPr>
              <a:t>芯片级最小系统提升布局自由度；外设接口按功能隔离；数据密集任务依托外部存储和异步调度。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03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软件架构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应用任务通过消息队列上报状态，显示线程只负责统一刷新输出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这一设计避免网络、存储和视频解码直接阻塞 LVGL 交互。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201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software_architecture_layers_large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45" y="1353312"/>
            <a:ext cx="10536150" cy="48371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04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多媒体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MULTIMEDIA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SD卡资源统一按“选择、解析、读取、刷新”处理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图片、视频和小说不直接共享显示逻辑，而是通过不同应用模块转成显示请求。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68096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storage_multimedia_layers_large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20417"/>
            <a:ext cx="7626096" cy="401152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49640" y="14173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14232" y="15727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图片/壁纸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14232" y="1892808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B7E"/>
                </a:solidFill>
              </a:rPr>
              <a:t>分块读取，降低一次性内存占用，适配表盘背景和图片浏览。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8549640" y="27889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9443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MJPEG视频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14232" y="3264408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B7E"/>
                </a:solidFill>
              </a:rPr>
              <a:t>通过帧缓冲与异步刷新保证约25fps连续播放。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8549640" y="41605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14232" y="431596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TXT阅读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14232" y="4636008"/>
            <a:ext cx="25968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B6B7E"/>
                </a:solidFill>
              </a:rPr>
              <a:t>按页读取文本，保存路径和偏移量，实现断点续读。</a:t>
            </a:r>
            <a:endParaRPr lang="en-US" sz="112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05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时间与联网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TIME &amp; NETWORK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网络校时、手动设置和RTC守时共同形成统一时间源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联网功能进一步支撑天气获取、OneNET通信和OTA维护。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649224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time_sync_layers_large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97" y="1353312"/>
            <a:ext cx="6127727" cy="47457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52360" y="150876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16952" y="166420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时间一致性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16952" y="1984248"/>
            <a:ext cx="3557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NTP成功后回写SD3078；离线时由RTC维持本地时间。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7452360" y="265176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952" y="280720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网络服务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616952" y="3127248"/>
            <a:ext cx="3557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WiFi连接后获取天气、同步时间，并维护云端通信状态。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7452360" y="3794760"/>
            <a:ext cx="3886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16952" y="395020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云端协同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616952" y="4270248"/>
            <a:ext cx="3557016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MQTT/OneNET为属性上报与远程升级通知提供通道。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06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OTA维护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MAINTENANCE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双路径OTA降低维护成本，备份分区控制升级风险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升级链路的重点不是下载本身，而是写入、校验、切换和失败保护。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804672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ota_layers_large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353312"/>
            <a:ext cx="6345936" cy="474573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915400" y="15544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79992" y="170992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双入口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079992" y="202996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</a:rPr>
              <a:t>OneNET云端升级 + SD卡本地升级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915400" y="27889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79992" y="294436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备份分区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079992" y="326440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</a:rPr>
              <a:t>新固件写入非当前运行分区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15400" y="402336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79992" y="4178808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033"/>
                </a:solidFill>
              </a:rPr>
              <a:t>失败保护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079992" y="4498848"/>
            <a:ext cx="22768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</a:rPr>
              <a:t>校验不通过保持原固件可用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07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低功耗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POWER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双级休眠把短时空闲和长时间收纳分开处理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Light Sleep强调快速恢复，Deep Sleep强调防误触与更低静态功耗。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6400800" cy="4800600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sleep_state_layers_largef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059283"/>
            <a:ext cx="6345936" cy="33337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15200" y="1417320"/>
            <a:ext cx="4297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1232" y="158191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033"/>
                </a:solidFill>
              </a:rPr>
              <a:t>亮屏电流随背光亮度升高近似线性增长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2020824"/>
            <a:ext cx="3337560" cy="0"/>
          </a:xfrm>
          <a:prstGeom prst="line">
            <a:avLst/>
          </a:prstGeom>
          <a:noFill/>
          <a:ln w="7620">
            <a:solidFill>
              <a:srgbClr val="E7EDF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18120" y="2316480"/>
            <a:ext cx="3337560" cy="0"/>
          </a:xfrm>
          <a:prstGeom prst="line">
            <a:avLst/>
          </a:prstGeom>
          <a:noFill/>
          <a:ln w="7620">
            <a:solidFill>
              <a:srgbClr val="E7EDF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18120" y="2612136"/>
            <a:ext cx="3337560" cy="0"/>
          </a:xfrm>
          <a:prstGeom prst="line">
            <a:avLst/>
          </a:prstGeom>
          <a:noFill/>
          <a:ln w="7620">
            <a:solidFill>
              <a:srgbClr val="E7EDF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2907792"/>
            <a:ext cx="3337560" cy="0"/>
          </a:xfrm>
          <a:prstGeom prst="line">
            <a:avLst/>
          </a:prstGeom>
          <a:noFill/>
          <a:ln w="7620">
            <a:solidFill>
              <a:srgbClr val="E7EDF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86116" y="2816657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18120" y="2848661"/>
            <a:ext cx="370840" cy="-81305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56956" y="2735351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88960" y="2767355"/>
            <a:ext cx="370840" cy="-81305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527796" y="2654046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59800" y="2686050"/>
            <a:ext cx="370840" cy="-81305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98636" y="2572741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30640" y="2604745"/>
            <a:ext cx="370840" cy="-88697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269476" y="2484044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01480" y="2516048"/>
            <a:ext cx="370840" cy="-88697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40316" y="2395347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672320" y="2427351"/>
            <a:ext cx="370840" cy="-81305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011156" y="2314042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043160" y="2346046"/>
            <a:ext cx="370840" cy="-96088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381996" y="2217953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414000" y="2249957"/>
            <a:ext cx="370840" cy="-10348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752836" y="2114474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784840" y="2146478"/>
            <a:ext cx="370840" cy="-73914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1123676" y="2040560"/>
            <a:ext cx="64008" cy="6400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81544" y="301752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</a:rPr>
              <a:t>10%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10927080" y="301752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7E"/>
                </a:solidFill>
              </a:rPr>
              <a:t>100%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86384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E"/>
                </a:solidFill>
              </a:rPr>
              <a:t>0.058A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10744200" y="2039112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8C28"/>
                </a:solidFill>
              </a:rPr>
              <a:t>0.163A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315200" y="36576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79792" y="3813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Light Sleep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7479792" y="4133088"/>
            <a:ext cx="16367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B6B7E"/>
                </a:solidFill>
              </a:rPr>
              <a:t>约120秒无操作进入；保留触摸/按键唤醒能力。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9646920" y="3657600"/>
            <a:ext cx="1965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811512" y="3813048"/>
            <a:ext cx="1636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Deep Sleep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9811512" y="4133088"/>
            <a:ext cx="16367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5B6B7E"/>
                </a:solidFill>
              </a:rPr>
              <a:t>长按确认键约3秒进入；仅保留必要物理唤醒。</a:t>
            </a:r>
            <a:endParaRPr lang="en-US" sz="1060" dirty="0"/>
          </a:p>
        </p:txBody>
      </p:sp>
      <p:sp>
        <p:nvSpPr>
          <p:cNvPr id="45" name="Shape 42"/>
          <p:cNvSpPr/>
          <p:nvPr/>
        </p:nvSpPr>
        <p:spPr>
          <a:xfrm>
            <a:off x="7315200" y="507492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461504" y="521208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A267"/>
                </a:solidFill>
              </a:rPr>
              <a:t>0.058A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7479792" y="556869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低亮度运行</a:t>
            </a:r>
            <a:endParaRPr lang="en-US" sz="1020" dirty="0"/>
          </a:p>
        </p:txBody>
      </p:sp>
      <p:sp>
        <p:nvSpPr>
          <p:cNvPr id="48" name="Text 45"/>
          <p:cNvSpPr/>
          <p:nvPr/>
        </p:nvSpPr>
        <p:spPr>
          <a:xfrm>
            <a:off x="7479792" y="5788152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10%亮度 WiFi关闭</a:t>
            </a:r>
            <a:endParaRPr lang="en-US" sz="840" dirty="0"/>
          </a:p>
        </p:txBody>
      </p:sp>
      <p:sp>
        <p:nvSpPr>
          <p:cNvPr id="49" name="Shape 46"/>
          <p:cNvSpPr/>
          <p:nvPr/>
        </p:nvSpPr>
        <p:spPr>
          <a:xfrm>
            <a:off x="9646920" y="5074920"/>
            <a:ext cx="19659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0160">
            <a:solidFill>
              <a:srgbClr val="D8E1E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793224" y="5212080"/>
            <a:ext cx="1673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8C28"/>
                </a:solidFill>
              </a:rPr>
              <a:t>0.163A</a:t>
            </a:r>
            <a:endParaRPr lang="en-US" sz="2200" dirty="0"/>
          </a:p>
        </p:txBody>
      </p:sp>
      <p:sp>
        <p:nvSpPr>
          <p:cNvPr id="51" name="Text 48"/>
          <p:cNvSpPr/>
          <p:nvPr/>
        </p:nvSpPr>
        <p:spPr>
          <a:xfrm>
            <a:off x="9811512" y="5568696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02033"/>
                </a:solidFill>
              </a:rPr>
              <a:t>高亮度运行</a:t>
            </a:r>
            <a:endParaRPr lang="en-US" sz="1020" dirty="0"/>
          </a:p>
        </p:txBody>
      </p:sp>
      <p:sp>
        <p:nvSpPr>
          <p:cNvPr id="52" name="Text 49"/>
          <p:cNvSpPr/>
          <p:nvPr/>
        </p:nvSpPr>
        <p:spPr>
          <a:xfrm>
            <a:off x="9811512" y="5788152"/>
            <a:ext cx="1673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B6B7E"/>
                </a:solidFill>
              </a:rPr>
              <a:t>100%亮度 WiFi关闭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08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测试验证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RESULTS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测试验证：功能基本达标，高负载暴露读取与刷新瓶颈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测试重点覆盖交互、多媒体、联网和OTA维护流程。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64008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pic>
        <p:nvPicPr>
          <p:cNvPr id="9" name="Image 0" descr="C:\Users\86177\Desktop\ESP32_chukong\chu_kong_git\lvgl_display_test_2\docs\table_5_1_core_function_t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63344"/>
            <a:ext cx="6345936" cy="36433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60920" y="1591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主菜单滑动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9372600" y="161848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372600" y="1618488"/>
            <a:ext cx="2057400" cy="146304"/>
          </a:xfrm>
          <a:prstGeom prst="rect">
            <a:avLst/>
          </a:prstGeom>
          <a:solidFill>
            <a:srgbClr val="43A2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548872" y="15910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267"/>
                </a:solidFill>
              </a:rPr>
              <a:t>100%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60920" y="213969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SD壁纸切换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9372600" y="216712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372600" y="2167128"/>
            <a:ext cx="1713814" cy="146304"/>
          </a:xfrm>
          <a:prstGeom prst="rect">
            <a:avLst/>
          </a:prstGeom>
          <a:solidFill>
            <a:srgbClr val="F28C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548872" y="213969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28C28"/>
                </a:solidFill>
              </a:rPr>
              <a:t>83%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360920" y="2688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MJPEG播放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9372600" y="271576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72600" y="2715768"/>
            <a:ext cx="1919554" cy="146304"/>
          </a:xfrm>
          <a:prstGeom prst="rect">
            <a:avLst/>
          </a:prstGeom>
          <a:solidFill>
            <a:srgbClr val="2B66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548872" y="268833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6D9"/>
                </a:solidFill>
              </a:rPr>
              <a:t>93%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360920" y="323697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电子书续读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9372600" y="326440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372600" y="3264408"/>
            <a:ext cx="2057400" cy="146304"/>
          </a:xfrm>
          <a:prstGeom prst="rect">
            <a:avLst/>
          </a:prstGeom>
          <a:solidFill>
            <a:srgbClr val="43A2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548872" y="32369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267"/>
                </a:solidFill>
              </a:rPr>
              <a:t>100%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360920" y="37856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WiFi连接</a:t>
            </a:r>
            <a:endParaRPr lang="en-US" sz="920" dirty="0"/>
          </a:p>
        </p:txBody>
      </p:sp>
      <p:sp>
        <p:nvSpPr>
          <p:cNvPr id="27" name="Shape 24"/>
          <p:cNvSpPr/>
          <p:nvPr/>
        </p:nvSpPr>
        <p:spPr>
          <a:xfrm>
            <a:off x="9372600" y="381304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372600" y="3813048"/>
            <a:ext cx="1989506" cy="146304"/>
          </a:xfrm>
          <a:prstGeom prst="rect">
            <a:avLst/>
          </a:prstGeom>
          <a:solidFill>
            <a:srgbClr val="20A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548872" y="378561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97%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60920" y="43342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02033"/>
                </a:solidFill>
              </a:rPr>
              <a:t>OTA升级</a:t>
            </a:r>
            <a:endParaRPr lang="en-US" sz="920" dirty="0"/>
          </a:p>
        </p:txBody>
      </p:sp>
      <p:sp>
        <p:nvSpPr>
          <p:cNvPr id="31" name="Shape 28"/>
          <p:cNvSpPr/>
          <p:nvPr/>
        </p:nvSpPr>
        <p:spPr>
          <a:xfrm>
            <a:off x="9372600" y="4361688"/>
            <a:ext cx="2057400" cy="146304"/>
          </a:xfrm>
          <a:prstGeom prst="rect">
            <a:avLst/>
          </a:prstGeom>
          <a:solidFill>
            <a:srgbClr val="DFE7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372600" y="4361688"/>
            <a:ext cx="2057400" cy="146304"/>
          </a:xfrm>
          <a:prstGeom prst="rect">
            <a:avLst/>
          </a:prstGeom>
          <a:solidFill>
            <a:srgbClr val="43A26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1548872" y="433425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267"/>
                </a:solidFill>
              </a:rPr>
              <a:t>100%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315200" y="507492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79792" y="52303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033"/>
                </a:solidFill>
              </a:rPr>
              <a:t>结论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7479792" y="5550408"/>
            <a:ext cx="369417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B6B7E"/>
                </a:solidFill>
              </a:rPr>
              <a:t>稳定功能集中在交互、阅读和OTA；延迟主要来自大图解码、SD卡读取和高负载视频刷新。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09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特色与创新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HIGHLIGHTS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本设计的重点是把多个资源受限模块组织成可运行的完整穿戴系统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工程贡献体现在软硬件全链路整合，而不是单个外设驱动。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618488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3"/>
                </a:solidFill>
              </a:rPr>
              <a:t>芯片级最小系统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96112" y="1938528"/>
            <a:ext cx="4654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E"/>
                </a:solidFill>
              </a:rPr>
              <a:t>直接使用ESP32-S3R8芯片级方案，提升集成度与空间布局自由度。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731520" y="1463040"/>
            <a:ext cx="73152" cy="960120"/>
          </a:xfrm>
          <a:prstGeom prst="rect">
            <a:avLst/>
          </a:prstGeom>
          <a:solidFill>
            <a:srgbClr val="2B66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6304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28232" y="1618488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3"/>
                </a:solidFill>
              </a:rPr>
              <a:t>异步显示架构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28232" y="1938528"/>
            <a:ext cx="4654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E"/>
                </a:solidFill>
              </a:rPr>
              <a:t>业务层与显示层通过消息队列解耦，降低UI阻塞风险。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73152" cy="960120"/>
          </a:xfrm>
          <a:prstGeom prst="rect">
            <a:avLst/>
          </a:prstGeom>
          <a:solidFill>
            <a:srgbClr val="20A6B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2944368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3"/>
                </a:solidFill>
              </a:rPr>
              <a:t>多媒体流式处理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4654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E"/>
                </a:solidFill>
              </a:rPr>
              <a:t>SD卡资源按需读取，支撑图片、小说和MJPEG视频播放。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73152" cy="960120"/>
          </a:xfrm>
          <a:prstGeom prst="rect">
            <a:avLst/>
          </a:prstGeom>
          <a:solidFill>
            <a:srgbClr val="2B66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788920"/>
            <a:ext cx="49834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8232" y="2944368"/>
            <a:ext cx="4654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3"/>
                </a:solidFill>
              </a:rPr>
              <a:t>双路径OTA维护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28232" y="3264408"/>
            <a:ext cx="46542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E"/>
                </a:solidFill>
              </a:rPr>
              <a:t>云端与本地升级并存，结合备份分区和校验机制。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6263640" y="2788920"/>
            <a:ext cx="73152" cy="960120"/>
          </a:xfrm>
          <a:prstGeom prst="rect">
            <a:avLst/>
          </a:prstGeom>
          <a:solidFill>
            <a:srgbClr val="F28C2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1148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  <a:effectLst>
            <a:outerShdw sx="100000" sy="100000" kx="0" ky="0" algn="bl" rotWithShape="0" blurRad="17780" dist="50800" dir="2700000">
              <a:srgbClr val="C9D3DF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270248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033"/>
                </a:solidFill>
              </a:rPr>
              <a:t>分级低功耗策略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96112" y="4590288"/>
            <a:ext cx="424281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5B6B7E"/>
                </a:solidFill>
              </a:rPr>
              <a:t>空闲轻休眠与按键深休眠对应不同穿戴场景。</a:t>
            </a:r>
            <a:endParaRPr lang="en-US" sz="113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3152" cy="960120"/>
          </a:xfrm>
          <a:prstGeom prst="rect">
            <a:avLst/>
          </a:prstGeom>
          <a:solidFill>
            <a:srgbClr val="2B66D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10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66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不足与展望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29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0A6B8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033"/>
                </a:solidFill>
              </a:rPr>
              <a:t>下一步优化集中在多媒体并发、电源拓扑和结构集成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21208" y="1060704"/>
            <a:ext cx="9601200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B6B7E"/>
                </a:solidFill>
              </a:rPr>
              <a:t>目前系统已完成验证，但距离工程化产品仍需进一步压缩功耗、体积和高负载卡顿。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66D9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08760" y="1719072"/>
            <a:ext cx="658368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417320"/>
            <a:ext cx="8641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572768"/>
            <a:ext cx="831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多媒体性能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496312" y="1892808"/>
            <a:ext cx="8311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B7E"/>
                </a:solidFill>
              </a:rPr>
              <a:t>优化SD卡读取缓存、视频帧调度和大图解码流程，降低高负载卡顿。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A6B8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08760" y="2770632"/>
            <a:ext cx="658368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31720" y="2468880"/>
            <a:ext cx="8641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2624328"/>
            <a:ext cx="831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电源拓扑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496312" y="2944368"/>
            <a:ext cx="8311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B7E"/>
                </a:solidFill>
              </a:rPr>
              <a:t>引入更细粒度外设断电控制，进一步拉开亮屏、轻休眠和深休眠功耗差距。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822960" y="3657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08760" y="3822192"/>
            <a:ext cx="658368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31720" y="3520440"/>
            <a:ext cx="8641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6312" y="3675888"/>
            <a:ext cx="831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工业结构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496312" y="3995928"/>
            <a:ext cx="8311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B7E"/>
                </a:solidFill>
              </a:rPr>
              <a:t>优化PCB与屏幕错位贴合，压缩厚度并提升整机装配可靠性。</a:t>
            </a:r>
            <a:endParaRPr lang="en-US" sz="1070" dirty="0"/>
          </a:p>
        </p:txBody>
      </p:sp>
      <p:sp>
        <p:nvSpPr>
          <p:cNvPr id="23" name="Text 21"/>
          <p:cNvSpPr/>
          <p:nvPr/>
        </p:nvSpPr>
        <p:spPr>
          <a:xfrm>
            <a:off x="822960" y="4709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3A267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08760" y="4873752"/>
            <a:ext cx="658368" cy="0"/>
          </a:xfrm>
          <a:prstGeom prst="line">
            <a:avLst/>
          </a:prstGeom>
          <a:noFill/>
          <a:ln w="12700">
            <a:solidFill>
              <a:srgbClr val="D5DE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4572000"/>
            <a:ext cx="86410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D5DE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4727448"/>
            <a:ext cx="8311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033"/>
                </a:solidFill>
              </a:rPr>
              <a:t>软件健壮性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496312" y="5047488"/>
            <a:ext cx="8311896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5B6B7E"/>
                </a:solidFill>
              </a:rPr>
              <a:t>完善弱网重连、OTA异常恢复、长时间运行内存监控与日志记录。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502920" y="652881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7A7"/>
                </a:solidFill>
              </a:rPr>
              <a:t>ESP32-S3R8低功耗触控智能手表系统设计与实现  ·  11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1201400" y="6611112"/>
            <a:ext cx="411480" cy="0"/>
          </a:xfrm>
          <a:prstGeom prst="line">
            <a:avLst/>
          </a:prstGeom>
          <a:noFill/>
          <a:ln w="15240">
            <a:solidFill>
              <a:srgbClr val="2B66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58600" y="64922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B66D9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66D9"/>
          </a:solidFill>
          <a:ln w="12700">
            <a:solidFill>
              <a:srgbClr val="2B66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566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DCE7"/>
                </a:solidFill>
              </a:rPr>
              <a:t>总结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12344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系统完成了从硬件最小系统、底层驱动、图形交互、多媒体、联网到OTA维护的完整闭环。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331720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6F2"/>
                </a:solidFill>
              </a:rPr>
              <a:t>在ESP32-S3R8资源受限条件下，本课题验证了轻量级智能手表的可行实现路径：以FreeRTOS进行任务划分，以LVGL统一显示刷新，以外部存储和云端维护扩展系统能力，并通过分级休眠控制续航。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5074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谢谢各位老师，恳请批评指正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49808" y="5806440"/>
            <a:ext cx="3749040" cy="0"/>
          </a:xfrm>
          <a:prstGeom prst="line">
            <a:avLst/>
          </a:prstGeom>
          <a:noFill/>
          <a:ln w="19050">
            <a:solidFill>
              <a:srgbClr val="99DCE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毕业论文答辩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ESP32-S3R8低功耗触控智能手表系统答辩PPT</dc:title>
  <dc:subject>基于ESP32-S3R8与LVGL的低功耗触控智能手表系统设计与实现</dc:subject>
  <dc:creator>Codex</dc:creator>
  <cp:lastModifiedBy>Codex</cp:lastModifiedBy>
  <cp:revision>1</cp:revision>
  <dcterms:created xsi:type="dcterms:W3CDTF">2026-05-25T16:26:53Z</dcterms:created>
  <dcterms:modified xsi:type="dcterms:W3CDTF">2026-05-25T16:26:53Z</dcterms:modified>
</cp:coreProperties>
</file>