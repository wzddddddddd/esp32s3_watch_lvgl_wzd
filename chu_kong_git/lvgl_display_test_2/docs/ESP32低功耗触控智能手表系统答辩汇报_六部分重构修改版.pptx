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3" r:id="rId6"/>
    <p:sldId id="261" r:id="rId7"/>
    <p:sldId id="264" r:id="rId8"/>
    <p:sldId id="266" r:id="rId9"/>
    <p:sldId id="267" r:id="rId10"/>
    <p:sldId id="269" r:id="rId11"/>
    <p:sldId id="270" r:id="rId12"/>
    <p:sldId id="271" r:id="rId13"/>
    <p:sldId id="283" r:id="rId14"/>
    <p:sldId id="284" r:id="rId15"/>
    <p:sldId id="278" r:id="rId16"/>
    <p:sldId id="279" r:id="rId17"/>
    <p:sldId id="280" r:id="rId18"/>
    <p:sldId id="282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56" d="100"/>
          <a:sy n="56" d="100"/>
        </p:scale>
        <p:origin x="11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357D53D-250F-4251-8C83-D8536DB7BE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F7EA5A7-2DA4-4655-9497-DE98D5175973}"/>
              </a:ext>
            </a:extLst>
          </p:cNvPr>
          <p:cNvSpPr>
            <a:spLocks noGrp="1"/>
          </p:cNvSpPr>
          <p:nvPr/>
        </p:nvSpPr>
        <p:spPr>
          <a:xfrm>
            <a:off x="-3143250" y="-2571750"/>
            <a:ext cx="4572000" cy="4572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522E05D-2FC7-452A-9717-9FADED1CDD3B}"/>
              </a:ext>
            </a:extLst>
          </p:cNvPr>
          <p:cNvSpPr>
            <a:spLocks noGrp="1"/>
          </p:cNvSpPr>
          <p:nvPr/>
        </p:nvSpPr>
        <p:spPr>
          <a:xfrm>
            <a:off x="-2667000" y="-2095500"/>
            <a:ext cx="3429000" cy="34290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7076B16-8DD1-4AF7-8A73-8CCFA6A7C483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4953000" cy="4953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57B853C-548A-479D-9EF0-913FB7F5E792}"/>
              </a:ext>
            </a:extLst>
          </p:cNvPr>
          <p:cNvSpPr>
            <a:spLocks noGrp="1"/>
          </p:cNvSpPr>
          <p:nvPr/>
        </p:nvSpPr>
        <p:spPr>
          <a:xfrm>
            <a:off x="9382125" y="5048250"/>
            <a:ext cx="2857500" cy="2857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11E51D-E889-44E8-ADB9-4BC82231C105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223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FD3ED0-399F-4CEF-8E83-04D471CBB8C1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200252-A3CD-46DE-A492-0CB46661768F}"/>
              </a:ext>
            </a:extLst>
          </p:cNvPr>
          <p:cNvSpPr>
            <a:spLocks noGrp="1"/>
          </p:cNvSpPr>
          <p:nvPr/>
        </p:nvSpPr>
        <p:spPr>
          <a:xfrm>
            <a:off x="11239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396DAE-8A3D-41E6-B9A3-CD86BBC6D2C0}"/>
              </a:ext>
            </a:extLst>
          </p:cNvPr>
          <p:cNvSpPr>
            <a:spLocks noGrp="1"/>
          </p:cNvSpPr>
          <p:nvPr/>
        </p:nvSpPr>
        <p:spPr>
          <a:xfrm>
            <a:off x="16764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C4F346-A970-4F52-A7B8-1F78FFF18DDE}"/>
              </a:ext>
            </a:extLst>
          </p:cNvPr>
          <p:cNvSpPr>
            <a:spLocks noGrp="1"/>
          </p:cNvSpPr>
          <p:nvPr/>
        </p:nvSpPr>
        <p:spPr>
          <a:xfrm>
            <a:off x="22288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CDAF5A-377C-404E-90D4-BEEA34C31E31}"/>
              </a:ext>
            </a:extLst>
          </p:cNvPr>
          <p:cNvSpPr>
            <a:spLocks noGrp="1"/>
          </p:cNvSpPr>
          <p:nvPr/>
        </p:nvSpPr>
        <p:spPr>
          <a:xfrm>
            <a:off x="27813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7C532-E40D-48C3-AA9E-2CC3E0BFA16B}"/>
              </a:ext>
            </a:extLst>
          </p:cNvPr>
          <p:cNvSpPr>
            <a:spLocks noGrp="1"/>
          </p:cNvSpPr>
          <p:nvPr/>
        </p:nvSpPr>
        <p:spPr>
          <a:xfrm>
            <a:off x="33337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96212D-8F4D-4E8B-B7E6-CDDE601EDD1A}"/>
              </a:ext>
            </a:extLst>
          </p:cNvPr>
          <p:cNvSpPr>
            <a:spLocks noGrp="1"/>
          </p:cNvSpPr>
          <p:nvPr/>
        </p:nvSpPr>
        <p:spPr>
          <a:xfrm>
            <a:off x="38862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1F587C-8A14-474E-B9AC-B283D84BCEB2}"/>
              </a:ext>
            </a:extLst>
          </p:cNvPr>
          <p:cNvSpPr>
            <a:spLocks noGrp="1"/>
          </p:cNvSpPr>
          <p:nvPr/>
        </p:nvSpPr>
        <p:spPr>
          <a:xfrm>
            <a:off x="44386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CC1FFD-4FEA-4E59-94A5-CD3DE1FD5959}"/>
              </a:ext>
            </a:extLst>
          </p:cNvPr>
          <p:cNvSpPr>
            <a:spLocks noGrp="1"/>
          </p:cNvSpPr>
          <p:nvPr/>
        </p:nvSpPr>
        <p:spPr>
          <a:xfrm>
            <a:off x="49911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D7A1F5-4542-416B-AFAA-E898D8EDC505}"/>
              </a:ext>
            </a:extLst>
          </p:cNvPr>
          <p:cNvSpPr>
            <a:spLocks noGrp="1"/>
          </p:cNvSpPr>
          <p:nvPr/>
        </p:nvSpPr>
        <p:spPr>
          <a:xfrm>
            <a:off x="55435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BF347F-5DB0-40BF-90C0-B1BF0C80EC86}"/>
              </a:ext>
            </a:extLst>
          </p:cNvPr>
          <p:cNvSpPr>
            <a:spLocks noGrp="1"/>
          </p:cNvSpPr>
          <p:nvPr/>
        </p:nvSpPr>
        <p:spPr>
          <a:xfrm>
            <a:off x="60960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C74A7C-A0F5-4FD5-9393-F8F16BA21FD3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72997C-52B7-4322-9972-97F85BB3C2E5}"/>
              </a:ext>
            </a:extLst>
          </p:cNvPr>
          <p:cNvSpPr>
            <a:spLocks noGrp="1"/>
          </p:cNvSpPr>
          <p:nvPr/>
        </p:nvSpPr>
        <p:spPr>
          <a:xfrm>
            <a:off x="72009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F660E1-D313-4371-AEAA-C2B06A0B7D04}"/>
              </a:ext>
            </a:extLst>
          </p:cNvPr>
          <p:cNvSpPr>
            <a:spLocks noGrp="1"/>
          </p:cNvSpPr>
          <p:nvPr/>
        </p:nvSpPr>
        <p:spPr>
          <a:xfrm>
            <a:off x="77533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AABBF9-0636-4428-9C4B-146D7E701C0D}"/>
              </a:ext>
            </a:extLst>
          </p:cNvPr>
          <p:cNvSpPr>
            <a:spLocks noGrp="1"/>
          </p:cNvSpPr>
          <p:nvPr/>
        </p:nvSpPr>
        <p:spPr>
          <a:xfrm>
            <a:off x="83058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C0F958E-FA05-4946-8B7B-8605317DD847}"/>
              </a:ext>
            </a:extLst>
          </p:cNvPr>
          <p:cNvSpPr>
            <a:spLocks noGrp="1"/>
          </p:cNvSpPr>
          <p:nvPr/>
        </p:nvSpPr>
        <p:spPr>
          <a:xfrm>
            <a:off x="88582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3A19D3-E81A-4055-A73B-2806F93E52AE}"/>
              </a:ext>
            </a:extLst>
          </p:cNvPr>
          <p:cNvSpPr>
            <a:spLocks noGrp="1"/>
          </p:cNvSpPr>
          <p:nvPr/>
        </p:nvSpPr>
        <p:spPr>
          <a:xfrm>
            <a:off x="1428750" y="171450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 dirty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河南理工大学</a:t>
            </a:r>
            <a:endParaRPr sz="2800" b="1" dirty="0">
              <a:solidFill>
                <a:srgbClr val="DDE8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BCD4F0-B1AF-4DA0-8D84-402438414A4E}"/>
              </a:ext>
            </a:extLst>
          </p:cNvPr>
          <p:cNvSpPr>
            <a:spLocks noGrp="1"/>
          </p:cNvSpPr>
          <p:nvPr/>
        </p:nvSpPr>
        <p:spPr>
          <a:xfrm>
            <a:off x="1428750" y="1390650"/>
            <a:ext cx="552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B749FC-09B6-4D58-984A-279B1E43C4A4}"/>
              </a:ext>
            </a:extLst>
          </p:cNvPr>
          <p:cNvSpPr>
            <a:spLocks noGrp="1"/>
          </p:cNvSpPr>
          <p:nvPr/>
        </p:nvSpPr>
        <p:spPr>
          <a:xfrm>
            <a:off x="1409700" y="192405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  <a:endParaRPr sz="36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AE9DAB-DF34-4785-B2A8-4231547E1D17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000500" cy="38100"/>
          </a:xfrm>
          <a:prstGeom prst="rect">
            <a:avLst/>
          </a:prstGeom>
          <a:solidFill>
            <a:srgbClr val="DDE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B5CB5A-F9BA-4917-B75A-227F6459959D}"/>
              </a:ext>
            </a:extLst>
          </p:cNvPr>
          <p:cNvSpPr>
            <a:spLocks noGrp="1"/>
          </p:cNvSpPr>
          <p:nvPr/>
        </p:nvSpPr>
        <p:spPr>
          <a:xfrm>
            <a:off x="1447800" y="32194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D34634-1348-453D-B733-BFC6EF805D99}"/>
              </a:ext>
            </a:extLst>
          </p:cNvPr>
          <p:cNvSpPr>
            <a:spLocks noGrp="1"/>
          </p:cNvSpPr>
          <p:nvPr/>
        </p:nvSpPr>
        <p:spPr>
          <a:xfrm>
            <a:off x="1485900" y="40957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答辩人：吴</a:t>
            </a:r>
            <a:r>
              <a:rPr lang="zh-CN" altLang="en-US" sz="18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钟锭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AFB2CE-1336-4D3D-92F7-3C2F11AB1C41}"/>
              </a:ext>
            </a:extLst>
          </p:cNvPr>
          <p:cNvSpPr>
            <a:spLocks noGrp="1"/>
          </p:cNvSpPr>
          <p:nvPr/>
        </p:nvSpPr>
        <p:spPr>
          <a:xfrm>
            <a:off x="1485900" y="45720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指导教师：乔美英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2402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DF62D7A-DE19-4632-A0F8-EA5D5CDCCC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433B71B-3FE0-4409-BA5F-832D8005FB90}"/>
              </a:ext>
            </a:extLst>
          </p:cNvPr>
          <p:cNvSpPr>
            <a:spLocks noGrp="1"/>
          </p:cNvSpPr>
          <p:nvPr/>
        </p:nvSpPr>
        <p:spPr>
          <a:xfrm>
            <a:off x="2238375" y="-2476500"/>
            <a:ext cx="7715250" cy="4191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6B08C7-67AA-4DC6-B019-66DB0B8C24F1}"/>
              </a:ext>
            </a:extLst>
          </p:cNvPr>
          <p:cNvSpPr>
            <a:spLocks noGrp="1"/>
          </p:cNvSpPr>
          <p:nvPr/>
        </p:nvSpPr>
        <p:spPr>
          <a:xfrm>
            <a:off x="5429250" y="419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FFEF1-7678-41AF-9FF8-25B8428785BB}"/>
              </a:ext>
            </a:extLst>
          </p:cNvPr>
          <p:cNvSpPr>
            <a:spLocks noGrp="1"/>
          </p:cNvSpPr>
          <p:nvPr/>
        </p:nvSpPr>
        <p:spPr>
          <a:xfrm>
            <a:off x="5219700" y="8382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09A6E3C-3E61-4A40-AD76-6A591C951069}"/>
              </a:ext>
            </a:extLst>
          </p:cNvPr>
          <p:cNvSpPr>
            <a:spLocks noGrp="1"/>
          </p:cNvSpPr>
          <p:nvPr/>
        </p:nvSpPr>
        <p:spPr>
          <a:xfrm>
            <a:off x="200025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818BC2-D082-4AC5-B2B3-C82FCF207296}"/>
              </a:ext>
            </a:extLst>
          </p:cNvPr>
          <p:cNvSpPr>
            <a:spLocks noGrp="1"/>
          </p:cNvSpPr>
          <p:nvPr/>
        </p:nvSpPr>
        <p:spPr>
          <a:xfrm>
            <a:off x="212407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0C0876-D6F2-4957-AD37-6397D34CD90D}"/>
              </a:ext>
            </a:extLst>
          </p:cNvPr>
          <p:cNvSpPr>
            <a:spLocks noGrp="1"/>
          </p:cNvSpPr>
          <p:nvPr/>
        </p:nvSpPr>
        <p:spPr>
          <a:xfrm>
            <a:off x="278130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4883DC-B58A-493E-9983-FCBB27828295}"/>
              </a:ext>
            </a:extLst>
          </p:cNvPr>
          <p:cNvSpPr>
            <a:spLocks noGrp="1"/>
          </p:cNvSpPr>
          <p:nvPr/>
        </p:nvSpPr>
        <p:spPr>
          <a:xfrm>
            <a:off x="280035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背景、小标题与技术路线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C01B271-8296-4D4B-9264-EA7E1378EBC0}"/>
              </a:ext>
            </a:extLst>
          </p:cNvPr>
          <p:cNvSpPr>
            <a:spLocks noGrp="1"/>
          </p:cNvSpPr>
          <p:nvPr/>
        </p:nvSpPr>
        <p:spPr>
          <a:xfrm>
            <a:off x="200025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12C6A8-7F99-465D-A860-C5212AE769BE}"/>
              </a:ext>
            </a:extLst>
          </p:cNvPr>
          <p:cNvSpPr>
            <a:spLocks noGrp="1"/>
          </p:cNvSpPr>
          <p:nvPr/>
        </p:nvSpPr>
        <p:spPr>
          <a:xfrm>
            <a:off x="212407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C84E54-8CE5-4987-BA85-B215C693F284}"/>
              </a:ext>
            </a:extLst>
          </p:cNvPr>
          <p:cNvSpPr>
            <a:spLocks noGrp="1"/>
          </p:cNvSpPr>
          <p:nvPr/>
        </p:nvSpPr>
        <p:spPr>
          <a:xfrm>
            <a:off x="278130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B4919-C1D5-4FD2-A9B0-71B959E54FED}"/>
              </a:ext>
            </a:extLst>
          </p:cNvPr>
          <p:cNvSpPr>
            <a:spLocks noGrp="1"/>
          </p:cNvSpPr>
          <p:nvPr/>
        </p:nvSpPr>
        <p:spPr>
          <a:xfrm>
            <a:off x="2800350" y="357187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器件选型与分层架构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72E3316-0EBF-4FF6-A4B8-7178D68B2B71}"/>
              </a:ext>
            </a:extLst>
          </p:cNvPr>
          <p:cNvSpPr>
            <a:spLocks noGrp="1"/>
          </p:cNvSpPr>
          <p:nvPr/>
        </p:nvSpPr>
        <p:spPr>
          <a:xfrm>
            <a:off x="200025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87CC6C-B19A-4A85-8FC9-9FEDFD6BD2AE}"/>
              </a:ext>
            </a:extLst>
          </p:cNvPr>
          <p:cNvSpPr>
            <a:spLocks noGrp="1"/>
          </p:cNvSpPr>
          <p:nvPr/>
        </p:nvSpPr>
        <p:spPr>
          <a:xfrm>
            <a:off x="212407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3757AC-7015-49E3-A533-F9DFD7510EC6}"/>
              </a:ext>
            </a:extLst>
          </p:cNvPr>
          <p:cNvSpPr>
            <a:spLocks noGrp="1"/>
          </p:cNvSpPr>
          <p:nvPr/>
        </p:nvSpPr>
        <p:spPr>
          <a:xfrm>
            <a:off x="278130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FBB48E-FE14-44F9-970D-CAE9F009980F}"/>
              </a:ext>
            </a:extLst>
          </p:cNvPr>
          <p:cNvSpPr>
            <a:spLocks noGrp="1"/>
          </p:cNvSpPr>
          <p:nvPr/>
        </p:nvSpPr>
        <p:spPr>
          <a:xfrm>
            <a:off x="2800350" y="4733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最小系统、显示触摸与电源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FFE443F-CF1E-4E36-931C-BD035AFF8FD4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3E5571-7C88-45A3-B090-E69EA7C30BA4}"/>
              </a:ext>
            </a:extLst>
          </p:cNvPr>
          <p:cNvSpPr>
            <a:spLocks noGrp="1"/>
          </p:cNvSpPr>
          <p:nvPr/>
        </p:nvSpPr>
        <p:spPr>
          <a:xfrm>
            <a:off x="698182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895EC0-6B9F-4F87-BCED-9989585F423C}"/>
              </a:ext>
            </a:extLst>
          </p:cNvPr>
          <p:cNvSpPr>
            <a:spLocks noGrp="1"/>
          </p:cNvSpPr>
          <p:nvPr/>
        </p:nvSpPr>
        <p:spPr>
          <a:xfrm>
            <a:off x="763905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3AC429-C18A-4FB0-9EC3-FBBA5D650DD8}"/>
              </a:ext>
            </a:extLst>
          </p:cNvPr>
          <p:cNvSpPr>
            <a:spLocks noGrp="1"/>
          </p:cNvSpPr>
          <p:nvPr/>
        </p:nvSpPr>
        <p:spPr>
          <a:xfrm>
            <a:off x="765810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任务划分与核心流程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13987E4-2349-4F63-B465-95E557C2CBE8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64DD3A-F903-4D66-A50B-45EB65E11417}"/>
              </a:ext>
            </a:extLst>
          </p:cNvPr>
          <p:cNvSpPr>
            <a:spLocks noGrp="1"/>
          </p:cNvSpPr>
          <p:nvPr/>
        </p:nvSpPr>
        <p:spPr>
          <a:xfrm>
            <a:off x="698182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7F26A1-05D9-44C0-8093-756FEDB09A3D}"/>
              </a:ext>
            </a:extLst>
          </p:cNvPr>
          <p:cNvSpPr>
            <a:spLocks noGrp="1"/>
          </p:cNvSpPr>
          <p:nvPr/>
        </p:nvSpPr>
        <p:spPr>
          <a:xfrm>
            <a:off x="763905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系统调试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BB4E1F-567B-4B9F-90E3-8D97FDCE0818}"/>
              </a:ext>
            </a:extLst>
          </p:cNvPr>
          <p:cNvSpPr>
            <a:spLocks noGrp="1"/>
          </p:cNvSpPr>
          <p:nvPr/>
        </p:nvSpPr>
        <p:spPr>
          <a:xfrm>
            <a:off x="7658100" y="357187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功能、功耗与问题分析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2D3A075-ED3B-4EF4-88FC-8384075BC04C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E25FAB-62E8-497A-970F-5D83B3788883}"/>
              </a:ext>
            </a:extLst>
          </p:cNvPr>
          <p:cNvSpPr>
            <a:spLocks noGrp="1"/>
          </p:cNvSpPr>
          <p:nvPr/>
        </p:nvSpPr>
        <p:spPr>
          <a:xfrm>
            <a:off x="698182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6099A3-9631-45FB-ADCF-9D02D029BA7B}"/>
              </a:ext>
            </a:extLst>
          </p:cNvPr>
          <p:cNvSpPr>
            <a:spLocks noGrp="1"/>
          </p:cNvSpPr>
          <p:nvPr/>
        </p:nvSpPr>
        <p:spPr>
          <a:xfrm>
            <a:off x="763905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A79BC42-583E-4742-840F-A506F0FDE9CC}"/>
              </a:ext>
            </a:extLst>
          </p:cNvPr>
          <p:cNvSpPr>
            <a:spLocks noGrp="1"/>
          </p:cNvSpPr>
          <p:nvPr/>
        </p:nvSpPr>
        <p:spPr>
          <a:xfrm>
            <a:off x="7658100" y="4733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实现内容与后续优化</a:t>
            </a:r>
            <a:endParaRPr sz="1275" b="0" dirty="0">
              <a:solidFill>
                <a:srgbClr val="DDE8F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5152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9133BAF3-572E-456F-9EC1-07C352BF54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3F0457F-9799-432A-B8BE-398652CD510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DD7629-69BC-40CA-A19B-4DECD29FF80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B3CA4E-F977-4EE3-85F0-7B1EDEADAA1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089DF9-6D21-4636-BB79-0624EC8201DF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76A618-5FF3-4F47-80CB-949221CFF47A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FD4FC1-B3A8-4AEB-B2A2-FA3C7CF2FB1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729EDF-9148-499C-BEB7-91EF24DC88C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研究背景：常见智能手表路线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945169-EA83-4A10-831E-25E22874F689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129E4C-0F53-4F7A-AFF0-2DC749375240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4762500" cy="2971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7411A1-1104-4A6C-A0FB-8DED3683FD86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95250" cy="29718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0BA945-19D6-4975-BE32-C5E8C2969D25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4267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高端品牌路线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516C0-599C-416D-90E9-FA43E1B058C7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42672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苹果、华为、三星等品牌通常采用高集成SoC、成熟操作系统和完整生态服务。其优势是操作体验流畅、传感器与算法完善、佩戴体验较好；不足是研发投入、物料成本和整机售价较高，不适合低成本教学样机直接复用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33A34D-386D-4F24-99D2-8875222D77BA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5334000" cy="2971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F3C2B6-63A0-43B9-A802-4D8526138AC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95250" cy="29718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7EA57E-85C8-4394-AC0C-6E98FAA32F3A}"/>
              </a:ext>
            </a:extLst>
          </p:cNvPr>
          <p:cNvSpPr>
            <a:spLocks noGrp="1"/>
          </p:cNvSpPr>
          <p:nvPr/>
        </p:nvSpPr>
        <p:spPr>
          <a:xfrm>
            <a:off x="6400800" y="1866900"/>
            <a:ext cx="483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国内常用低成本路线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BA0496-C4BE-4C48-83CE-FA33CFDA1356}"/>
              </a:ext>
            </a:extLst>
          </p:cNvPr>
          <p:cNvSpPr>
            <a:spLocks noGrp="1"/>
          </p:cNvSpPr>
          <p:nvPr/>
        </p:nvSpPr>
        <p:spPr>
          <a:xfrm>
            <a:off x="6400800" y="2324100"/>
            <a:ext cx="48387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低成本手表市场常采用杰理、珠海鸿芯等定制化手表芯片。芯片厂商通常同步提供已写好的手表Demo SDK，厂家通过宏定义配置、界面素材替换、表盘资源替换和局部功能微调，就能较快形成可量产产品。该路线开发周期短、投入少、落地快，但底层架构、交互方式和产品基调容易被SDK锁定，深度定制需要重新理解厂商封装逻辑，产品也更容易趋于同质化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302C0E-0758-42E7-BDFB-9AD1EE696C18}"/>
              </a:ext>
            </a:extLst>
          </p:cNvPr>
          <p:cNvSpPr>
            <a:spLocks noGrp="1"/>
          </p:cNvSpPr>
          <p:nvPr/>
        </p:nvSpPr>
        <p:spPr>
          <a:xfrm>
            <a:off x="1200150" y="5067300"/>
            <a:ext cx="97917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567FE9-A471-4DFF-B660-CDD43AF30827}"/>
              </a:ext>
            </a:extLst>
          </p:cNvPr>
          <p:cNvSpPr>
            <a:spLocks noGrp="1"/>
          </p:cNvSpPr>
          <p:nvPr/>
        </p:nvSpPr>
        <p:spPr>
          <a:xfrm>
            <a:off x="1466850" y="5210175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引出问题</a:t>
            </a:r>
            <a:endParaRPr sz="1650" b="1" dirty="0">
              <a:solidFill>
                <a:srgbClr val="223B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8154E4-4325-4689-A988-B6D38D6207A7}"/>
              </a:ext>
            </a:extLst>
          </p:cNvPr>
          <p:cNvSpPr>
            <a:spLocks noGrp="1"/>
          </p:cNvSpPr>
          <p:nvPr/>
        </p:nvSpPr>
        <p:spPr>
          <a:xfrm>
            <a:off x="2724150" y="5162550"/>
            <a:ext cx="800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现成SDK适合快速量产，但难以展开更深层的二次设计；本课题转向开放MCU平台，从硬件、任务调度和UI刷新机制出发验证另一种实现路径。</a:t>
            </a:r>
          </a:p>
        </p:txBody>
      </p:sp>
    </p:spTree>
    <p:extLst>
      <p:ext uri="{BB962C8B-B14F-4D97-AF65-F5344CB8AC3E}">
        <p14:creationId xmlns:p14="http://schemas.microsoft.com/office/powerpoint/2010/main" val="3053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2E2A8D2-8F7A-4EFE-BAF8-21DD4670CB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5B6319B-F020-435A-ACC7-068B3210357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9A853AB-8CFB-4744-94D3-40E824304D4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345DC7-8D90-428C-A7AD-2991EE04C57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7F5DC5-B9FA-4621-A2C6-DCAFCB42C12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699473-45DC-49E3-A4AC-6752E23DD4B2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7745B8-1FED-4C5E-830A-937CEC01FE4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43C3EA-99EC-439A-BA32-FDE81A182D56}"/>
              </a:ext>
            </a:extLst>
          </p:cNvPr>
          <p:cNvSpPr>
            <a:spLocks noGrp="1"/>
          </p:cNvSpPr>
          <p:nvPr/>
        </p:nvSpPr>
        <p:spPr>
          <a:xfrm>
            <a:off x="658586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本课题方案</a:t>
            </a:r>
            <a:r>
              <a:rPr sz="255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zh-CN" sz="2550" dirty="0"/>
              <a:t> 基于</a:t>
            </a:r>
            <a:r>
              <a:rPr lang="en-US" altLang="zh-CN" sz="2550" dirty="0"/>
              <a:t>ESP32</a:t>
            </a:r>
            <a:r>
              <a:rPr lang="zh-CN" altLang="zh-CN" sz="2550" dirty="0"/>
              <a:t>的低功耗触控智能手表</a:t>
            </a:r>
            <a:endParaRPr sz="255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A18522-86AD-4872-9E19-D5167DD7B83D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33F696-956B-4583-B87E-A39DAB02CD84}"/>
              </a:ext>
            </a:extLst>
          </p:cNvPr>
          <p:cNvSpPr>
            <a:spLocks noGrp="1"/>
          </p:cNvSpPr>
          <p:nvPr/>
        </p:nvSpPr>
        <p:spPr>
          <a:xfrm>
            <a:off x="990600" y="1657350"/>
            <a:ext cx="6762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ESP32-S3R8 + </a:t>
            </a:r>
            <a:r>
              <a:rPr sz="3150" b="1" dirty="0" err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FreeRTOS</a:t>
            </a:r>
            <a:r>
              <a:rPr sz="3150" b="1" dirty="0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 + LVGL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CD3C2-CC98-4363-B09F-30B11345DAAB}"/>
              </a:ext>
            </a:extLst>
          </p:cNvPr>
          <p:cNvSpPr>
            <a:spLocks noGrp="1"/>
          </p:cNvSpPr>
          <p:nvPr/>
        </p:nvSpPr>
        <p:spPr>
          <a:xfrm>
            <a:off x="1009650" y="2324100"/>
            <a:ext cx="4457700" cy="47625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535FC43-4975-44B6-815D-1686B1683F56}"/>
              </a:ext>
            </a:extLst>
          </p:cNvPr>
          <p:cNvSpPr>
            <a:spLocks noGrp="1"/>
          </p:cNvSpPr>
          <p:nvPr/>
        </p:nvSpPr>
        <p:spPr>
          <a:xfrm>
            <a:off x="1066800" y="2905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05ED3C-BD4C-46A2-9315-3ED1833924B5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不依赖封闭手表Demo</a:t>
            </a:r>
            <a:r>
              <a:rPr sz="17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SDK，从硬件驱动、任务调度到UI刷新自行搭建</a:t>
            </a:r>
            <a:endParaRPr sz="1725" b="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89A95D3-F55B-47E0-AB63-E934E406CC35}"/>
              </a:ext>
            </a:extLst>
          </p:cNvPr>
          <p:cNvSpPr>
            <a:spLocks noGrp="1"/>
          </p:cNvSpPr>
          <p:nvPr/>
        </p:nvSpPr>
        <p:spPr>
          <a:xfrm>
            <a:off x="1066800" y="34385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1A8694-56A0-41A3-A1D9-F2AA186C94F4}"/>
              </a:ext>
            </a:extLst>
          </p:cNvPr>
          <p:cNvSpPr>
            <a:spLocks noGrp="1"/>
          </p:cNvSpPr>
          <p:nvPr/>
        </p:nvSpPr>
        <p:spPr>
          <a:xfrm>
            <a:off x="1276350" y="33528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用FreeRTOS拆分存储、网络、OTA、多媒体与显示任务，降低互相阻塞</a:t>
            </a:r>
            <a:endParaRPr sz="1725" b="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BA0F983-C237-4A60-B82B-D0081D63F646}"/>
              </a:ext>
            </a:extLst>
          </p:cNvPr>
          <p:cNvSpPr>
            <a:spLocks noGrp="1"/>
          </p:cNvSpPr>
          <p:nvPr/>
        </p:nvSpPr>
        <p:spPr>
          <a:xfrm>
            <a:off x="1066800" y="39719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0B84DA-813B-4EAF-879D-9A96CF336136}"/>
              </a:ext>
            </a:extLst>
          </p:cNvPr>
          <p:cNvSpPr>
            <a:spLocks noGrp="1"/>
          </p:cNvSpPr>
          <p:nvPr/>
        </p:nvSpPr>
        <p:spPr>
          <a:xfrm>
            <a:off x="1276350" y="38862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用LVGL和GUI</a:t>
            </a:r>
            <a:r>
              <a:rPr sz="17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Guider构建小屏交互界面，便于快速调整页面与功能</a:t>
            </a:r>
            <a:endParaRPr sz="1725" b="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13EDA7F-18E8-4C1E-9181-10655DD225D2}"/>
              </a:ext>
            </a:extLst>
          </p:cNvPr>
          <p:cNvSpPr>
            <a:spLocks noGrp="1"/>
          </p:cNvSpPr>
          <p:nvPr/>
        </p:nvSpPr>
        <p:spPr>
          <a:xfrm>
            <a:off x="1066800" y="45053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FC3D1C-2C62-4142-B6B7-09F69D6063A3}"/>
              </a:ext>
            </a:extLst>
          </p:cNvPr>
          <p:cNvSpPr>
            <a:spLocks noGrp="1"/>
          </p:cNvSpPr>
          <p:nvPr/>
        </p:nvSpPr>
        <p:spPr>
          <a:xfrm>
            <a:off x="1276350" y="44196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保留WiFi、SD卡、RTC、OTA和低功耗接口，便于后续扩展传感器与云端功能</a:t>
            </a:r>
            <a:endParaRPr sz="1725" b="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641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1A5AB4D-8ECF-4EF1-9AF2-302E9DDDDE0B}"/>
              </a:ext>
            </a:extLst>
          </p:cNvPr>
          <p:cNvSpPr>
            <a:spLocks noGrp="1"/>
          </p:cNvSpPr>
          <p:nvPr/>
        </p:nvSpPr>
        <p:spPr>
          <a:xfrm>
            <a:off x="0" y="-16329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32F1F51-373F-447B-BF68-24E7185D6D1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006127E-13F0-4E60-B0D8-065E0D4316BD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62FB2C-AD18-41B0-8511-42FE639D500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258684-71A0-4176-8020-F4676AADABA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C410AE-0B9C-4BC2-8523-54597597FDB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B3B307-FE30-4ABB-BA10-337EE0E3B63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EC1A67-88FD-443A-8E57-84E2F37003E9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总体方案：核心器件与功能边界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5F4A77-F1ED-4080-9821-72AABE43E030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545BF6-554A-4221-BF92-56B1AA5296E9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F1664A-6E8A-4B47-9B5B-F7E417590630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4953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69DF69-1E84-4278-8F91-C4B095C3A579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主控平台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DA4FF-94CE-4BCF-9703-600AEEA24C20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双核240MHz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8MB PSRAM</a:t>
            </a:r>
            <a:endParaRPr lang="en-US"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C9BC03-A30C-4196-842F-DEF2B99E1C03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CEE2A3-05E8-4EEA-9CA0-BB19A414C84F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4953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D60CCB-CFAF-4E02-84D3-95BD95DCA109}"/>
              </a:ext>
            </a:extLst>
          </p:cNvPr>
          <p:cNvSpPr>
            <a:spLocks noGrp="1"/>
          </p:cNvSpPr>
          <p:nvPr/>
        </p:nvSpPr>
        <p:spPr>
          <a:xfrm>
            <a:off x="30480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8A151D-E47A-4151-83BE-CA61CDC19E10}"/>
              </a:ext>
            </a:extLst>
          </p:cNvPr>
          <p:cNvSpPr>
            <a:spLocks noGrp="1"/>
          </p:cNvSpPr>
          <p:nvPr/>
        </p:nvSpPr>
        <p:spPr>
          <a:xfrm>
            <a:off x="308610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1.83英寸触控屏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ST7789P3显示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CST816T触摸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2D959E-CC52-4798-ACEC-B27E9CD1E450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949F83-F03F-4908-93D5-4417F279F350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4953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4D7DA4-DE2E-4BB9-A919-FD7994E5C031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15EFD9-5917-4A95-8BA7-DDD45ABC3B51}"/>
              </a:ext>
            </a:extLst>
          </p:cNvPr>
          <p:cNvSpPr>
            <a:spLocks noGrp="1"/>
          </p:cNvSpPr>
          <p:nvPr/>
        </p:nvSpPr>
        <p:spPr>
          <a:xfrm>
            <a:off x="53530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Micro </a:t>
            </a: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 RTC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E028EA-3CFB-4C14-8431-67D3B62A1DFE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CC0638-8EB1-4CCE-AF1C-B07E887EE7B1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4953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4D3246-68F3-4F72-8BCD-C5B58BB0EBA3}"/>
              </a:ext>
            </a:extLst>
          </p:cNvPr>
          <p:cNvSpPr>
            <a:spLocks noGrp="1"/>
          </p:cNvSpPr>
          <p:nvPr/>
        </p:nvSpPr>
        <p:spPr>
          <a:xfrm>
            <a:off x="75819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软件支撑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39EB9D-4893-469E-9325-1EEF7B40051D}"/>
              </a:ext>
            </a:extLst>
          </p:cNvPr>
          <p:cNvSpPr>
            <a:spLocks noGrp="1"/>
          </p:cNvSpPr>
          <p:nvPr/>
        </p:nvSpPr>
        <p:spPr>
          <a:xfrm>
            <a:off x="762000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ESP32-idf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 </a:t>
            </a: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Guider辅助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B6BFE8-068B-4E10-9139-93E7CDDF964C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4B1110-44CE-4374-9AA2-215437CAFF3A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495300"/>
          </a:xfrm>
          <a:prstGeom prst="rect">
            <a:avLst/>
          </a:prstGeom>
          <a:solidFill>
            <a:srgbClr val="E35D5B"/>
          </a:solidFill>
          <a:ln w="9525">
            <a:solidFill>
              <a:srgbClr val="E35D5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03E4D8-41FB-492F-80B2-C5EC7868DB8E}"/>
              </a:ext>
            </a:extLst>
          </p:cNvPr>
          <p:cNvSpPr>
            <a:spLocks noGrp="1"/>
          </p:cNvSpPr>
          <p:nvPr/>
        </p:nvSpPr>
        <p:spPr>
          <a:xfrm>
            <a:off x="98488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联网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B28181-0B6C-4C97-A2D7-9707344DFA13}"/>
              </a:ext>
            </a:extLst>
          </p:cNvPr>
          <p:cNvSpPr>
            <a:spLocks noGrp="1"/>
          </p:cNvSpPr>
          <p:nvPr/>
        </p:nvSpPr>
        <p:spPr>
          <a:xfrm>
            <a:off x="98869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天气</a:t>
            </a: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/NTP/MQTT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本地与云端OTA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5DC6B6-ED3C-4E7D-B420-6E76683B096A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99060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2D3AC75-C1EC-4F1E-81F1-AAA22F5C7F07}"/>
              </a:ext>
            </a:extLst>
          </p:cNvPr>
          <p:cNvSpPr>
            <a:spLocks noGrp="1"/>
          </p:cNvSpPr>
          <p:nvPr/>
        </p:nvSpPr>
        <p:spPr>
          <a:xfrm>
            <a:off x="1352550" y="49530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总体边界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395907-6C15-43BC-B7FF-F606B99A8033}"/>
              </a:ext>
            </a:extLst>
          </p:cNvPr>
          <p:cNvSpPr>
            <a:spLocks noGrp="1"/>
          </p:cNvSpPr>
          <p:nvPr/>
        </p:nvSpPr>
        <p:spPr>
          <a:xfrm>
            <a:off x="2686050" y="49339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硬件提供显示、触摸、存储、时钟、网络和电源能力；软件完成任务调度、界面刷新、数据读取、网络协同与低功耗控制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982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B2CA1690-EECE-4111-8204-EDDB2B4C68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CE4823E-5403-4725-90EB-EF9C1E0644E5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8E4B14E-1167-4781-BABD-48B163571D93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922B39-4408-4D77-914C-1AA91F92E5D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6C8080-094C-4297-B67C-83E3CB8C65D6}"/>
              </a:ext>
            </a:extLst>
          </p:cNvPr>
          <p:cNvSpPr>
            <a:spLocks noGrp="1"/>
          </p:cNvSpPr>
          <p:nvPr/>
        </p:nvSpPr>
        <p:spPr>
          <a:xfrm>
            <a:off x="38100" y="6124575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4F63F9-EA60-48C1-9B93-A73595EC82A8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8022B3-8E3F-49CE-8B26-34058BDFCEE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9D410A-0229-46D7-AD77-8BD0E259ACEA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系统设计需求与性能指标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0F28AA-2FBB-4A70-8E9A-E475EB28497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0113B8-B99A-4370-AF6B-A79EDD910375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设计需求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D79EF3-FCF8-4D1C-90E9-D7DA8026F9E5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1B4B5C-67FC-42B7-95D8-9D4BF38413F7}"/>
              </a:ext>
            </a:extLst>
          </p:cNvPr>
          <p:cNvSpPr>
            <a:spLocks noGrp="1"/>
          </p:cNvSpPr>
          <p:nvPr/>
        </p:nvSpPr>
        <p:spPr>
          <a:xfrm>
            <a:off x="11811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F7AF0D-F6FB-47C8-87D2-B86007E412AD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表盘/菜单/键盘/游戏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C8E1D6-C25A-4490-8425-F5F6A9A19DF8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629ECC-B1C4-471C-B027-F73F23028D7A}"/>
              </a:ext>
            </a:extLst>
          </p:cNvPr>
          <p:cNvSpPr>
            <a:spLocks noGrp="1"/>
          </p:cNvSpPr>
          <p:nvPr/>
        </p:nvSpPr>
        <p:spPr>
          <a:xfrm>
            <a:off x="33909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多媒体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DB07C5-EB37-45FE-B030-F61594DA5FD5}"/>
              </a:ext>
            </a:extLst>
          </p:cNvPr>
          <p:cNvSpPr>
            <a:spLocks noGrp="1"/>
          </p:cNvSpPr>
          <p:nvPr/>
        </p:nvSpPr>
        <p:spPr>
          <a:xfrm>
            <a:off x="30861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图片/视频/小说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C30022-BD70-4B73-94CF-5A13F9FC909B}"/>
              </a:ext>
            </a:extLst>
          </p:cNvPr>
          <p:cNvSpPr>
            <a:spLocks noGrp="1"/>
          </p:cNvSpPr>
          <p:nvPr/>
        </p:nvSpPr>
        <p:spPr>
          <a:xfrm>
            <a:off x="51244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8E635F-0BC0-4340-BA90-562411CEAD61}"/>
              </a:ext>
            </a:extLst>
          </p:cNvPr>
          <p:cNvSpPr>
            <a:spLocks noGrp="1"/>
          </p:cNvSpPr>
          <p:nvPr/>
        </p:nvSpPr>
        <p:spPr>
          <a:xfrm>
            <a:off x="5448300" y="2114550"/>
            <a:ext cx="1200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</a:t>
            </a:r>
            <a:r>
              <a:rPr lang="zh-CN" altLang="en-US" sz="1575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维护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CDFF1-3F0D-4086-B3DD-2B48B5D92DF1}"/>
              </a:ext>
            </a:extLst>
          </p:cNvPr>
          <p:cNvSpPr>
            <a:spLocks noGrp="1"/>
          </p:cNvSpPr>
          <p:nvPr/>
        </p:nvSpPr>
        <p:spPr>
          <a:xfrm>
            <a:off x="52959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WiFi/MQTT/OTA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06AE58-6F3D-4892-B04E-D8C8D73BD98D}"/>
              </a:ext>
            </a:extLst>
          </p:cNvPr>
          <p:cNvSpPr>
            <a:spLocks noGrp="1"/>
          </p:cNvSpPr>
          <p:nvPr/>
        </p:nvSpPr>
        <p:spPr>
          <a:xfrm>
            <a:off x="73342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53E397-1363-4773-8599-C4CB41EF4E3F}"/>
              </a:ext>
            </a:extLst>
          </p:cNvPr>
          <p:cNvSpPr>
            <a:spLocks noGrp="1"/>
          </p:cNvSpPr>
          <p:nvPr/>
        </p:nvSpPr>
        <p:spPr>
          <a:xfrm>
            <a:off x="7639050" y="2114550"/>
            <a:ext cx="1219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</a:t>
            </a:r>
            <a:r>
              <a:rPr lang="zh-CN" altLang="en-US" sz="1575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天气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0B83D8-66D9-433E-9E82-1E6341D67525}"/>
              </a:ext>
            </a:extLst>
          </p:cNvPr>
          <p:cNvSpPr>
            <a:spLocks noGrp="1"/>
          </p:cNvSpPr>
          <p:nvPr/>
        </p:nvSpPr>
        <p:spPr>
          <a:xfrm>
            <a:off x="75057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NTP/RTC/天气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061212-B784-443E-ACC2-C680D32F2F66}"/>
              </a:ext>
            </a:extLst>
          </p:cNvPr>
          <p:cNvSpPr>
            <a:spLocks noGrp="1"/>
          </p:cNvSpPr>
          <p:nvPr/>
        </p:nvSpPr>
        <p:spPr>
          <a:xfrm>
            <a:off x="95440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16154B-A298-4A8F-AEDA-5A83449F6A0B}"/>
              </a:ext>
            </a:extLst>
          </p:cNvPr>
          <p:cNvSpPr>
            <a:spLocks noGrp="1"/>
          </p:cNvSpPr>
          <p:nvPr/>
        </p:nvSpPr>
        <p:spPr>
          <a:xfrm>
            <a:off x="9927771" y="2114550"/>
            <a:ext cx="1140279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642B12-3DAF-4593-BBC8-C7D049496F36}"/>
              </a:ext>
            </a:extLst>
          </p:cNvPr>
          <p:cNvSpPr>
            <a:spLocks noGrp="1"/>
          </p:cNvSpPr>
          <p:nvPr/>
        </p:nvSpPr>
        <p:spPr>
          <a:xfrm>
            <a:off x="97155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轻休眠/深休眠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773AAB0-6E80-4729-9F15-5CF2FD64DF4A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10553700" cy="19050"/>
          </a:xfrm>
          <a:prstGeom prst="rect">
            <a:avLst/>
          </a:prstGeom>
          <a:solidFill>
            <a:srgbClr val="C9D9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229C78-2626-47B6-9640-861D204418FF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79109C-E73E-4733-BE87-C77BD315A5E8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504950" cy="1619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AA389B-80CB-4996-B470-AD582A6AB130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F0D0202-6733-49A2-8296-FC47341FE170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57564FA-A018-4AF4-9307-08E55CEB833F}"/>
              </a:ext>
            </a:extLst>
          </p:cNvPr>
          <p:cNvSpPr>
            <a:spLocks noGrp="1"/>
          </p:cNvSpPr>
          <p:nvPr/>
        </p:nvSpPr>
        <p:spPr>
          <a:xfrm>
            <a:off x="9906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点击与滑动及时反馈</a:t>
            </a:r>
            <a:endParaRPr sz="1275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F958994-DFBA-4B9B-9F1D-FFF80DBD3CA1}"/>
              </a:ext>
            </a:extLst>
          </p:cNvPr>
          <p:cNvSpPr>
            <a:spLocks noGrp="1"/>
          </p:cNvSpPr>
          <p:nvPr/>
        </p:nvSpPr>
        <p:spPr>
          <a:xfrm>
            <a:off x="2590800" y="4095750"/>
            <a:ext cx="1504950" cy="1619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EA62056-CBEF-47F8-B162-99F719CEFCEF}"/>
              </a:ext>
            </a:extLst>
          </p:cNvPr>
          <p:cNvSpPr>
            <a:spLocks noGrp="1"/>
          </p:cNvSpPr>
          <p:nvPr/>
        </p:nvSpPr>
        <p:spPr>
          <a:xfrm>
            <a:off x="26860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B79DB7-2652-491C-BACA-E05C9A8F7820}"/>
              </a:ext>
            </a:extLst>
          </p:cNvPr>
          <p:cNvSpPr>
            <a:spLocks noGrp="1"/>
          </p:cNvSpPr>
          <p:nvPr/>
        </p:nvSpPr>
        <p:spPr>
          <a:xfrm>
            <a:off x="27051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A2567E-B63B-4B07-9475-C646BE8BEEA0}"/>
              </a:ext>
            </a:extLst>
          </p:cNvPr>
          <p:cNvSpPr>
            <a:spLocks noGrp="1"/>
          </p:cNvSpPr>
          <p:nvPr/>
        </p:nvSpPr>
        <p:spPr>
          <a:xfrm>
            <a:off x="27622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普通MJPEG连续播放</a:t>
            </a:r>
            <a:endParaRPr sz="1275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023664C-8C3A-4400-85AB-D72CCBACA2F6}"/>
              </a:ext>
            </a:extLst>
          </p:cNvPr>
          <p:cNvSpPr>
            <a:spLocks noGrp="1"/>
          </p:cNvSpPr>
          <p:nvPr/>
        </p:nvSpPr>
        <p:spPr>
          <a:xfrm>
            <a:off x="4362450" y="4095750"/>
            <a:ext cx="15049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F6028C5-3BDA-43EC-BEAC-DFE96946C046}"/>
              </a:ext>
            </a:extLst>
          </p:cNvPr>
          <p:cNvSpPr>
            <a:spLocks noGrp="1"/>
          </p:cNvSpPr>
          <p:nvPr/>
        </p:nvSpPr>
        <p:spPr>
          <a:xfrm>
            <a:off x="44577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120s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0831A4-6A23-4804-9064-251BDBE1AFBE}"/>
              </a:ext>
            </a:extLst>
          </p:cNvPr>
          <p:cNvSpPr>
            <a:spLocks noGrp="1"/>
          </p:cNvSpPr>
          <p:nvPr/>
        </p:nvSpPr>
        <p:spPr>
          <a:xfrm>
            <a:off x="44767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轻休眠触发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A14BC8C-BAD0-41C0-AE75-684D60938D1E}"/>
              </a:ext>
            </a:extLst>
          </p:cNvPr>
          <p:cNvSpPr>
            <a:spLocks noGrp="1"/>
          </p:cNvSpPr>
          <p:nvPr/>
        </p:nvSpPr>
        <p:spPr>
          <a:xfrm>
            <a:off x="45339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120秒无操作</a:t>
            </a:r>
            <a:endParaRPr sz="1275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233756F-D7A3-4B97-81DA-73E6B91229D6}"/>
              </a:ext>
            </a:extLst>
          </p:cNvPr>
          <p:cNvSpPr>
            <a:spLocks noGrp="1"/>
          </p:cNvSpPr>
          <p:nvPr/>
        </p:nvSpPr>
        <p:spPr>
          <a:xfrm>
            <a:off x="6134100" y="4095750"/>
            <a:ext cx="15049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D057C0B-2FB4-43E4-8279-F87976B27214}"/>
              </a:ext>
            </a:extLst>
          </p:cNvPr>
          <p:cNvSpPr>
            <a:spLocks noGrp="1"/>
          </p:cNvSpPr>
          <p:nvPr/>
        </p:nvSpPr>
        <p:spPr>
          <a:xfrm>
            <a:off x="62293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约3s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798D83A-B0EB-449B-93F9-1F3DD7587A10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深休眠触发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CD87765-5936-4402-B33B-0FAC29A11553}"/>
              </a:ext>
            </a:extLst>
          </p:cNvPr>
          <p:cNvSpPr>
            <a:spLocks noGrp="1"/>
          </p:cNvSpPr>
          <p:nvPr/>
        </p:nvSpPr>
        <p:spPr>
          <a:xfrm>
            <a:off x="63055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长按确认键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0201B5D-AFF9-4535-B1CC-0A9D3D69EA49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15049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47ADF8D-6BA3-442E-8FC6-A54725F2DD70}"/>
              </a:ext>
            </a:extLst>
          </p:cNvPr>
          <p:cNvSpPr>
            <a:spLocks noGrp="1"/>
          </p:cNvSpPr>
          <p:nvPr/>
        </p:nvSpPr>
        <p:spPr>
          <a:xfrm>
            <a:off x="7867650" y="4305299"/>
            <a:ext cx="15049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325" b="1" dirty="0" err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WiFi</a:t>
            </a:r>
            <a:r>
              <a:rPr lang="zh-CN" altLang="en-US" sz="2325" b="1" dirty="0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重连</a:t>
            </a:r>
            <a:endParaRPr sz="2325" b="1" dirty="0">
              <a:solidFill>
                <a:srgbClr val="3854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79317DE-ED85-42C6-8CE5-C8E9AAB0EE56}"/>
              </a:ext>
            </a:extLst>
          </p:cNvPr>
          <p:cNvSpPr>
            <a:spLocks noGrp="1"/>
          </p:cNvSpPr>
          <p:nvPr/>
        </p:nvSpPr>
        <p:spPr>
          <a:xfrm>
            <a:off x="80200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连续六次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6C56210-866E-4165-8CB2-4F5B3D6D9934}"/>
              </a:ext>
            </a:extLst>
          </p:cNvPr>
          <p:cNvSpPr>
            <a:spLocks noGrp="1"/>
          </p:cNvSpPr>
          <p:nvPr/>
        </p:nvSpPr>
        <p:spPr>
          <a:xfrm>
            <a:off x="8077200" y="5200650"/>
            <a:ext cx="1162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在网络不稳定时触发重联</a:t>
            </a:r>
            <a:endParaRPr sz="1275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1E55D18-6E23-479A-ABC2-83DF80CB47C8}"/>
              </a:ext>
            </a:extLst>
          </p:cNvPr>
          <p:cNvSpPr>
            <a:spLocks noGrp="1"/>
          </p:cNvSpPr>
          <p:nvPr/>
        </p:nvSpPr>
        <p:spPr>
          <a:xfrm>
            <a:off x="9677400" y="4095750"/>
            <a:ext cx="1504950" cy="1600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678349-3732-4373-AB29-A83D844F266A}"/>
              </a:ext>
            </a:extLst>
          </p:cNvPr>
          <p:cNvSpPr>
            <a:spLocks noGrp="1"/>
          </p:cNvSpPr>
          <p:nvPr/>
        </p:nvSpPr>
        <p:spPr>
          <a:xfrm>
            <a:off x="9677400" y="4229100"/>
            <a:ext cx="1447800" cy="5048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固件升级</a:t>
            </a:r>
            <a:endParaRPr sz="2325" b="1" dirty="0">
              <a:solidFill>
                <a:srgbClr val="20A6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59FD5BD-755D-4EF9-A4BD-63A18278FB41}"/>
              </a:ext>
            </a:extLst>
          </p:cNvPr>
          <p:cNvSpPr>
            <a:spLocks noGrp="1"/>
          </p:cNvSpPr>
          <p:nvPr/>
        </p:nvSpPr>
        <p:spPr>
          <a:xfrm>
            <a:off x="9688830" y="4838700"/>
            <a:ext cx="1504950" cy="3143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</a:t>
            </a:r>
            <a:r>
              <a:rPr lang="en-US" altLang="zh-CN" sz="1575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/OTA</a:t>
            </a:r>
            <a:r>
              <a:rPr lang="zh-CN" altLang="en-US" sz="1575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升级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B524881-C1EA-4E71-AE3B-356B24325FF2}"/>
              </a:ext>
            </a:extLst>
          </p:cNvPr>
          <p:cNvSpPr>
            <a:spLocks noGrp="1"/>
          </p:cNvSpPr>
          <p:nvPr/>
        </p:nvSpPr>
        <p:spPr>
          <a:xfrm>
            <a:off x="98488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75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AB</a:t>
            </a:r>
            <a:r>
              <a:rPr lang="zh-CN" altLang="en-US" sz="1275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分区固件升级</a:t>
            </a:r>
            <a:endParaRPr sz="1275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5422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AAF24DD-42D4-4C02-8A56-BF04EED1EE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21B9123-BF10-405F-8F69-65993F94BC9C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7CC26D3-9F3B-435A-878B-9A3BCD936E1B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9300C3-C074-40F9-9DB7-707844B54E5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BF3CAF-957A-4F55-881E-7FD8B2BB4D1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6FE895-10D4-4E32-862A-6E57B6C96743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ED91A6-CC7B-4496-A72B-D3B622A365D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31B30-D884-4266-AC3B-FF57C4ECB25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总体架构：硬件支撑、任务协同与显示刷新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FBF2C0-71A2-41B1-9241-4397B3ED6343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8318D2-154B-432D-ABD7-64F164151A14}"/>
              </a:ext>
            </a:extLst>
          </p:cNvPr>
          <p:cNvSpPr>
            <a:spLocks noGrp="1"/>
          </p:cNvSpPr>
          <p:nvPr/>
        </p:nvSpPr>
        <p:spPr>
          <a:xfrm>
            <a:off x="495300" y="1466850"/>
            <a:ext cx="8096250" cy="4343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955" y="1581150"/>
            <a:ext cx="7306940" cy="41148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E460DA0-74BC-4898-A1C3-D8CD6C3E352B}"/>
              </a:ext>
            </a:extLst>
          </p:cNvPr>
          <p:cNvSpPr>
            <a:spLocks noGrp="1"/>
          </p:cNvSpPr>
          <p:nvPr/>
        </p:nvSpPr>
        <p:spPr>
          <a:xfrm>
            <a:off x="8953500" y="1638300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1FDB741-6E32-4BB6-9157-ED079F8F0F41}"/>
              </a:ext>
            </a:extLst>
          </p:cNvPr>
          <p:cNvSpPr>
            <a:spLocks noGrp="1"/>
          </p:cNvSpPr>
          <p:nvPr/>
        </p:nvSpPr>
        <p:spPr>
          <a:xfrm>
            <a:off x="8991600" y="22574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0A5E01-5E6D-41CD-A5CA-8F3DA0747612}"/>
              </a:ext>
            </a:extLst>
          </p:cNvPr>
          <p:cNvSpPr>
            <a:spLocks noGrp="1"/>
          </p:cNvSpPr>
          <p:nvPr/>
        </p:nvSpPr>
        <p:spPr>
          <a:xfrm>
            <a:off x="9201150" y="21717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硬件层封装显示、触摸、存储、时钟、网络和电源能力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2E71B69-AB1C-4CF1-BF3B-841F796C3439}"/>
              </a:ext>
            </a:extLst>
          </p:cNvPr>
          <p:cNvSpPr>
            <a:spLocks noGrp="1"/>
          </p:cNvSpPr>
          <p:nvPr/>
        </p:nvSpPr>
        <p:spPr>
          <a:xfrm>
            <a:off x="8991600" y="29432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E5C7E2-414B-4A3C-8906-C271A554F82F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应用层按功能拆分为系统服务、OTA、多媒体、网络和存储任务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0E41BC3-B0E4-413A-B5DF-0B767B366FE3}"/>
              </a:ext>
            </a:extLst>
          </p:cNvPr>
          <p:cNvSpPr>
            <a:spLocks noGrp="1"/>
          </p:cNvSpPr>
          <p:nvPr/>
        </p:nvSpPr>
        <p:spPr>
          <a:xfrm>
            <a:off x="8991600" y="36290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2B8500-17DF-487C-A04E-1317F718404D}"/>
              </a:ext>
            </a:extLst>
          </p:cNvPr>
          <p:cNvSpPr>
            <a:spLocks noGrp="1"/>
          </p:cNvSpPr>
          <p:nvPr/>
        </p:nvSpPr>
        <p:spPr>
          <a:xfrm>
            <a:off x="9201150" y="35433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应用层状态变化统一写入异步消息队列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56E76F7-059B-40D1-8EE8-023912072B1D}"/>
              </a:ext>
            </a:extLst>
          </p:cNvPr>
          <p:cNvSpPr>
            <a:spLocks noGrp="1"/>
          </p:cNvSpPr>
          <p:nvPr/>
        </p:nvSpPr>
        <p:spPr>
          <a:xfrm>
            <a:off x="8991600" y="4314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02B045-FE30-4875-B090-A4A4D0637DC8}"/>
              </a:ext>
            </a:extLst>
          </p:cNvPr>
          <p:cNvSpPr>
            <a:spLocks noGrp="1"/>
          </p:cNvSpPr>
          <p:nvPr/>
        </p:nvSpPr>
        <p:spPr>
          <a:xfrm>
            <a:off x="9201150" y="42291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显示层消费队列消息，完成页面刷新、事件分发和屏幕输出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73332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9816352-DA53-4E80-B392-3767AE9F31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CAE666A-5FC4-47D6-AA22-4DA14F29B254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C8CDBE8-3425-4E7C-B454-5D423181B164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BD49FC-B0C9-433C-8F74-098DCD86161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5B4520-AA59-4593-AD00-8064744222D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9A0D06-0560-4B61-849C-CD550570AE6A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6EACFE-ABC1-4E84-906E-27A1CBD19106}"/>
              </a:ext>
            </a:extLst>
          </p:cNvPr>
          <p:cNvSpPr>
            <a:spLocks noGrp="1"/>
          </p:cNvSpPr>
          <p:nvPr/>
        </p:nvSpPr>
        <p:spPr>
          <a:xfrm>
            <a:off x="581025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75" b="1" dirty="0">
              <a:solidFill>
                <a:srgbClr val="223B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9FD715-2CF6-4E3F-933C-B76318FE5D8E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ESP32-S3R8</a:t>
            </a:r>
            <a:r>
              <a:rPr lang="zh-CN" altLang="en-US" sz="25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最小系统</a:t>
            </a:r>
            <a:endParaRPr sz="25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7D0D67-85E7-4C4B-BD58-84387E29743B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28C658-F002-45E6-A5AF-F76708D06153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FDCFA4-A1FB-457E-A925-80E780AAE32E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95250" cy="1219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D5D695-2BCB-4973-9AC0-3DC1BDA9F1C3}"/>
              </a:ext>
            </a:extLst>
          </p:cNvPr>
          <p:cNvSpPr>
            <a:spLocks noGrp="1"/>
          </p:cNvSpPr>
          <p:nvPr/>
        </p:nvSpPr>
        <p:spPr>
          <a:xfrm>
            <a:off x="108585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D1B301-939A-41B7-A028-96C95296E173}"/>
              </a:ext>
            </a:extLst>
          </p:cNvPr>
          <p:cNvSpPr>
            <a:spLocks noGrp="1"/>
          </p:cNvSpPr>
          <p:nvPr/>
        </p:nvSpPr>
        <p:spPr>
          <a:xfrm>
            <a:off x="1085850" y="2228850"/>
            <a:ext cx="4362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双核32位处理器，最高240MHz；片内合封8MB </a:t>
            </a: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PSRAM，用于图形缓存、多媒体缓冲和任务运行空间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A228C4-B8DE-4A90-9982-2F837F6E6263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15B659-591A-47AC-835C-A5F1C4C0DD07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95250" cy="12192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CC2A9C-80C2-45DA-B4F8-85DC6EB78D44}"/>
              </a:ext>
            </a:extLst>
          </p:cNvPr>
          <p:cNvSpPr>
            <a:spLocks noGrp="1"/>
          </p:cNvSpPr>
          <p:nvPr/>
        </p:nvSpPr>
        <p:spPr>
          <a:xfrm>
            <a:off x="670560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7403FA-6B32-45A8-9ECB-5EBB65605953}"/>
              </a:ext>
            </a:extLst>
          </p:cNvPr>
          <p:cNvSpPr>
            <a:spLocks noGrp="1"/>
          </p:cNvSpPr>
          <p:nvPr/>
        </p:nvSpPr>
        <p:spPr>
          <a:xfrm>
            <a:off x="6705600" y="23812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外扩16MB串行Flash，用于程序固件、图像资源、配置参数和升级备份等非易失性存储。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248678-DE19-46C8-A48F-4ED8A0C599EC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993EA7-311B-4D43-BB64-D8BA08321A4D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95250" cy="12192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90CEE7-EBF5-4758-A60B-D1EF705A8FAD}"/>
              </a:ext>
            </a:extLst>
          </p:cNvPr>
          <p:cNvSpPr>
            <a:spLocks noGrp="1"/>
          </p:cNvSpPr>
          <p:nvPr/>
        </p:nvSpPr>
        <p:spPr>
          <a:xfrm>
            <a:off x="108585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40MHz晶振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8F2555-CC37-4B15-8504-2946C54C33CE}"/>
              </a:ext>
            </a:extLst>
          </p:cNvPr>
          <p:cNvSpPr>
            <a:spLocks noGrp="1"/>
          </p:cNvSpPr>
          <p:nvPr/>
        </p:nvSpPr>
        <p:spPr>
          <a:xfrm>
            <a:off x="108585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为主控提供稳定系统时钟，同时配合复位、启动配置和下载控制电路完成可靠启动。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1C1777-5B72-492A-A77A-B7BEE682BE10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27A349-2ACD-4238-8A92-7013A42523DC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95250" cy="12192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A48A6D-70C7-4134-980D-682B715F3BF0}"/>
              </a:ext>
            </a:extLst>
          </p:cNvPr>
          <p:cNvSpPr>
            <a:spLocks noGrp="1"/>
          </p:cNvSpPr>
          <p:nvPr/>
        </p:nvSpPr>
        <p:spPr>
          <a:xfrm>
            <a:off x="670560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9ED705-4C5F-41A5-9A5E-ADBDB1710749}"/>
              </a:ext>
            </a:extLst>
          </p:cNvPr>
          <p:cNvSpPr>
            <a:spLocks noGrp="1"/>
          </p:cNvSpPr>
          <p:nvPr/>
        </p:nvSpPr>
        <p:spPr>
          <a:xfrm>
            <a:off x="670560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2.4GHz陶瓷天线与匹配网络用于WiFi链路，布线和阻抗控制影响无线稳定性。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89407A-3B2C-4D1F-9366-9E844AC300B0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62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4B071C-6030-4E52-9CFC-359CDCABFBB9}"/>
              </a:ext>
            </a:extLst>
          </p:cNvPr>
          <p:cNvSpPr>
            <a:spLocks noGrp="1"/>
          </p:cNvSpPr>
          <p:nvPr/>
        </p:nvSpPr>
        <p:spPr>
          <a:xfrm>
            <a:off x="1676400" y="5410200"/>
            <a:ext cx="885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设计重点：芯片级布板提高空间灵活性，同时需要重点保证电源完整性、时钟稳定性、射频匹配和高速总线信号质量</a:t>
            </a:r>
            <a:r>
              <a:rPr sz="1500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4087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12C1156-DFBD-4903-A7AA-40081E07CE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EA19EB6-70E7-450F-AAC8-0A9ECE469AE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493C6DD-0E47-4627-96C6-FBD7466B5B0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3C06C7-EEB8-46E6-94E7-EC27A2361BB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96E2A-5B39-4E8A-A7C6-20056B5D18F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CBBB7-6807-441F-9DB7-1EE009ADF48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F0E58A-6C77-4E0B-8BEC-54DDBA21A78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4D383F-1298-4352-AE01-66603BAD5E2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显示触摸、时间与存储接口设计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E01A1A-F2F9-41F2-BCE2-1EE226160E0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0943EF-7F58-4809-B9D2-8F4D3BE9567D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991FA7-192F-4F3C-A69E-4D1A4D071F95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95250" cy="29527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D79F83-8385-4881-9E35-A9ECD99A1A05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显示触摸模组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BE878E-CF0B-40BF-BD74-4114C72C23AA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1.83英寸240×284一体化模组；显示端采用ST7789P3，通过SPI与DMA搬运提高刷新效率；触摸端采用CST816T，通过I2C与中断实现坐标读取和唤醒。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5F3089-913A-469B-A99C-B49C9AFAF4ED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30E814-BD11-41B3-BB58-CC9B75F56487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95250" cy="295275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938BB7-DCBD-4E3B-A831-CCB6A36E19BF}"/>
              </a:ext>
            </a:extLst>
          </p:cNvPr>
          <p:cNvSpPr>
            <a:spLocks noGrp="1"/>
          </p:cNvSpPr>
          <p:nvPr/>
        </p:nvSpPr>
        <p:spPr>
          <a:xfrm>
            <a:off x="46863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SD卡存储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23CDBC-6A43-4274-B86F-2800366DA13F}"/>
              </a:ext>
            </a:extLst>
          </p:cNvPr>
          <p:cNvSpPr>
            <a:spLocks noGrp="1"/>
          </p:cNvSpPr>
          <p:nvPr/>
        </p:nvSpPr>
        <p:spPr>
          <a:xfrm>
            <a:off x="46863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SD卡用于图片、MJPEG视频、TXT小说和本地OTA固件；挂载FatFS后支持文件扫描、分块读取和断点续读。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972D42-32C7-4310-B859-EC7103657A72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FC2D22-31AF-49D4-A534-DBC8DC3A086D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95250" cy="295275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2EF034-7F69-4240-AE6A-51470F79611F}"/>
              </a:ext>
            </a:extLst>
          </p:cNvPr>
          <p:cNvSpPr>
            <a:spLocks noGrp="1"/>
          </p:cNvSpPr>
          <p:nvPr/>
        </p:nvSpPr>
        <p:spPr>
          <a:xfrm>
            <a:off x="83820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时间管理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04EC86-2051-4E57-8348-5DBD3AD5F128}"/>
              </a:ext>
            </a:extLst>
          </p:cNvPr>
          <p:cNvSpPr>
            <a:spLocks noGrp="1"/>
          </p:cNvSpPr>
          <p:nvPr/>
        </p:nvSpPr>
        <p:spPr>
          <a:xfrm>
            <a:off x="83820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系统上电读取SD3078 RTC并同步到C语言time库；联网后NTP校时并写回RTC，断网或休眠恢复仍保持时间连续。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C6C28D-AC4C-4F4E-9DE9-0DF803D20859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96012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B42F461-1438-436A-B2CF-D397E3ED472A}"/>
              </a:ext>
            </a:extLst>
          </p:cNvPr>
          <p:cNvSpPr>
            <a:spLocks noGrp="1"/>
          </p:cNvSpPr>
          <p:nvPr/>
        </p:nvSpPr>
        <p:spPr>
          <a:xfrm>
            <a:off x="1524000" y="5276850"/>
            <a:ext cx="914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硬件链路：SPI负责LCD显示和SD卡存储，I2C负责触摸与SD3078 </a:t>
            </a:r>
            <a:r>
              <a:rPr sz="1500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RTC，GPIO负责背光、卡检测和休眠唤醒</a:t>
            </a:r>
            <a:r>
              <a:rPr sz="1500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4037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EE70730-CA9A-4118-B46A-9B56F8ACF4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C96233D-AE9E-4A76-B281-B83C90210B22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5586E11-BF98-466E-8E71-E2A66F424D4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0072E9-6FEC-4907-AE46-10CD378FC4F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0ED572-6EE5-40AE-9618-2259DC503EE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B5D8BF-6992-4B94-8E26-78C07A73F7AC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A447C-A512-47D5-88A2-A45ECF0934D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FC7AA7-780A-4883-9652-E057570ECF05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硬件实物：主板器件与屏幕连接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8CD434-C2A2-4E01-9549-38E64235F56E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3DA26C-12FD-499D-BF8B-ABB62B8F0A01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953000" cy="392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6004" y="1581150"/>
            <a:ext cx="2770692" cy="36957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A4A22C5-D638-46CA-8538-52EA4DACF1E8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953000" cy="400050"/>
          </a:xfrm>
          <a:prstGeom prst="rect">
            <a:avLst/>
          </a:prstGeom>
          <a:solidFill>
            <a:srgbClr val="FFFFFF">
              <a:alpha val="88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9F719-D700-4092-ADF0-B9C6BA6B4514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主板正面与主要器件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C1CE53-832B-4E96-A5BB-47EFEE5DD837}"/>
              </a:ext>
            </a:extLst>
          </p:cNvPr>
          <p:cNvSpPr>
            <a:spLocks noGrp="1"/>
          </p:cNvSpPr>
          <p:nvPr/>
        </p:nvSpPr>
        <p:spPr>
          <a:xfrm>
            <a:off x="6324600" y="1466850"/>
            <a:ext cx="4953000" cy="392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15754" y="1581150"/>
            <a:ext cx="2770692" cy="36957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6DF65E9-165D-41CF-9F4E-5B814AF9A9F8}"/>
              </a:ext>
            </a:extLst>
          </p:cNvPr>
          <p:cNvSpPr>
            <a:spLocks noGrp="1"/>
          </p:cNvSpPr>
          <p:nvPr/>
        </p:nvSpPr>
        <p:spPr>
          <a:xfrm>
            <a:off x="6324600" y="1466850"/>
            <a:ext cx="4953000" cy="400050"/>
          </a:xfrm>
          <a:prstGeom prst="rect">
            <a:avLst/>
          </a:prstGeom>
          <a:solidFill>
            <a:srgbClr val="FFFFFF">
              <a:alpha val="88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670ACC-70F0-4EF7-B9FB-EE4283C199BB}"/>
              </a:ext>
            </a:extLst>
          </p:cNvPr>
          <p:cNvSpPr>
            <a:spLocks noGrp="1"/>
          </p:cNvSpPr>
          <p:nvPr/>
        </p:nvSpPr>
        <p:spPr>
          <a:xfrm>
            <a:off x="6457950" y="15430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触摸屏FPC连接结构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31A291-F4EA-48FC-9215-73E97C709867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98298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77E3AC-A714-44E1-8F91-23482974AF2B}"/>
              </a:ext>
            </a:extLst>
          </p:cNvPr>
          <p:cNvSpPr>
            <a:spLocks noGrp="1"/>
          </p:cNvSpPr>
          <p:nvPr/>
        </p:nvSpPr>
        <p:spPr>
          <a:xfrm>
            <a:off x="1333500" y="5638800"/>
            <a:ext cx="952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实物调试重点：确认Type-C供电与下载、Micro</a:t>
            </a:r>
            <a:r>
              <a:rPr sz="1350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SD卡座、SD3078 RTC、W25Q128 Flash、ESP32-S3R8主控以及屏幕FPC连接可靠。</a:t>
            </a:r>
          </a:p>
        </p:txBody>
      </p:sp>
    </p:spTree>
    <p:extLst>
      <p:ext uri="{BB962C8B-B14F-4D97-AF65-F5344CB8AC3E}">
        <p14:creationId xmlns:p14="http://schemas.microsoft.com/office/powerpoint/2010/main" val="523290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7B41DDA5-AE38-4418-8F15-B6C5C1518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DD867B3-8963-4243-87FA-D34285F024B0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7D06376-163B-4E0D-9B5E-82D01202B2D8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0B8002-2C57-47FE-9966-5668D3516AC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B97882-AEBF-4E07-BD18-AFE1D8B0E59B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ADC7E2-9E32-4DA1-A962-D28D799966C1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6304F-8981-47A5-AAFD-D79261827B4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E7E210-17E2-4089-9031-804CDF076708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SD卡与多媒体流程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5EB63A-1444-41B4-870F-44F85B29045A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0B1BA0-83D0-4A0E-BF36-3A538BE8BFBB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38548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80CA1C-7AFC-45AB-A387-3761D08AF1DC}"/>
              </a:ext>
            </a:extLst>
          </p:cNvPr>
          <p:cNvSpPr>
            <a:spLocks noGrp="1"/>
          </p:cNvSpPr>
          <p:nvPr/>
        </p:nvSpPr>
        <p:spPr>
          <a:xfrm>
            <a:off x="971550" y="185737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初始化SD接口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挂载FatFS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07766A-140B-4DFB-861A-DB3D08523B30}"/>
              </a:ext>
            </a:extLst>
          </p:cNvPr>
          <p:cNvSpPr>
            <a:spLocks noGrp="1"/>
          </p:cNvSpPr>
          <p:nvPr/>
        </p:nvSpPr>
        <p:spPr>
          <a:xfrm>
            <a:off x="3543300" y="175260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0FB49C-3174-40A9-A4C0-572298931DD7}"/>
              </a:ext>
            </a:extLst>
          </p:cNvPr>
          <p:cNvSpPr>
            <a:spLocks noGrp="1"/>
          </p:cNvSpPr>
          <p:nvPr/>
        </p:nvSpPr>
        <p:spPr>
          <a:xfrm>
            <a:off x="3638550" y="185737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扫描/sdcard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建立文件缓存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B5D7D3-5072-49A0-9F63-81D692446EB6}"/>
              </a:ext>
            </a:extLst>
          </p:cNvPr>
          <p:cNvSpPr>
            <a:spLocks noGrp="1"/>
          </p:cNvSpPr>
          <p:nvPr/>
        </p:nvSpPr>
        <p:spPr>
          <a:xfrm>
            <a:off x="6210300" y="175260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0A66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F93636-03B1-4B40-9E5A-B71FFF0198D1}"/>
              </a:ext>
            </a:extLst>
          </p:cNvPr>
          <p:cNvSpPr>
            <a:spLocks noGrp="1"/>
          </p:cNvSpPr>
          <p:nvPr/>
        </p:nvSpPr>
        <p:spPr>
          <a:xfrm>
            <a:off x="6305550" y="185737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用户选择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资源类型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F3308F-99E8-41B6-A56C-63653663360F}"/>
              </a:ext>
            </a:extLst>
          </p:cNvPr>
          <p:cNvSpPr>
            <a:spLocks noGrp="1"/>
          </p:cNvSpPr>
          <p:nvPr/>
        </p:nvSpPr>
        <p:spPr>
          <a:xfrm>
            <a:off x="2876550" y="2028825"/>
            <a:ext cx="6667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E9A7F3-A5E2-4943-B5A2-6053664618F9}"/>
              </a:ext>
            </a:extLst>
          </p:cNvPr>
          <p:cNvSpPr>
            <a:spLocks noGrp="1"/>
          </p:cNvSpPr>
          <p:nvPr/>
        </p:nvSpPr>
        <p:spPr>
          <a:xfrm>
            <a:off x="3333750" y="185737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714686-5B66-4BC8-AC43-3D00FB7AB0B8}"/>
              </a:ext>
            </a:extLst>
          </p:cNvPr>
          <p:cNvSpPr>
            <a:spLocks noGrp="1"/>
          </p:cNvSpPr>
          <p:nvPr/>
        </p:nvSpPr>
        <p:spPr>
          <a:xfrm>
            <a:off x="5543550" y="2028825"/>
            <a:ext cx="6667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2752B9-CBCC-46D6-A0AC-6E7A87006BB9}"/>
              </a:ext>
            </a:extLst>
          </p:cNvPr>
          <p:cNvSpPr>
            <a:spLocks noGrp="1"/>
          </p:cNvSpPr>
          <p:nvPr/>
        </p:nvSpPr>
        <p:spPr>
          <a:xfrm>
            <a:off x="6000750" y="185737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6BB37A-1BFB-43C8-9732-41A443665ED8}"/>
              </a:ext>
            </a:extLst>
          </p:cNvPr>
          <p:cNvSpPr>
            <a:spLocks noGrp="1"/>
          </p:cNvSpPr>
          <p:nvPr/>
        </p:nvSpPr>
        <p:spPr>
          <a:xfrm>
            <a:off x="1104900" y="3200400"/>
            <a:ext cx="20002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38548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632B0C-F5FC-4C91-A12C-76711792D788}"/>
              </a:ext>
            </a:extLst>
          </p:cNvPr>
          <p:cNvSpPr>
            <a:spLocks noGrp="1"/>
          </p:cNvSpPr>
          <p:nvPr/>
        </p:nvSpPr>
        <p:spPr>
          <a:xfrm>
            <a:off x="1181100" y="3295650"/>
            <a:ext cx="18478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图片文件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分块读取与解码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760195-6231-4D92-AAE1-641ACBC2B709}"/>
              </a:ext>
            </a:extLst>
          </p:cNvPr>
          <p:cNvSpPr>
            <a:spLocks noGrp="1"/>
          </p:cNvSpPr>
          <p:nvPr/>
        </p:nvSpPr>
        <p:spPr>
          <a:xfrm>
            <a:off x="4000500" y="3200400"/>
            <a:ext cx="20002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F2A21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CE49D3-4DE3-41F0-90B2-E17C7A664E9F}"/>
              </a:ext>
            </a:extLst>
          </p:cNvPr>
          <p:cNvSpPr>
            <a:spLocks noGrp="1"/>
          </p:cNvSpPr>
          <p:nvPr/>
        </p:nvSpPr>
        <p:spPr>
          <a:xfrm>
            <a:off x="4076700" y="3295650"/>
            <a:ext cx="18478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视频文件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读帧/解码/缓存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D00C7C7-766E-4C25-9DE6-1BB4BE79F153}"/>
              </a:ext>
            </a:extLst>
          </p:cNvPr>
          <p:cNvSpPr>
            <a:spLocks noGrp="1"/>
          </p:cNvSpPr>
          <p:nvPr/>
        </p:nvSpPr>
        <p:spPr>
          <a:xfrm>
            <a:off x="6896100" y="3200400"/>
            <a:ext cx="20002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20A66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E5F459-2563-42DE-A5E8-6BF77C8FA2B6}"/>
              </a:ext>
            </a:extLst>
          </p:cNvPr>
          <p:cNvSpPr>
            <a:spLocks noGrp="1"/>
          </p:cNvSpPr>
          <p:nvPr/>
        </p:nvSpPr>
        <p:spPr>
          <a:xfrm>
            <a:off x="6972300" y="3295650"/>
            <a:ext cx="18478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TXT小说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分页与断点记录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61A463-46CE-495A-A768-1A3CE6AAAF9F}"/>
              </a:ext>
            </a:extLst>
          </p:cNvPr>
          <p:cNvSpPr>
            <a:spLocks noGrp="1"/>
          </p:cNvSpPr>
          <p:nvPr/>
        </p:nvSpPr>
        <p:spPr>
          <a:xfrm>
            <a:off x="7191375" y="234315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F6136C-2D2E-48C9-AAA4-5A64F27F5D7C}"/>
              </a:ext>
            </a:extLst>
          </p:cNvPr>
          <p:cNvSpPr>
            <a:spLocks noGrp="1"/>
          </p:cNvSpPr>
          <p:nvPr/>
        </p:nvSpPr>
        <p:spPr>
          <a:xfrm>
            <a:off x="7038975" y="2514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251985F-B551-4D1E-A92C-8EAF46EA564A}"/>
              </a:ext>
            </a:extLst>
          </p:cNvPr>
          <p:cNvSpPr>
            <a:spLocks noGrp="1"/>
          </p:cNvSpPr>
          <p:nvPr/>
        </p:nvSpPr>
        <p:spPr>
          <a:xfrm>
            <a:off x="7324725" y="24574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按类型分流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8C8B17-A150-4BCB-9985-0674BC76CDE5}"/>
              </a:ext>
            </a:extLst>
          </p:cNvPr>
          <p:cNvSpPr>
            <a:spLocks noGrp="1"/>
          </p:cNvSpPr>
          <p:nvPr/>
        </p:nvSpPr>
        <p:spPr>
          <a:xfrm>
            <a:off x="2095500" y="2781300"/>
            <a:ext cx="581025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F5D9BDF-2B02-4897-906C-C5079A2BD6EA}"/>
              </a:ext>
            </a:extLst>
          </p:cNvPr>
          <p:cNvSpPr>
            <a:spLocks noGrp="1"/>
          </p:cNvSpPr>
          <p:nvPr/>
        </p:nvSpPr>
        <p:spPr>
          <a:xfrm>
            <a:off x="2076450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0C425A-3CDC-4371-8146-098BF5186139}"/>
              </a:ext>
            </a:extLst>
          </p:cNvPr>
          <p:cNvSpPr>
            <a:spLocks noGrp="1"/>
          </p:cNvSpPr>
          <p:nvPr/>
        </p:nvSpPr>
        <p:spPr>
          <a:xfrm>
            <a:off x="1924050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61DA07-B9C4-4231-A35A-ED9C67562FB9}"/>
              </a:ext>
            </a:extLst>
          </p:cNvPr>
          <p:cNvSpPr>
            <a:spLocks noGrp="1"/>
          </p:cNvSpPr>
          <p:nvPr/>
        </p:nvSpPr>
        <p:spPr>
          <a:xfrm>
            <a:off x="4981575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FF64B55-BA26-4B79-8C1F-F33AFF974BD7}"/>
              </a:ext>
            </a:extLst>
          </p:cNvPr>
          <p:cNvSpPr>
            <a:spLocks noGrp="1"/>
          </p:cNvSpPr>
          <p:nvPr/>
        </p:nvSpPr>
        <p:spPr>
          <a:xfrm>
            <a:off x="4829175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B43AE8-BF25-4D10-86AA-84BACB0F1257}"/>
              </a:ext>
            </a:extLst>
          </p:cNvPr>
          <p:cNvSpPr>
            <a:spLocks noGrp="1"/>
          </p:cNvSpPr>
          <p:nvPr/>
        </p:nvSpPr>
        <p:spPr>
          <a:xfrm>
            <a:off x="7886700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49B6815-839C-4BC4-AA18-DCD2306BE93B}"/>
              </a:ext>
            </a:extLst>
          </p:cNvPr>
          <p:cNvSpPr>
            <a:spLocks noGrp="1"/>
          </p:cNvSpPr>
          <p:nvPr/>
        </p:nvSpPr>
        <p:spPr>
          <a:xfrm>
            <a:off x="7734300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9C2582-7DA4-4ACD-9DBB-219A36A7404E}"/>
              </a:ext>
            </a:extLst>
          </p:cNvPr>
          <p:cNvSpPr>
            <a:spLocks noGrp="1"/>
          </p:cNvSpPr>
          <p:nvPr/>
        </p:nvSpPr>
        <p:spPr>
          <a:xfrm>
            <a:off x="3352800" y="4743449"/>
            <a:ext cx="3333750" cy="771525"/>
          </a:xfrm>
          <a:prstGeom prst="rect">
            <a:avLst/>
          </a:prstGeom>
          <a:solidFill>
            <a:srgbClr val="EAF7FC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A5D96A0-BF24-4BEC-AB73-D9AF3ED95846}"/>
              </a:ext>
            </a:extLst>
          </p:cNvPr>
          <p:cNvSpPr>
            <a:spLocks noGrp="1"/>
          </p:cNvSpPr>
          <p:nvPr/>
        </p:nvSpPr>
        <p:spPr>
          <a:xfrm>
            <a:off x="3448050" y="4848225"/>
            <a:ext cx="3143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发送消息到显示层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刷新图片/视频/文本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D900D9-FA80-4025-9BBE-E1885F359003}"/>
              </a:ext>
            </a:extLst>
          </p:cNvPr>
          <p:cNvSpPr>
            <a:spLocks noGrp="1"/>
          </p:cNvSpPr>
          <p:nvPr/>
        </p:nvSpPr>
        <p:spPr>
          <a:xfrm>
            <a:off x="2076450" y="3943350"/>
            <a:ext cx="38100" cy="400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54FFF0D-0794-4FB7-8355-21996824E335}"/>
              </a:ext>
            </a:extLst>
          </p:cNvPr>
          <p:cNvSpPr>
            <a:spLocks noGrp="1"/>
          </p:cNvSpPr>
          <p:nvPr/>
        </p:nvSpPr>
        <p:spPr>
          <a:xfrm>
            <a:off x="1924050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2788C19-2164-4DE1-83DC-5713F703D114}"/>
              </a:ext>
            </a:extLst>
          </p:cNvPr>
          <p:cNvSpPr>
            <a:spLocks noGrp="1"/>
          </p:cNvSpPr>
          <p:nvPr/>
        </p:nvSpPr>
        <p:spPr>
          <a:xfrm>
            <a:off x="4981575" y="3943350"/>
            <a:ext cx="38100" cy="400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F5F5A8F-AF3D-4973-BF33-65D0FFEB6ABB}"/>
              </a:ext>
            </a:extLst>
          </p:cNvPr>
          <p:cNvSpPr>
            <a:spLocks noGrp="1"/>
          </p:cNvSpPr>
          <p:nvPr/>
        </p:nvSpPr>
        <p:spPr>
          <a:xfrm>
            <a:off x="4829175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1BD0B7E-BD7B-4976-9AE4-93FAE3FBF0C1}"/>
              </a:ext>
            </a:extLst>
          </p:cNvPr>
          <p:cNvSpPr>
            <a:spLocks noGrp="1"/>
          </p:cNvSpPr>
          <p:nvPr/>
        </p:nvSpPr>
        <p:spPr>
          <a:xfrm>
            <a:off x="7886700" y="3943350"/>
            <a:ext cx="38100" cy="400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A28577-EAE3-45B8-B545-4FA31955965B}"/>
              </a:ext>
            </a:extLst>
          </p:cNvPr>
          <p:cNvSpPr>
            <a:spLocks noGrp="1"/>
          </p:cNvSpPr>
          <p:nvPr/>
        </p:nvSpPr>
        <p:spPr>
          <a:xfrm>
            <a:off x="7734300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1F00EA5-5637-467A-B03D-04B27D216C0A}"/>
              </a:ext>
            </a:extLst>
          </p:cNvPr>
          <p:cNvSpPr>
            <a:spLocks noGrp="1"/>
          </p:cNvSpPr>
          <p:nvPr/>
        </p:nvSpPr>
        <p:spPr>
          <a:xfrm>
            <a:off x="2095500" y="4343400"/>
            <a:ext cx="581025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8733A0C-B195-46BC-96D2-40D48F3B5816}"/>
              </a:ext>
            </a:extLst>
          </p:cNvPr>
          <p:cNvSpPr>
            <a:spLocks noGrp="1"/>
          </p:cNvSpPr>
          <p:nvPr/>
        </p:nvSpPr>
        <p:spPr>
          <a:xfrm>
            <a:off x="5000625" y="4343400"/>
            <a:ext cx="38100" cy="400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E4383FC-ADF2-4A45-8FC6-BA287AB7501F}"/>
              </a:ext>
            </a:extLst>
          </p:cNvPr>
          <p:cNvSpPr>
            <a:spLocks noGrp="1"/>
          </p:cNvSpPr>
          <p:nvPr/>
        </p:nvSpPr>
        <p:spPr>
          <a:xfrm>
            <a:off x="4848225" y="44767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5296F33-58E7-4FA3-914B-44296DFAF458}"/>
              </a:ext>
            </a:extLst>
          </p:cNvPr>
          <p:cNvSpPr>
            <a:spLocks noGrp="1"/>
          </p:cNvSpPr>
          <p:nvPr/>
        </p:nvSpPr>
        <p:spPr>
          <a:xfrm>
            <a:off x="9239250" y="165735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讲解重点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BC3A34E7-0F8D-4393-835E-847BA022D055}"/>
              </a:ext>
            </a:extLst>
          </p:cNvPr>
          <p:cNvSpPr>
            <a:spLocks noGrp="1"/>
          </p:cNvSpPr>
          <p:nvPr/>
        </p:nvSpPr>
        <p:spPr>
          <a:xfrm>
            <a:off x="9239250" y="22955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5FAF52E-D3C7-426B-AAED-151F099C05D2}"/>
              </a:ext>
            </a:extLst>
          </p:cNvPr>
          <p:cNvSpPr>
            <a:spLocks noGrp="1"/>
          </p:cNvSpPr>
          <p:nvPr/>
        </p:nvSpPr>
        <p:spPr>
          <a:xfrm>
            <a:off x="9448800" y="22098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启动阶段初始化SD接口并挂载FatFS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5B5F220-8D14-4F5C-9A4C-DAD8493E76A7}"/>
              </a:ext>
            </a:extLst>
          </p:cNvPr>
          <p:cNvSpPr>
            <a:spLocks noGrp="1"/>
          </p:cNvSpPr>
          <p:nvPr/>
        </p:nvSpPr>
        <p:spPr>
          <a:xfrm>
            <a:off x="9239250" y="2905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DEB88F6-FCE7-4FD2-8856-C4D8B03B3EF4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扫描/sdcard资源，建立图片、视频、小说文件列表缓存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B34280D2-D59D-4592-857F-0FFA9DA85444}"/>
              </a:ext>
            </a:extLst>
          </p:cNvPr>
          <p:cNvSpPr>
            <a:spLocks noGrp="1"/>
          </p:cNvSpPr>
          <p:nvPr/>
        </p:nvSpPr>
        <p:spPr>
          <a:xfrm>
            <a:off x="92392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0741EA2-BAAB-42A2-9080-B6764F363377}"/>
              </a:ext>
            </a:extLst>
          </p:cNvPr>
          <p:cNvSpPr>
            <a:spLocks noGrp="1"/>
          </p:cNvSpPr>
          <p:nvPr/>
        </p:nvSpPr>
        <p:spPr>
          <a:xfrm>
            <a:off x="9448800" y="34290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图片分块读取解码，减少内存占用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CE8C3BC4-1D1B-43B0-A1F3-4B7ED87FC85D}"/>
              </a:ext>
            </a:extLst>
          </p:cNvPr>
          <p:cNvSpPr>
            <a:spLocks noGrp="1"/>
          </p:cNvSpPr>
          <p:nvPr/>
        </p:nvSpPr>
        <p:spPr>
          <a:xfrm>
            <a:off x="9239250" y="41243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358B7F7-9FC4-4040-832B-D94173C9D046}"/>
              </a:ext>
            </a:extLst>
          </p:cNvPr>
          <p:cNvSpPr>
            <a:spLocks noGrp="1"/>
          </p:cNvSpPr>
          <p:nvPr/>
        </p:nvSpPr>
        <p:spPr>
          <a:xfrm>
            <a:off x="9448800" y="40386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视频帧和小说翻页通过消息通知显示层刷新</a:t>
            </a:r>
          </a:p>
        </p:txBody>
      </p:sp>
    </p:spTree>
    <p:extLst>
      <p:ext uri="{BB962C8B-B14F-4D97-AF65-F5344CB8AC3E}">
        <p14:creationId xmlns:p14="http://schemas.microsoft.com/office/powerpoint/2010/main" val="1267966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FC59BD0B-5A9B-473D-BC78-CD32BF7CDE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AF8283C-1B15-4A6B-A461-6CEBA8C8E02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D1DCF40-3303-44CE-A5C4-3B4C303FB1DE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D8CAF4-3BB2-4AB2-AE3E-604CA1D7DE0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57CE7F-66DA-41CD-BA3A-C47386479C4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2F5455-EB2A-49CC-A890-B48C1BA87E5B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47FC6C-C418-4EC4-9E43-0F271976FCF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332233-E5B4-42BB-9CF1-6E8E9248D2CC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时间同步流程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6C2005-3E9B-4F94-A684-6C952BCF4917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DCEF6E-E4C1-426D-A152-758256CF493C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38548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3B5E19-5577-4157-86F0-F07B261D607D}"/>
              </a:ext>
            </a:extLst>
          </p:cNvPr>
          <p:cNvSpPr>
            <a:spLocks noGrp="1"/>
          </p:cNvSpPr>
          <p:nvPr/>
        </p:nvSpPr>
        <p:spPr>
          <a:xfrm>
            <a:off x="1009650" y="18002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系统启动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读取SD3078 RTC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BE0882-B643-4116-9FBC-67D3D1078B82}"/>
              </a:ext>
            </a:extLst>
          </p:cNvPr>
          <p:cNvSpPr>
            <a:spLocks noGrp="1"/>
          </p:cNvSpPr>
          <p:nvPr/>
        </p:nvSpPr>
        <p:spPr>
          <a:xfrm>
            <a:off x="3886200" y="16954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3B85EC-5BC0-4B9A-826D-9EC66D5129B2}"/>
              </a:ext>
            </a:extLst>
          </p:cNvPr>
          <p:cNvSpPr>
            <a:spLocks noGrp="1"/>
          </p:cNvSpPr>
          <p:nvPr/>
        </p:nvSpPr>
        <p:spPr>
          <a:xfrm>
            <a:off x="3981450" y="18002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校正ESP32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本地系统时钟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74E69A-977E-452D-BF50-EA5B62072AA1}"/>
              </a:ext>
            </a:extLst>
          </p:cNvPr>
          <p:cNvSpPr>
            <a:spLocks noGrp="1"/>
          </p:cNvSpPr>
          <p:nvPr/>
        </p:nvSpPr>
        <p:spPr>
          <a:xfrm>
            <a:off x="6858000" y="16954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0A66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B5BDEB-9238-42E1-9AE2-AA25889385EE}"/>
              </a:ext>
            </a:extLst>
          </p:cNvPr>
          <p:cNvSpPr>
            <a:spLocks noGrp="1"/>
          </p:cNvSpPr>
          <p:nvPr/>
        </p:nvSpPr>
        <p:spPr>
          <a:xfrm>
            <a:off x="6953250" y="18002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写入时间缓存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供界面读取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10F435-C13B-4A02-8F83-431D2AD80225}"/>
              </a:ext>
            </a:extLst>
          </p:cNvPr>
          <p:cNvSpPr>
            <a:spLocks noGrp="1"/>
          </p:cNvSpPr>
          <p:nvPr/>
        </p:nvSpPr>
        <p:spPr>
          <a:xfrm>
            <a:off x="3105150" y="1971675"/>
            <a:ext cx="7810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7BB661-DCFB-4735-8B2A-84A1BD27676B}"/>
              </a:ext>
            </a:extLst>
          </p:cNvPr>
          <p:cNvSpPr>
            <a:spLocks noGrp="1"/>
          </p:cNvSpPr>
          <p:nvPr/>
        </p:nvSpPr>
        <p:spPr>
          <a:xfrm>
            <a:off x="3676650" y="18002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2A625E-3660-4258-BB76-064A0B4A4A72}"/>
              </a:ext>
            </a:extLst>
          </p:cNvPr>
          <p:cNvSpPr>
            <a:spLocks noGrp="1"/>
          </p:cNvSpPr>
          <p:nvPr/>
        </p:nvSpPr>
        <p:spPr>
          <a:xfrm>
            <a:off x="6076950" y="1971675"/>
            <a:ext cx="7810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75F89D3-6841-416C-83A4-760D81550ECE}"/>
              </a:ext>
            </a:extLst>
          </p:cNvPr>
          <p:cNvSpPr>
            <a:spLocks noGrp="1"/>
          </p:cNvSpPr>
          <p:nvPr/>
        </p:nvSpPr>
        <p:spPr>
          <a:xfrm>
            <a:off x="6648450" y="18002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E72A2A-690D-4B21-A03F-AEA1D7A2F7C0}"/>
              </a:ext>
            </a:extLst>
          </p:cNvPr>
          <p:cNvSpPr>
            <a:spLocks noGrp="1"/>
          </p:cNvSpPr>
          <p:nvPr/>
        </p:nvSpPr>
        <p:spPr>
          <a:xfrm>
            <a:off x="952500" y="3200400"/>
            <a:ext cx="2190750" cy="704850"/>
          </a:xfrm>
          <a:prstGeom prst="rect">
            <a:avLst/>
          </a:prstGeom>
          <a:solidFill>
            <a:srgbClr val="F3F8FD"/>
          </a:solidFill>
          <a:ln w="12383">
            <a:solidFill>
              <a:srgbClr val="38548C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D8193F-0034-4705-9653-BA1FDB467671}"/>
              </a:ext>
            </a:extLst>
          </p:cNvPr>
          <p:cNvSpPr>
            <a:spLocks noGrp="1"/>
          </p:cNvSpPr>
          <p:nvPr/>
        </p:nvSpPr>
        <p:spPr>
          <a:xfrm>
            <a:off x="1028700" y="32956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网络校时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SNTP获取标准时间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566717-76F2-4EE6-87B3-7054F42EB0F8}"/>
              </a:ext>
            </a:extLst>
          </p:cNvPr>
          <p:cNvSpPr>
            <a:spLocks noGrp="1"/>
          </p:cNvSpPr>
          <p:nvPr/>
        </p:nvSpPr>
        <p:spPr>
          <a:xfrm>
            <a:off x="3905250" y="3200400"/>
            <a:ext cx="2190750" cy="704850"/>
          </a:xfrm>
          <a:prstGeom prst="rect">
            <a:avLst/>
          </a:prstGeom>
          <a:solidFill>
            <a:srgbClr val="F3F8FD"/>
          </a:solidFill>
          <a:ln w="12383">
            <a:solidFill>
              <a:srgbClr val="20A66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02FABA-48A7-4369-A2B9-D5C4CB0362E3}"/>
              </a:ext>
            </a:extLst>
          </p:cNvPr>
          <p:cNvSpPr>
            <a:spLocks noGrp="1"/>
          </p:cNvSpPr>
          <p:nvPr/>
        </p:nvSpPr>
        <p:spPr>
          <a:xfrm>
            <a:off x="3981450" y="32956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本地守时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RTC定时校准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478D11-0B77-48FE-9999-7E42BD3777E2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2190750" cy="704850"/>
          </a:xfrm>
          <a:prstGeom prst="rect">
            <a:avLst/>
          </a:prstGeom>
          <a:solidFill>
            <a:srgbClr val="F3F8FD"/>
          </a:solidFill>
          <a:ln w="12383">
            <a:solidFill>
              <a:srgbClr val="F2A21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8579AC-410C-4D48-9518-6A9328C1E9E1}"/>
              </a:ext>
            </a:extLst>
          </p:cNvPr>
          <p:cNvSpPr>
            <a:spLocks noGrp="1"/>
          </p:cNvSpPr>
          <p:nvPr/>
        </p:nvSpPr>
        <p:spPr>
          <a:xfrm>
            <a:off x="6934200" y="329565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手动改时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写入系统与RTC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8CC5E1-FFBA-4CA8-9C32-20AADAF07D90}"/>
              </a:ext>
            </a:extLst>
          </p:cNvPr>
          <p:cNvSpPr>
            <a:spLocks noGrp="1"/>
          </p:cNvSpPr>
          <p:nvPr/>
        </p:nvSpPr>
        <p:spPr>
          <a:xfrm>
            <a:off x="7934325" y="2286000"/>
            <a:ext cx="38100" cy="4953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D46D989-1E97-4BBD-B37F-1D581C3489F8}"/>
              </a:ext>
            </a:extLst>
          </p:cNvPr>
          <p:cNvSpPr>
            <a:spLocks noGrp="1"/>
          </p:cNvSpPr>
          <p:nvPr/>
        </p:nvSpPr>
        <p:spPr>
          <a:xfrm>
            <a:off x="7781925" y="2514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346304F-0133-45A8-BCF6-E810F212109E}"/>
              </a:ext>
            </a:extLst>
          </p:cNvPr>
          <p:cNvSpPr>
            <a:spLocks noGrp="1"/>
          </p:cNvSpPr>
          <p:nvPr/>
        </p:nvSpPr>
        <p:spPr>
          <a:xfrm>
            <a:off x="8067675" y="24003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时间来源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5F5C36-BCAF-4BB5-A37E-6256535DC697}"/>
              </a:ext>
            </a:extLst>
          </p:cNvPr>
          <p:cNvSpPr>
            <a:spLocks noGrp="1"/>
          </p:cNvSpPr>
          <p:nvPr/>
        </p:nvSpPr>
        <p:spPr>
          <a:xfrm>
            <a:off x="2047875" y="2781300"/>
            <a:ext cx="59055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52CAB8-C08A-4960-A22A-7433BA229C4C}"/>
              </a:ext>
            </a:extLst>
          </p:cNvPr>
          <p:cNvSpPr>
            <a:spLocks noGrp="1"/>
          </p:cNvSpPr>
          <p:nvPr/>
        </p:nvSpPr>
        <p:spPr>
          <a:xfrm>
            <a:off x="2028825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B055BD-73F9-4DD1-80FF-9FBB55E0E761}"/>
              </a:ext>
            </a:extLst>
          </p:cNvPr>
          <p:cNvSpPr>
            <a:spLocks noGrp="1"/>
          </p:cNvSpPr>
          <p:nvPr/>
        </p:nvSpPr>
        <p:spPr>
          <a:xfrm>
            <a:off x="1876425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6EFE3C-3749-4354-B094-B6D9E3509BFC}"/>
              </a:ext>
            </a:extLst>
          </p:cNvPr>
          <p:cNvSpPr>
            <a:spLocks noGrp="1"/>
          </p:cNvSpPr>
          <p:nvPr/>
        </p:nvSpPr>
        <p:spPr>
          <a:xfrm>
            <a:off x="4981575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5D5EFF-6472-47FB-BD83-5D5A9BBDF94C}"/>
              </a:ext>
            </a:extLst>
          </p:cNvPr>
          <p:cNvSpPr>
            <a:spLocks noGrp="1"/>
          </p:cNvSpPr>
          <p:nvPr/>
        </p:nvSpPr>
        <p:spPr>
          <a:xfrm>
            <a:off x="4829175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6BB7F7C-449D-40F9-9DA3-8914F32D6AF0}"/>
              </a:ext>
            </a:extLst>
          </p:cNvPr>
          <p:cNvSpPr>
            <a:spLocks noGrp="1"/>
          </p:cNvSpPr>
          <p:nvPr/>
        </p:nvSpPr>
        <p:spPr>
          <a:xfrm>
            <a:off x="7934325" y="27813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CD0B9D3-CAFA-4D66-8F17-203DAEE91453}"/>
              </a:ext>
            </a:extLst>
          </p:cNvPr>
          <p:cNvSpPr>
            <a:spLocks noGrp="1"/>
          </p:cNvSpPr>
          <p:nvPr/>
        </p:nvSpPr>
        <p:spPr>
          <a:xfrm>
            <a:off x="7781925" y="2933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B243261-6F41-4915-BEE1-549BBF683571}"/>
              </a:ext>
            </a:extLst>
          </p:cNvPr>
          <p:cNvSpPr>
            <a:spLocks noGrp="1"/>
          </p:cNvSpPr>
          <p:nvPr/>
        </p:nvSpPr>
        <p:spPr>
          <a:xfrm>
            <a:off x="3105150" y="4781550"/>
            <a:ext cx="3810000" cy="552450"/>
          </a:xfrm>
          <a:prstGeom prst="rect">
            <a:avLst/>
          </a:prstGeom>
          <a:solidFill>
            <a:srgbClr val="EAF7FC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C6DB11A-1D3A-4B5A-85A2-6229ACF7D433}"/>
              </a:ext>
            </a:extLst>
          </p:cNvPr>
          <p:cNvSpPr>
            <a:spLocks noGrp="1"/>
          </p:cNvSpPr>
          <p:nvPr/>
        </p:nvSpPr>
        <p:spPr>
          <a:xfrm>
            <a:off x="3200400" y="4886325"/>
            <a:ext cx="361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统一刷新LVGL时间显示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6DF879-9D5C-4196-9BD5-D875864BD165}"/>
              </a:ext>
            </a:extLst>
          </p:cNvPr>
          <p:cNvSpPr>
            <a:spLocks noGrp="1"/>
          </p:cNvSpPr>
          <p:nvPr/>
        </p:nvSpPr>
        <p:spPr>
          <a:xfrm>
            <a:off x="2028825" y="390525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D42F298-1618-404A-B8F0-E08D37E07F0B}"/>
              </a:ext>
            </a:extLst>
          </p:cNvPr>
          <p:cNvSpPr>
            <a:spLocks noGrp="1"/>
          </p:cNvSpPr>
          <p:nvPr/>
        </p:nvSpPr>
        <p:spPr>
          <a:xfrm>
            <a:off x="1876425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B09886C-2980-4DF6-9D27-41F954C4517B}"/>
              </a:ext>
            </a:extLst>
          </p:cNvPr>
          <p:cNvSpPr>
            <a:spLocks noGrp="1"/>
          </p:cNvSpPr>
          <p:nvPr/>
        </p:nvSpPr>
        <p:spPr>
          <a:xfrm>
            <a:off x="4981575" y="390525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6D9F6C2-9F97-4E19-98E5-3100048A8A57}"/>
              </a:ext>
            </a:extLst>
          </p:cNvPr>
          <p:cNvSpPr>
            <a:spLocks noGrp="1"/>
          </p:cNvSpPr>
          <p:nvPr/>
        </p:nvSpPr>
        <p:spPr>
          <a:xfrm>
            <a:off x="4829175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79A14FD-D904-492C-A05C-E6C3007B0DDD}"/>
              </a:ext>
            </a:extLst>
          </p:cNvPr>
          <p:cNvSpPr>
            <a:spLocks noGrp="1"/>
          </p:cNvSpPr>
          <p:nvPr/>
        </p:nvSpPr>
        <p:spPr>
          <a:xfrm>
            <a:off x="7934325" y="390525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2D2F132-4089-4D48-A324-AF0F3C3E5367}"/>
              </a:ext>
            </a:extLst>
          </p:cNvPr>
          <p:cNvSpPr>
            <a:spLocks noGrp="1"/>
          </p:cNvSpPr>
          <p:nvPr/>
        </p:nvSpPr>
        <p:spPr>
          <a:xfrm>
            <a:off x="7781925" y="40767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B28487D-E4A7-4835-9BC6-B3F4493219B0}"/>
              </a:ext>
            </a:extLst>
          </p:cNvPr>
          <p:cNvSpPr>
            <a:spLocks noGrp="1"/>
          </p:cNvSpPr>
          <p:nvPr/>
        </p:nvSpPr>
        <p:spPr>
          <a:xfrm>
            <a:off x="2047875" y="4343400"/>
            <a:ext cx="59055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51FE8DD-E03B-4FAD-8DDE-33E50C01ECA8}"/>
              </a:ext>
            </a:extLst>
          </p:cNvPr>
          <p:cNvSpPr>
            <a:spLocks noGrp="1"/>
          </p:cNvSpPr>
          <p:nvPr/>
        </p:nvSpPr>
        <p:spPr>
          <a:xfrm>
            <a:off x="4991100" y="4343400"/>
            <a:ext cx="38100" cy="4381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374FB91-04DB-4052-BF47-ADF2076ED88A}"/>
              </a:ext>
            </a:extLst>
          </p:cNvPr>
          <p:cNvSpPr>
            <a:spLocks noGrp="1"/>
          </p:cNvSpPr>
          <p:nvPr/>
        </p:nvSpPr>
        <p:spPr>
          <a:xfrm>
            <a:off x="4838700" y="45148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7EC9019-46FD-4DA9-B91A-0E3B18EBDA8B}"/>
              </a:ext>
            </a:extLst>
          </p:cNvPr>
          <p:cNvSpPr>
            <a:spLocks noGrp="1"/>
          </p:cNvSpPr>
          <p:nvPr/>
        </p:nvSpPr>
        <p:spPr>
          <a:xfrm>
            <a:off x="9391650" y="16573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三条时间来源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3FA37DB3-1466-495B-A5FC-2A83DC42095B}"/>
              </a:ext>
            </a:extLst>
          </p:cNvPr>
          <p:cNvSpPr>
            <a:spLocks noGrp="1"/>
          </p:cNvSpPr>
          <p:nvPr/>
        </p:nvSpPr>
        <p:spPr>
          <a:xfrm>
            <a:off x="93916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FD48ECB-BD00-41ED-82B0-2A7A2BE1F2AE}"/>
              </a:ext>
            </a:extLst>
          </p:cNvPr>
          <p:cNvSpPr>
            <a:spLocks noGrp="1"/>
          </p:cNvSpPr>
          <p:nvPr/>
        </p:nvSpPr>
        <p:spPr>
          <a:xfrm>
            <a:off x="9601200" y="2247900"/>
            <a:ext cx="1981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上电读取RTC校准系统时钟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ECEFAD0C-4638-48CA-ADE9-59826937543C}"/>
              </a:ext>
            </a:extLst>
          </p:cNvPr>
          <p:cNvSpPr>
            <a:spLocks noGrp="1"/>
          </p:cNvSpPr>
          <p:nvPr/>
        </p:nvSpPr>
        <p:spPr>
          <a:xfrm>
            <a:off x="9391650" y="29241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7D3CA6F-80B1-4C55-AD28-4715DA292F6B}"/>
              </a:ext>
            </a:extLst>
          </p:cNvPr>
          <p:cNvSpPr>
            <a:spLocks noGrp="1"/>
          </p:cNvSpPr>
          <p:nvPr/>
        </p:nvSpPr>
        <p:spPr>
          <a:xfrm>
            <a:off x="9601200" y="2838450"/>
            <a:ext cx="1981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联网后SNTP校时并写回RTC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A80324F8-BBCA-4575-8D06-0DA4C4526EFC}"/>
              </a:ext>
            </a:extLst>
          </p:cNvPr>
          <p:cNvSpPr>
            <a:spLocks noGrp="1"/>
          </p:cNvSpPr>
          <p:nvPr/>
        </p:nvSpPr>
        <p:spPr>
          <a:xfrm>
            <a:off x="93916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6A208BC-328C-4F7B-87B8-2EE90795FEDF}"/>
              </a:ext>
            </a:extLst>
          </p:cNvPr>
          <p:cNvSpPr>
            <a:spLocks noGrp="1"/>
          </p:cNvSpPr>
          <p:nvPr/>
        </p:nvSpPr>
        <p:spPr>
          <a:xfrm>
            <a:off x="9601200" y="3429000"/>
            <a:ext cx="1981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无网依靠RTC守时并刷新缓存</a:t>
            </a: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90F68094-C100-4700-86BC-93B10B158BB1}"/>
              </a:ext>
            </a:extLst>
          </p:cNvPr>
          <p:cNvSpPr>
            <a:spLocks noGrp="1"/>
          </p:cNvSpPr>
          <p:nvPr/>
        </p:nvSpPr>
        <p:spPr>
          <a:xfrm>
            <a:off x="9391650" y="41052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397BEB2-CF7B-4EE9-979B-1D94A380678B}"/>
              </a:ext>
            </a:extLst>
          </p:cNvPr>
          <p:cNvSpPr>
            <a:spLocks noGrp="1"/>
          </p:cNvSpPr>
          <p:nvPr/>
        </p:nvSpPr>
        <p:spPr>
          <a:xfrm>
            <a:off x="9601200" y="4019550"/>
            <a:ext cx="1981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手动改时同步写入系统与RTC</a:t>
            </a:r>
          </a:p>
        </p:txBody>
      </p:sp>
    </p:spTree>
    <p:extLst>
      <p:ext uri="{BB962C8B-B14F-4D97-AF65-F5344CB8AC3E}">
        <p14:creationId xmlns:p14="http://schemas.microsoft.com/office/powerpoint/2010/main" val="812073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897787E4-2AFA-4939-8685-F1839A379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BBB25B0-BAF0-4A19-A137-C569BA57845F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012F1552-6312-4E55-8074-4B2504614D80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84A630-A501-4FB2-B4E0-D86157A2732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D958EB-A996-44FF-A295-31FD0079EC4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50EB67-9CF4-48F4-8BCA-D6894DB9B36B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08D13-731B-40EB-AEBD-0E64D676ECC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CBDA4C-A9D1-40DD-9594-AE272EEADCBC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OTA升级流程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649183-265D-4610-99CA-8D6AE22044B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FAF2B4-86AB-42E7-9725-E7CACF210940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38548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57B838-5FB4-4F06-A365-22A8373E2BC0}"/>
              </a:ext>
            </a:extLst>
          </p:cNvPr>
          <p:cNvSpPr>
            <a:spLocks noGrp="1"/>
          </p:cNvSpPr>
          <p:nvPr/>
        </p:nvSpPr>
        <p:spPr>
          <a:xfrm>
            <a:off x="857250" y="180022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进入OTA模块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读取分区信息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184382-A6CA-486A-8088-1B186F61CB93}"/>
              </a:ext>
            </a:extLst>
          </p:cNvPr>
          <p:cNvSpPr>
            <a:spLocks noGrp="1"/>
          </p:cNvSpPr>
          <p:nvPr/>
        </p:nvSpPr>
        <p:spPr>
          <a:xfrm>
            <a:off x="3429000" y="169545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23A4F3-5A41-460D-904A-FC73A6493569}"/>
              </a:ext>
            </a:extLst>
          </p:cNvPr>
          <p:cNvSpPr>
            <a:spLocks noGrp="1"/>
          </p:cNvSpPr>
          <p:nvPr/>
        </p:nvSpPr>
        <p:spPr>
          <a:xfrm>
            <a:off x="3524250" y="1800225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选择升级方式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云端或本地SD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B11F3E-723B-4FF2-9390-2324F940141F}"/>
              </a:ext>
            </a:extLst>
          </p:cNvPr>
          <p:cNvSpPr>
            <a:spLocks noGrp="1"/>
          </p:cNvSpPr>
          <p:nvPr/>
        </p:nvSpPr>
        <p:spPr>
          <a:xfrm>
            <a:off x="2762250" y="1971675"/>
            <a:ext cx="6667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D8B4A8-86EE-4F8A-8E89-7252233C108A}"/>
              </a:ext>
            </a:extLst>
          </p:cNvPr>
          <p:cNvSpPr>
            <a:spLocks noGrp="1"/>
          </p:cNvSpPr>
          <p:nvPr/>
        </p:nvSpPr>
        <p:spPr>
          <a:xfrm>
            <a:off x="3219450" y="18002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D9B9CD-5F27-44A1-BE70-817BC076D23E}"/>
              </a:ext>
            </a:extLst>
          </p:cNvPr>
          <p:cNvSpPr>
            <a:spLocks noGrp="1"/>
          </p:cNvSpPr>
          <p:nvPr/>
        </p:nvSpPr>
        <p:spPr>
          <a:xfrm>
            <a:off x="1809750" y="3162300"/>
            <a:ext cx="21907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38548C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73741C-DD28-42F7-9C79-209C20A5F219}"/>
              </a:ext>
            </a:extLst>
          </p:cNvPr>
          <p:cNvSpPr>
            <a:spLocks noGrp="1"/>
          </p:cNvSpPr>
          <p:nvPr/>
        </p:nvSpPr>
        <p:spPr>
          <a:xfrm>
            <a:off x="1885950" y="3257550"/>
            <a:ext cx="2038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云端OTA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连接平台并下载镜像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199974-A64C-4C5A-8B7E-1D7E1AE3AFCA}"/>
              </a:ext>
            </a:extLst>
          </p:cNvPr>
          <p:cNvSpPr>
            <a:spLocks noGrp="1"/>
          </p:cNvSpPr>
          <p:nvPr/>
        </p:nvSpPr>
        <p:spPr>
          <a:xfrm>
            <a:off x="5048250" y="3162300"/>
            <a:ext cx="2190750" cy="742950"/>
          </a:xfrm>
          <a:prstGeom prst="rect">
            <a:avLst/>
          </a:prstGeom>
          <a:solidFill>
            <a:srgbClr val="F3F8FD"/>
          </a:solidFill>
          <a:ln w="12383">
            <a:solidFill>
              <a:srgbClr val="20A66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FE5D0E-A502-4CDF-A3D3-3192C639EDAA}"/>
              </a:ext>
            </a:extLst>
          </p:cNvPr>
          <p:cNvSpPr>
            <a:spLocks noGrp="1"/>
          </p:cNvSpPr>
          <p:nvPr/>
        </p:nvSpPr>
        <p:spPr>
          <a:xfrm>
            <a:off x="5124450" y="3257550"/>
            <a:ext cx="2038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本地OTA</a:t>
            </a:r>
            <a:endParaRPr sz="142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扫描SD卡.bin文件</a:t>
            </a:r>
            <a:endParaRPr sz="142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F9596CF-71EA-4C2D-9695-82C5EEA70AD3}"/>
              </a:ext>
            </a:extLst>
          </p:cNvPr>
          <p:cNvSpPr>
            <a:spLocks noGrp="1"/>
          </p:cNvSpPr>
          <p:nvPr/>
        </p:nvSpPr>
        <p:spPr>
          <a:xfrm>
            <a:off x="4410075" y="2286000"/>
            <a:ext cx="38100" cy="457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BECD90-546F-4775-8697-7C3ED1B190D1}"/>
              </a:ext>
            </a:extLst>
          </p:cNvPr>
          <p:cNvSpPr>
            <a:spLocks noGrp="1"/>
          </p:cNvSpPr>
          <p:nvPr/>
        </p:nvSpPr>
        <p:spPr>
          <a:xfrm>
            <a:off x="4257675" y="24765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DC2907-6991-46FD-8846-18AED66E83BD}"/>
              </a:ext>
            </a:extLst>
          </p:cNvPr>
          <p:cNvSpPr>
            <a:spLocks noGrp="1"/>
          </p:cNvSpPr>
          <p:nvPr/>
        </p:nvSpPr>
        <p:spPr>
          <a:xfrm>
            <a:off x="4543425" y="24003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分流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4BFCA4-3FFA-4351-AC6F-6CC11D9B146C}"/>
              </a:ext>
            </a:extLst>
          </p:cNvPr>
          <p:cNvSpPr>
            <a:spLocks noGrp="1"/>
          </p:cNvSpPr>
          <p:nvPr/>
        </p:nvSpPr>
        <p:spPr>
          <a:xfrm>
            <a:off x="2905125" y="2743200"/>
            <a:ext cx="32385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28C2C0-77B0-4FEB-B48C-C9D872021CA4}"/>
              </a:ext>
            </a:extLst>
          </p:cNvPr>
          <p:cNvSpPr>
            <a:spLocks noGrp="1"/>
          </p:cNvSpPr>
          <p:nvPr/>
        </p:nvSpPr>
        <p:spPr>
          <a:xfrm>
            <a:off x="2886075" y="27432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BED15C-1D95-4C59-991B-D4D19D08469A}"/>
              </a:ext>
            </a:extLst>
          </p:cNvPr>
          <p:cNvSpPr>
            <a:spLocks noGrp="1"/>
          </p:cNvSpPr>
          <p:nvPr/>
        </p:nvSpPr>
        <p:spPr>
          <a:xfrm>
            <a:off x="2733675" y="2895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25E890-CCD0-4727-AD36-35F17CBA436F}"/>
              </a:ext>
            </a:extLst>
          </p:cNvPr>
          <p:cNvSpPr>
            <a:spLocks noGrp="1"/>
          </p:cNvSpPr>
          <p:nvPr/>
        </p:nvSpPr>
        <p:spPr>
          <a:xfrm>
            <a:off x="6124575" y="274320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CF3498-35E7-4A11-A879-A1DD14AC5CEA}"/>
              </a:ext>
            </a:extLst>
          </p:cNvPr>
          <p:cNvSpPr>
            <a:spLocks noGrp="1"/>
          </p:cNvSpPr>
          <p:nvPr/>
        </p:nvSpPr>
        <p:spPr>
          <a:xfrm>
            <a:off x="5972175" y="2895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1DFB9F2-A418-42AB-98F1-ADEE7FC6BEDD}"/>
              </a:ext>
            </a:extLst>
          </p:cNvPr>
          <p:cNvSpPr>
            <a:spLocks noGrp="1"/>
          </p:cNvSpPr>
          <p:nvPr/>
        </p:nvSpPr>
        <p:spPr>
          <a:xfrm>
            <a:off x="3429000" y="4686300"/>
            <a:ext cx="2190750" cy="552450"/>
          </a:xfrm>
          <a:prstGeom prst="rect">
            <a:avLst/>
          </a:prstGeom>
          <a:solidFill>
            <a:srgbClr val="FFF7EA"/>
          </a:solidFill>
          <a:ln w="14288">
            <a:solidFill>
              <a:srgbClr val="F2A21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029639-2D13-4233-928D-F1C3E569010B}"/>
              </a:ext>
            </a:extLst>
          </p:cNvPr>
          <p:cNvSpPr>
            <a:spLocks noGrp="1"/>
          </p:cNvSpPr>
          <p:nvPr/>
        </p:nvSpPr>
        <p:spPr>
          <a:xfrm>
            <a:off x="3524250" y="4791075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写入备份分区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并校验镜像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3FF72D-14A8-4DD7-B856-53EC08BEC1DA}"/>
              </a:ext>
            </a:extLst>
          </p:cNvPr>
          <p:cNvSpPr>
            <a:spLocks noGrp="1"/>
          </p:cNvSpPr>
          <p:nvPr/>
        </p:nvSpPr>
        <p:spPr>
          <a:xfrm>
            <a:off x="6477000" y="4686300"/>
            <a:ext cx="2190750" cy="552450"/>
          </a:xfrm>
          <a:prstGeom prst="rect">
            <a:avLst/>
          </a:prstGeom>
          <a:solidFill>
            <a:srgbClr val="FFF2F2"/>
          </a:solidFill>
          <a:ln w="14288">
            <a:solidFill>
              <a:srgbClr val="E35D5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B9B0AA2-3FBC-4A85-B270-58600B4ECA58}"/>
              </a:ext>
            </a:extLst>
          </p:cNvPr>
          <p:cNvSpPr>
            <a:spLocks noGrp="1"/>
          </p:cNvSpPr>
          <p:nvPr/>
        </p:nvSpPr>
        <p:spPr>
          <a:xfrm>
            <a:off x="6572250" y="4791075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重启或点击跳转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异常则回滚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B34B72-DAA6-45E5-831C-5D6CFD0CE4C1}"/>
              </a:ext>
            </a:extLst>
          </p:cNvPr>
          <p:cNvSpPr>
            <a:spLocks noGrp="1"/>
          </p:cNvSpPr>
          <p:nvPr/>
        </p:nvSpPr>
        <p:spPr>
          <a:xfrm>
            <a:off x="2886075" y="390525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8E2CA0C-5DC7-4159-A663-5C8AF9806CC4}"/>
              </a:ext>
            </a:extLst>
          </p:cNvPr>
          <p:cNvSpPr>
            <a:spLocks noGrp="1"/>
          </p:cNvSpPr>
          <p:nvPr/>
        </p:nvSpPr>
        <p:spPr>
          <a:xfrm>
            <a:off x="2733675" y="40576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FB7AF80-C593-42DA-B697-A8AA55C78F28}"/>
              </a:ext>
            </a:extLst>
          </p:cNvPr>
          <p:cNvSpPr>
            <a:spLocks noGrp="1"/>
          </p:cNvSpPr>
          <p:nvPr/>
        </p:nvSpPr>
        <p:spPr>
          <a:xfrm>
            <a:off x="6124575" y="3905250"/>
            <a:ext cx="38100" cy="419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00B872A-2ED7-4B79-AE96-30E4B55BFC5D}"/>
              </a:ext>
            </a:extLst>
          </p:cNvPr>
          <p:cNvSpPr>
            <a:spLocks noGrp="1"/>
          </p:cNvSpPr>
          <p:nvPr/>
        </p:nvSpPr>
        <p:spPr>
          <a:xfrm>
            <a:off x="5972175" y="40576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AF5E10-DE6F-4995-9564-E601EAE230FB}"/>
              </a:ext>
            </a:extLst>
          </p:cNvPr>
          <p:cNvSpPr>
            <a:spLocks noGrp="1"/>
          </p:cNvSpPr>
          <p:nvPr/>
        </p:nvSpPr>
        <p:spPr>
          <a:xfrm>
            <a:off x="2905125" y="4324350"/>
            <a:ext cx="32385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46DB1AA-BF7D-4108-AE82-2A9F6DCA7A4A}"/>
              </a:ext>
            </a:extLst>
          </p:cNvPr>
          <p:cNvSpPr>
            <a:spLocks noGrp="1"/>
          </p:cNvSpPr>
          <p:nvPr/>
        </p:nvSpPr>
        <p:spPr>
          <a:xfrm>
            <a:off x="4505325" y="4324350"/>
            <a:ext cx="38100" cy="3619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FE48D12-931C-43DE-B82A-76597F7DA1DD}"/>
              </a:ext>
            </a:extLst>
          </p:cNvPr>
          <p:cNvSpPr>
            <a:spLocks noGrp="1"/>
          </p:cNvSpPr>
          <p:nvPr/>
        </p:nvSpPr>
        <p:spPr>
          <a:xfrm>
            <a:off x="4352925" y="44196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2049536-E72F-4BE8-9868-D4E451B45DCB}"/>
              </a:ext>
            </a:extLst>
          </p:cNvPr>
          <p:cNvSpPr>
            <a:spLocks noGrp="1"/>
          </p:cNvSpPr>
          <p:nvPr/>
        </p:nvSpPr>
        <p:spPr>
          <a:xfrm>
            <a:off x="5619750" y="4943475"/>
            <a:ext cx="857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A967CDE-894E-4319-8BC8-F6D23A349074}"/>
              </a:ext>
            </a:extLst>
          </p:cNvPr>
          <p:cNvSpPr>
            <a:spLocks noGrp="1"/>
          </p:cNvSpPr>
          <p:nvPr/>
        </p:nvSpPr>
        <p:spPr>
          <a:xfrm>
            <a:off x="6267450" y="47720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84439C2-AC1D-4CB7-A8F6-39D2D3583D8D}"/>
              </a:ext>
            </a:extLst>
          </p:cNvPr>
          <p:cNvSpPr>
            <a:spLocks noGrp="1"/>
          </p:cNvSpPr>
          <p:nvPr/>
        </p:nvSpPr>
        <p:spPr>
          <a:xfrm>
            <a:off x="92392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升级策略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CD81AA0-8D14-4C78-90DC-381E8D18EE14}"/>
              </a:ext>
            </a:extLst>
          </p:cNvPr>
          <p:cNvSpPr>
            <a:spLocks noGrp="1"/>
          </p:cNvSpPr>
          <p:nvPr/>
        </p:nvSpPr>
        <p:spPr>
          <a:xfrm>
            <a:off x="92392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52F6315-CFC1-47D0-AD88-DDFF5D2D6E9D}"/>
              </a:ext>
            </a:extLst>
          </p:cNvPr>
          <p:cNvSpPr>
            <a:spLocks noGrp="1"/>
          </p:cNvSpPr>
          <p:nvPr/>
        </p:nvSpPr>
        <p:spPr>
          <a:xfrm>
            <a:off x="9448800" y="22479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支持云端OTA与本地SD卡OTA两条路径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092B20BF-8D58-4DAF-9BF3-88A4FB28FF20}"/>
              </a:ext>
            </a:extLst>
          </p:cNvPr>
          <p:cNvSpPr>
            <a:spLocks noGrp="1"/>
          </p:cNvSpPr>
          <p:nvPr/>
        </p:nvSpPr>
        <p:spPr>
          <a:xfrm>
            <a:off x="9239250" y="29432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350A119-D175-4460-AD5B-F4D326A4010B}"/>
              </a:ext>
            </a:extLst>
          </p:cNvPr>
          <p:cNvSpPr>
            <a:spLocks noGrp="1"/>
          </p:cNvSpPr>
          <p:nvPr/>
        </p:nvSpPr>
        <p:spPr>
          <a:xfrm>
            <a:off x="9448800" y="28575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读取当前运行分区，写入备份分区并进行校验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59C8F48E-EF79-47AF-8989-7041E32F5271}"/>
              </a:ext>
            </a:extLst>
          </p:cNvPr>
          <p:cNvSpPr>
            <a:spLocks noGrp="1"/>
          </p:cNvSpPr>
          <p:nvPr/>
        </p:nvSpPr>
        <p:spPr>
          <a:xfrm>
            <a:off x="9239250" y="3552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89D5D19-2133-425B-819A-2373D8733A00}"/>
              </a:ext>
            </a:extLst>
          </p:cNvPr>
          <p:cNvSpPr>
            <a:spLocks noGrp="1"/>
          </p:cNvSpPr>
          <p:nvPr/>
        </p:nvSpPr>
        <p:spPr>
          <a:xfrm>
            <a:off x="9448800" y="34671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升级完成后重启或点击跳转按钮进入新固件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0C888A39-4570-459B-BE91-865C96CDAACC}"/>
              </a:ext>
            </a:extLst>
          </p:cNvPr>
          <p:cNvSpPr>
            <a:spLocks noGrp="1"/>
          </p:cNvSpPr>
          <p:nvPr/>
        </p:nvSpPr>
        <p:spPr>
          <a:xfrm>
            <a:off x="9239250" y="41624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9A249CB-2EC3-4E72-8DF8-4AC4E3FB80A5}"/>
              </a:ext>
            </a:extLst>
          </p:cNvPr>
          <p:cNvSpPr>
            <a:spLocks noGrp="1"/>
          </p:cNvSpPr>
          <p:nvPr/>
        </p:nvSpPr>
        <p:spPr>
          <a:xfrm>
            <a:off x="9448800" y="4076700"/>
            <a:ext cx="20764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若新固件启动异常，则回滚到上一可用分区</a:t>
            </a:r>
          </a:p>
        </p:txBody>
      </p:sp>
    </p:spTree>
    <p:extLst>
      <p:ext uri="{BB962C8B-B14F-4D97-AF65-F5344CB8AC3E}">
        <p14:creationId xmlns:p14="http://schemas.microsoft.com/office/powerpoint/2010/main" val="148947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8CABB3FE-9104-45D5-99C1-077D56001D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3022C02-6E66-4139-B001-9B7A19E36863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EC7B69F-6F21-449A-92B3-F6556DA5166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438791-C181-4F9D-A768-EAE5A6DBA59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3DE64B-87EE-4752-BB56-08E04548752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1DE380-7016-4ADC-BDDB-89858B310C92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7B7098-CEE9-4199-B550-F364D718BA0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5728AB-988E-41C3-8391-5B9EA0C9B56C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FF75A0-F02E-4DF0-8DB7-17AF412ECB0D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B75C60-4F97-494D-BC3E-7C2E1D83F9F4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38548C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3F4DDA-121D-48F8-A52B-5DB0F1289E51}"/>
              </a:ext>
            </a:extLst>
          </p:cNvPr>
          <p:cNvSpPr>
            <a:spLocks noGrp="1"/>
          </p:cNvSpPr>
          <p:nvPr/>
        </p:nvSpPr>
        <p:spPr>
          <a:xfrm>
            <a:off x="1047750" y="18383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系统正常运行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记录最后操作时间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217C26-39B9-4D9A-8EB5-6108C9DFBEDE}"/>
              </a:ext>
            </a:extLst>
          </p:cNvPr>
          <p:cNvSpPr>
            <a:spLocks noGrp="1"/>
          </p:cNvSpPr>
          <p:nvPr/>
        </p:nvSpPr>
        <p:spPr>
          <a:xfrm>
            <a:off x="3924300" y="1733550"/>
            <a:ext cx="2190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2A7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D1E371-2140-4354-83A3-8F7DBE486869}"/>
              </a:ext>
            </a:extLst>
          </p:cNvPr>
          <p:cNvSpPr>
            <a:spLocks noGrp="1"/>
          </p:cNvSpPr>
          <p:nvPr/>
        </p:nvSpPr>
        <p:spPr>
          <a:xfrm>
            <a:off x="4019550" y="1838325"/>
            <a:ext cx="2000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周期检测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空闲与长按状态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5DC8E1-F504-4C16-8760-B8FD8453B91B}"/>
              </a:ext>
            </a:extLst>
          </p:cNvPr>
          <p:cNvSpPr>
            <a:spLocks noGrp="1"/>
          </p:cNvSpPr>
          <p:nvPr/>
        </p:nvSpPr>
        <p:spPr>
          <a:xfrm>
            <a:off x="3143250" y="2009775"/>
            <a:ext cx="7810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C075E4-C6A7-4207-B5C3-B3F30F264146}"/>
              </a:ext>
            </a:extLst>
          </p:cNvPr>
          <p:cNvSpPr>
            <a:spLocks noGrp="1"/>
          </p:cNvSpPr>
          <p:nvPr/>
        </p:nvSpPr>
        <p:spPr>
          <a:xfrm>
            <a:off x="3714750" y="1838325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1FFC99-ADDB-4721-98A2-850592D8DD61}"/>
              </a:ext>
            </a:extLst>
          </p:cNvPr>
          <p:cNvSpPr>
            <a:spLocks noGrp="1"/>
          </p:cNvSpPr>
          <p:nvPr/>
        </p:nvSpPr>
        <p:spPr>
          <a:xfrm>
            <a:off x="1504950" y="3314700"/>
            <a:ext cx="2381250" cy="800100"/>
          </a:xfrm>
          <a:prstGeom prst="rect">
            <a:avLst/>
          </a:prstGeom>
          <a:solidFill>
            <a:srgbClr val="F3F8FD"/>
          </a:solidFill>
          <a:ln w="12383">
            <a:solidFill>
              <a:srgbClr val="20A66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910421-B73C-4766-8D29-4EE488C1136A}"/>
              </a:ext>
            </a:extLst>
          </p:cNvPr>
          <p:cNvSpPr>
            <a:spLocks noGrp="1"/>
          </p:cNvSpPr>
          <p:nvPr/>
        </p:nvSpPr>
        <p:spPr>
          <a:xfrm>
            <a:off x="1581150" y="3409950"/>
            <a:ext cx="22288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约120秒无操作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进入LightSleep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399585-0773-4A74-B26C-860A2254041C}"/>
              </a:ext>
            </a:extLst>
          </p:cNvPr>
          <p:cNvSpPr>
            <a:spLocks noGrp="1"/>
          </p:cNvSpPr>
          <p:nvPr/>
        </p:nvSpPr>
        <p:spPr>
          <a:xfrm>
            <a:off x="5657850" y="3314700"/>
            <a:ext cx="2381250" cy="800100"/>
          </a:xfrm>
          <a:prstGeom prst="rect">
            <a:avLst/>
          </a:prstGeom>
          <a:solidFill>
            <a:srgbClr val="F3F8FD"/>
          </a:solidFill>
          <a:ln w="12383">
            <a:solidFill>
              <a:srgbClr val="F2A21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3FE3BB-8B24-4E59-A6EA-A4ADF50939B7}"/>
              </a:ext>
            </a:extLst>
          </p:cNvPr>
          <p:cNvSpPr>
            <a:spLocks noGrp="1"/>
          </p:cNvSpPr>
          <p:nvPr/>
        </p:nvSpPr>
        <p:spPr>
          <a:xfrm>
            <a:off x="5734050" y="3409950"/>
            <a:ext cx="22288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长按确认键约3秒</a:t>
            </a:r>
          </a:p>
          <a:p>
            <a:pPr algn="ctr">
              <a:def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进入DeepSleep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09D603-935A-472B-AFBC-45C3C1B43BD4}"/>
              </a:ext>
            </a:extLst>
          </p:cNvPr>
          <p:cNvSpPr>
            <a:spLocks noGrp="1"/>
          </p:cNvSpPr>
          <p:nvPr/>
        </p:nvSpPr>
        <p:spPr>
          <a:xfrm>
            <a:off x="5000625" y="2324100"/>
            <a:ext cx="38100" cy="5334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19A8BF-77CC-4597-AB1E-01775F3CB2F3}"/>
              </a:ext>
            </a:extLst>
          </p:cNvPr>
          <p:cNvSpPr>
            <a:spLocks noGrp="1"/>
          </p:cNvSpPr>
          <p:nvPr/>
        </p:nvSpPr>
        <p:spPr>
          <a:xfrm>
            <a:off x="4848225" y="25908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1B6E3B-82BC-462C-86B8-59D7E612A9DE}"/>
              </a:ext>
            </a:extLst>
          </p:cNvPr>
          <p:cNvSpPr>
            <a:spLocks noGrp="1"/>
          </p:cNvSpPr>
          <p:nvPr/>
        </p:nvSpPr>
        <p:spPr>
          <a:xfrm>
            <a:off x="5133975" y="24384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判断触发条件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50B38BD-51A3-466B-B12C-AF1C6FB739B1}"/>
              </a:ext>
            </a:extLst>
          </p:cNvPr>
          <p:cNvSpPr>
            <a:spLocks noGrp="1"/>
          </p:cNvSpPr>
          <p:nvPr/>
        </p:nvSpPr>
        <p:spPr>
          <a:xfrm>
            <a:off x="2695575" y="2857500"/>
            <a:ext cx="4152900" cy="28575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998A69-DE88-4ECF-9AAE-50A3EE974CE1}"/>
              </a:ext>
            </a:extLst>
          </p:cNvPr>
          <p:cNvSpPr>
            <a:spLocks noGrp="1"/>
          </p:cNvSpPr>
          <p:nvPr/>
        </p:nvSpPr>
        <p:spPr>
          <a:xfrm>
            <a:off x="2676525" y="2857500"/>
            <a:ext cx="38100" cy="457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626D248-5271-40E6-A36A-B3AE4DA340AA}"/>
              </a:ext>
            </a:extLst>
          </p:cNvPr>
          <p:cNvSpPr>
            <a:spLocks noGrp="1"/>
          </p:cNvSpPr>
          <p:nvPr/>
        </p:nvSpPr>
        <p:spPr>
          <a:xfrm>
            <a:off x="2524125" y="30480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7480A3-AE36-4059-813F-ACBCBB84DF17}"/>
              </a:ext>
            </a:extLst>
          </p:cNvPr>
          <p:cNvSpPr>
            <a:spLocks noGrp="1"/>
          </p:cNvSpPr>
          <p:nvPr/>
        </p:nvSpPr>
        <p:spPr>
          <a:xfrm>
            <a:off x="6829425" y="2857500"/>
            <a:ext cx="38100" cy="457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D9CE3B-7E19-4D2C-ACFB-8406E8B9BE09}"/>
              </a:ext>
            </a:extLst>
          </p:cNvPr>
          <p:cNvSpPr>
            <a:spLocks noGrp="1"/>
          </p:cNvSpPr>
          <p:nvPr/>
        </p:nvSpPr>
        <p:spPr>
          <a:xfrm>
            <a:off x="6677025" y="304800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599C95-9E23-43D2-8964-44D5C1DDD246}"/>
              </a:ext>
            </a:extLst>
          </p:cNvPr>
          <p:cNvSpPr>
            <a:spLocks noGrp="1"/>
          </p:cNvSpPr>
          <p:nvPr/>
        </p:nvSpPr>
        <p:spPr>
          <a:xfrm>
            <a:off x="1504950" y="4895850"/>
            <a:ext cx="2381250" cy="552450"/>
          </a:xfrm>
          <a:prstGeom prst="rect">
            <a:avLst/>
          </a:prstGeom>
          <a:solidFill>
            <a:srgbClr val="F0FBF5"/>
          </a:solidFill>
          <a:ln w="14288">
            <a:solidFill>
              <a:srgbClr val="20A66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8EB019A-1B66-4F15-9C81-76C6CA486F28}"/>
              </a:ext>
            </a:extLst>
          </p:cNvPr>
          <p:cNvSpPr>
            <a:spLocks noGrp="1"/>
          </p:cNvSpPr>
          <p:nvPr/>
        </p:nvSpPr>
        <p:spPr>
          <a:xfrm>
            <a:off x="1600200" y="5000625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触摸/按键唤醒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快速恢复界面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803E95-A56D-4B78-9CBF-F37E95EB5363}"/>
              </a:ext>
            </a:extLst>
          </p:cNvPr>
          <p:cNvSpPr>
            <a:spLocks noGrp="1"/>
          </p:cNvSpPr>
          <p:nvPr/>
        </p:nvSpPr>
        <p:spPr>
          <a:xfrm>
            <a:off x="5657850" y="4895850"/>
            <a:ext cx="2381250" cy="552450"/>
          </a:xfrm>
          <a:prstGeom prst="rect">
            <a:avLst/>
          </a:prstGeom>
          <a:solidFill>
            <a:srgbClr val="FFF7EA"/>
          </a:solidFill>
          <a:ln w="14288">
            <a:solidFill>
              <a:srgbClr val="F2A21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82D0D6-EBB6-46A5-BFEC-171F80E64898}"/>
              </a:ext>
            </a:extLst>
          </p:cNvPr>
          <p:cNvSpPr>
            <a:spLocks noGrp="1"/>
          </p:cNvSpPr>
          <p:nvPr/>
        </p:nvSpPr>
        <p:spPr>
          <a:xfrm>
            <a:off x="5753100" y="5000625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实体键唤醒</a:t>
            </a:r>
          </a:p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重新启动系统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3E6EA7-AF12-4944-8C8A-25B1E4F2FF11}"/>
              </a:ext>
            </a:extLst>
          </p:cNvPr>
          <p:cNvSpPr>
            <a:spLocks noGrp="1"/>
          </p:cNvSpPr>
          <p:nvPr/>
        </p:nvSpPr>
        <p:spPr>
          <a:xfrm>
            <a:off x="2676525" y="4114800"/>
            <a:ext cx="38100" cy="781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49156D-EBBD-4A6F-AE16-3550EB94E162}"/>
              </a:ext>
            </a:extLst>
          </p:cNvPr>
          <p:cNvSpPr>
            <a:spLocks noGrp="1"/>
          </p:cNvSpPr>
          <p:nvPr/>
        </p:nvSpPr>
        <p:spPr>
          <a:xfrm>
            <a:off x="2524125" y="46291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3E8CE43-97F5-427F-8298-55951273CC89}"/>
              </a:ext>
            </a:extLst>
          </p:cNvPr>
          <p:cNvSpPr>
            <a:spLocks noGrp="1"/>
          </p:cNvSpPr>
          <p:nvPr/>
        </p:nvSpPr>
        <p:spPr>
          <a:xfrm>
            <a:off x="6829425" y="4114800"/>
            <a:ext cx="38100" cy="7810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979811B-FCFD-4C6C-B04A-D2E5738D1189}"/>
              </a:ext>
            </a:extLst>
          </p:cNvPr>
          <p:cNvSpPr>
            <a:spLocks noGrp="1"/>
          </p:cNvSpPr>
          <p:nvPr/>
        </p:nvSpPr>
        <p:spPr>
          <a:xfrm>
            <a:off x="6677025" y="46291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94D9C80-3651-4DF6-BE4A-BCC4B1FEB7C4}"/>
              </a:ext>
            </a:extLst>
          </p:cNvPr>
          <p:cNvSpPr>
            <a:spLocks noGrp="1"/>
          </p:cNvSpPr>
          <p:nvPr/>
        </p:nvSpPr>
        <p:spPr>
          <a:xfrm>
            <a:off x="92392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193EAAD-F77F-4101-85FA-45F88AC2C852}"/>
              </a:ext>
            </a:extLst>
          </p:cNvPr>
          <p:cNvSpPr>
            <a:spLocks noGrp="1"/>
          </p:cNvSpPr>
          <p:nvPr/>
        </p:nvSpPr>
        <p:spPr>
          <a:xfrm>
            <a:off x="9239250" y="2409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808C29E-5B11-43D5-822D-6609B828882F}"/>
              </a:ext>
            </a:extLst>
          </p:cNvPr>
          <p:cNvSpPr>
            <a:spLocks noGrp="1"/>
          </p:cNvSpPr>
          <p:nvPr/>
        </p:nvSpPr>
        <p:spPr>
          <a:xfrm>
            <a:off x="9448800" y="232410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120秒无操作：进入轻休眠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BE6D565-6DDE-421A-AD70-B72F874DFF63}"/>
              </a:ext>
            </a:extLst>
          </p:cNvPr>
          <p:cNvSpPr>
            <a:spLocks noGrp="1"/>
          </p:cNvSpPr>
          <p:nvPr/>
        </p:nvSpPr>
        <p:spPr>
          <a:xfrm>
            <a:off x="9239250" y="32289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61F1B07-427F-46EB-9C23-9D416386D429}"/>
              </a:ext>
            </a:extLst>
          </p:cNvPr>
          <p:cNvSpPr>
            <a:spLocks noGrp="1"/>
          </p:cNvSpPr>
          <p:nvPr/>
        </p:nvSpPr>
        <p:spPr>
          <a:xfrm>
            <a:off x="9448800" y="314325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长按确认键3秒：进入深休眠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2BF263D-3E58-4C2F-849E-95BA2AD80362}"/>
              </a:ext>
            </a:extLst>
          </p:cNvPr>
          <p:cNvSpPr>
            <a:spLocks noGrp="1"/>
          </p:cNvSpPr>
          <p:nvPr/>
        </p:nvSpPr>
        <p:spPr>
          <a:xfrm>
            <a:off x="9239250" y="4048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D940E87-A005-430D-A057-60B4059D6A03}"/>
              </a:ext>
            </a:extLst>
          </p:cNvPr>
          <p:cNvSpPr>
            <a:spLocks noGrp="1"/>
          </p:cNvSpPr>
          <p:nvPr/>
        </p:nvSpPr>
        <p:spPr>
          <a:xfrm>
            <a:off x="9448800" y="3962400"/>
            <a:ext cx="20764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轻休眠快醒，深休眠防误触</a:t>
            </a:r>
          </a:p>
        </p:txBody>
      </p:sp>
    </p:spTree>
    <p:extLst>
      <p:ext uri="{BB962C8B-B14F-4D97-AF65-F5344CB8AC3E}">
        <p14:creationId xmlns:p14="http://schemas.microsoft.com/office/powerpoint/2010/main" val="1314889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E87324E8-1197-4722-9870-C0DFBC0123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7AD831B-CCEE-4430-A1F7-98C3C163EAE1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FFB7A1F-780B-4F37-A4C7-D472E3DBD5B9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BBC36E-0A76-480D-8CE5-5EA0AB4321E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38719D-8564-4299-B3BB-3AA70749607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6F62DE-7378-45EB-9ACC-78ECF92FBBFB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E9D623-111A-4983-98E7-489454893BAF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005D2C-86D6-4967-9AFF-40AD9605255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功能测试结果：核心业务基本闭环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43A22B-446B-4EA5-8CAE-7F5ADEBB863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070EB0-06AF-449F-88ED-BB55E0996BE7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D224B7-BD4E-4D6A-A0DE-4530AE83104A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2DBD38-4499-480A-857F-5E3220BE4E3D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55676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B812A-8AEA-49D7-8CDA-96509E48CB56}"/>
              </a:ext>
            </a:extLst>
          </p:cNvPr>
          <p:cNvSpPr>
            <a:spLocks noGrp="1"/>
          </p:cNvSpPr>
          <p:nvPr/>
        </p:nvSpPr>
        <p:spPr>
          <a:xfrm>
            <a:off x="7848600" y="16954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69EE7C-81DB-4FD4-BC6D-FE8E01902CB2}"/>
              </a:ext>
            </a:extLst>
          </p:cNvPr>
          <p:cNvSpPr>
            <a:spLocks noGrp="1"/>
          </p:cNvSpPr>
          <p:nvPr/>
        </p:nvSpPr>
        <p:spPr>
          <a:xfrm>
            <a:off x="8839200" y="16668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表盘、主菜单、快捷面板切换正常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3FC4CC-218E-423C-A618-D52D0E8FC2EC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57EAAC-1C9B-458C-8558-3337DD2A3AD2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0E74E4-573C-4F7B-B7E8-BC91A9B1C7E7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160520" cy="2286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3681E4-B4BC-4EC0-B9F0-D8B0CCCF2C81}"/>
              </a:ext>
            </a:extLst>
          </p:cNvPr>
          <p:cNvSpPr>
            <a:spLocks noGrp="1"/>
          </p:cNvSpPr>
          <p:nvPr/>
        </p:nvSpPr>
        <p:spPr>
          <a:xfrm>
            <a:off x="7848600" y="24193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0D0E97-8F32-4CE4-BC04-0E3FD30CA299}"/>
              </a:ext>
            </a:extLst>
          </p:cNvPr>
          <p:cNvSpPr>
            <a:spLocks noGrp="1"/>
          </p:cNvSpPr>
          <p:nvPr/>
        </p:nvSpPr>
        <p:spPr>
          <a:xfrm>
            <a:off x="8839200" y="23907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支持SD卡图片浏览与壁纸更换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0D5D97-602E-4362-B4AA-4FF1126B1722}"/>
              </a:ext>
            </a:extLst>
          </p:cNvPr>
          <p:cNvSpPr>
            <a:spLocks noGrp="1"/>
          </p:cNvSpPr>
          <p:nvPr/>
        </p:nvSpPr>
        <p:spPr>
          <a:xfrm>
            <a:off x="1123950" y="3162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DC6707-60E3-4C60-A4CC-6EC12A7F0479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048571-6AF0-4A5C-AE74-E79A832F0A3F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061460" cy="2286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6EAA09-A624-45BF-A628-D6E4CB992952}"/>
              </a:ext>
            </a:extLst>
          </p:cNvPr>
          <p:cNvSpPr>
            <a:spLocks noGrp="1"/>
          </p:cNvSpPr>
          <p:nvPr/>
        </p:nvSpPr>
        <p:spPr>
          <a:xfrm>
            <a:off x="7848600" y="31432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873F6A-316C-4616-B239-735134CDD814}"/>
              </a:ext>
            </a:extLst>
          </p:cNvPr>
          <p:cNvSpPr>
            <a:spLocks noGrp="1"/>
          </p:cNvSpPr>
          <p:nvPr/>
        </p:nvSpPr>
        <p:spPr>
          <a:xfrm>
            <a:off x="8839200" y="31146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MJPEG可连续播放，高负载下偶发掉帧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F6EDEE-2ED7-4E22-BFC0-D7639750AF43}"/>
              </a:ext>
            </a:extLst>
          </p:cNvPr>
          <p:cNvSpPr>
            <a:spLocks noGrp="1"/>
          </p:cNvSpPr>
          <p:nvPr/>
        </p:nvSpPr>
        <p:spPr>
          <a:xfrm>
            <a:off x="1123950" y="38862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16ECFC-C0B0-4CD5-A70D-A151BD556888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5F5D1B-AFBA-470B-812A-8C9840F88302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65582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509C9D-9FD7-44EE-A2CC-22A29B6EC19A}"/>
              </a:ext>
            </a:extLst>
          </p:cNvPr>
          <p:cNvSpPr>
            <a:spLocks noGrp="1"/>
          </p:cNvSpPr>
          <p:nvPr/>
        </p:nvSpPr>
        <p:spPr>
          <a:xfrm>
            <a:off x="7848600" y="38671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14F315-95BB-4E9F-AD35-E4F1F9A299F1}"/>
              </a:ext>
            </a:extLst>
          </p:cNvPr>
          <p:cNvSpPr>
            <a:spLocks noGrp="1"/>
          </p:cNvSpPr>
          <p:nvPr/>
        </p:nvSpPr>
        <p:spPr>
          <a:xfrm>
            <a:off x="8839200" y="38385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TXT分页读取，支持断点续读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28D00F-FCD8-450F-A3E2-35CE904A1A9C}"/>
              </a:ext>
            </a:extLst>
          </p:cNvPr>
          <p:cNvSpPr>
            <a:spLocks noGrp="1"/>
          </p:cNvSpPr>
          <p:nvPr/>
        </p:nvSpPr>
        <p:spPr>
          <a:xfrm>
            <a:off x="1123950" y="4610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A9B218-1BC9-4027-838C-345062696389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CE05CD-8F85-48BD-A49C-3660CB7E722D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457700" cy="2286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D5B47AF-96E9-42F0-8907-2336065FCBAA}"/>
              </a:ext>
            </a:extLst>
          </p:cNvPr>
          <p:cNvSpPr>
            <a:spLocks noGrp="1"/>
          </p:cNvSpPr>
          <p:nvPr/>
        </p:nvSpPr>
        <p:spPr>
          <a:xfrm>
            <a:off x="7848600" y="45910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D29824-4B3B-4924-A562-E3DE6347B963}"/>
              </a:ext>
            </a:extLst>
          </p:cNvPr>
          <p:cNvSpPr>
            <a:spLocks noGrp="1"/>
          </p:cNvSpPr>
          <p:nvPr/>
        </p:nvSpPr>
        <p:spPr>
          <a:xfrm>
            <a:off x="8839200" y="45624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WiFi、天气、NTP、OTA流程验证通过</a:t>
            </a:r>
          </a:p>
        </p:txBody>
      </p:sp>
    </p:spTree>
    <p:extLst>
      <p:ext uri="{BB962C8B-B14F-4D97-AF65-F5344CB8AC3E}">
        <p14:creationId xmlns:p14="http://schemas.microsoft.com/office/powerpoint/2010/main" val="931903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472A37B-C28A-4113-A6EE-1852665A52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0CC046-ECAE-4E47-AFD7-9EBDB0F12A16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649F1A2-0646-4210-BED5-ED5CF8EF5320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32AB6E-DBF4-4837-B93A-AA7DD7A7FC4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43964C-95DE-4857-9C1B-ABE42F129B2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A173AA-3B9B-47DC-AE05-FFB6C615D9C6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21419F-B2FA-4BC4-91C0-61E770569DA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C93DB9-E71C-49E1-B11E-E382EBD1087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功耗测试：工作状态电流趋势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84EE58-257A-4FAD-B926-91D643A82BA7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810275-CAC4-41DC-87FA-0A7960D67DE8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7810500" cy="409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1BD7AE-8D19-4866-B2B3-A09C66A4D54F}"/>
              </a:ext>
            </a:extLst>
          </p:cNvPr>
          <p:cNvSpPr>
            <a:spLocks noGrp="1"/>
          </p:cNvSpPr>
          <p:nvPr/>
        </p:nvSpPr>
        <p:spPr>
          <a:xfrm>
            <a:off x="8782050" y="16764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88A37F4-C384-47C9-AA71-7F511E3F7FCB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BF2CF1-5D32-438F-A3EB-0A71C3156036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满亮联网时电流最高，理论续航约1.9小时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C63A195-4DE0-4728-BCAD-27778CB98090}"/>
              </a:ext>
            </a:extLst>
          </p:cNvPr>
          <p:cNvSpPr>
            <a:spLocks noGrp="1"/>
          </p:cNvSpPr>
          <p:nvPr/>
        </p:nvSpPr>
        <p:spPr>
          <a:xfrm>
            <a:off x="8820150" y="31527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E26715-2AA5-4E5E-900E-8DADF1A16C69}"/>
              </a:ext>
            </a:extLst>
          </p:cNvPr>
          <p:cNvSpPr>
            <a:spLocks noGrp="1"/>
          </p:cNvSpPr>
          <p:nvPr/>
        </p:nvSpPr>
        <p:spPr>
          <a:xfrm>
            <a:off x="9029700" y="306705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正常模式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低亮度并关闭联网后，亮屏续航约7.7小时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DD20429-5F11-499B-B6DB-75324DD8EF91}"/>
              </a:ext>
            </a:extLst>
          </p:cNvPr>
          <p:cNvSpPr>
            <a:spLocks noGrp="1"/>
          </p:cNvSpPr>
          <p:nvPr/>
        </p:nvSpPr>
        <p:spPr>
          <a:xfrm>
            <a:off x="8820150" y="39719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28ABF1-EC43-4A3B-BE36-AA8A06A67ED0}"/>
              </a:ext>
            </a:extLst>
          </p:cNvPr>
          <p:cNvSpPr>
            <a:spLocks noGrp="1"/>
          </p:cNvSpPr>
          <p:nvPr/>
        </p:nvSpPr>
        <p:spPr>
          <a:xfrm>
            <a:off x="9029700" y="388620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</a:t>
            </a:r>
            <a:r>
              <a:rPr lang="en-US" altLang="zh-CN"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Sleep</a:t>
            </a:r>
            <a:r>
              <a:rPr lang="zh-CN" altLang="en-US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续航约</a:t>
            </a:r>
            <a:r>
              <a:rPr lang="en-US" altLang="zh-CN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56</a:t>
            </a:r>
            <a:r>
              <a:rPr lang="zh-CN" altLang="en-US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和深休眠</a:t>
            </a:r>
            <a:r>
              <a:rPr lang="en-US" altLang="zh-CN"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Deep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Sleep</a:t>
            </a: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续航约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75</a:t>
            </a: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适合待机存放</a:t>
            </a:r>
            <a:endParaRPr sz="1575" b="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7B95C6C-E60A-E1B8-AB2B-4295244F8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6" y="1510051"/>
            <a:ext cx="7837306" cy="409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05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2FDCEA1-93C3-4B9B-8C86-E65DCED28078}"/>
              </a:ext>
            </a:extLst>
          </p:cNvPr>
          <p:cNvSpPr>
            <a:spLocks noGrp="1"/>
          </p:cNvSpPr>
          <p:nvPr/>
        </p:nvSpPr>
        <p:spPr>
          <a:xfrm>
            <a:off x="1905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BEA643E-1063-4353-A46A-40ED3A45DEEA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583444B-9726-4520-924F-0500A415D70C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9C52DD-2018-44AC-946B-A1E46276912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47CEF6-1065-4558-9ADD-8FB3086DE97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61D346-4182-440E-AB51-83CF548F6299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FA68F6-3FBB-4064-9A06-BFF4586EAD3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891CBA-E6CF-4B3B-95AA-D12E30507ED1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不足分析与后续改进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B3EEA9-DDC1-4938-B870-D91BC9C3749C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8BA63B-FF69-4718-AFE7-46C634517F5F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26E136-C5C2-4E5A-89EA-7FE856C7CB63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5250" cy="12573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EF570F-6751-4A3C-AD1E-AB441B80AF89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显示同步与存储带宽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0E7849-9744-4AE7-9A0B-B7903BC08A00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高负载下仍会出现轻微撕裂、卡顿或掉帧</a:t>
            </a:r>
            <a:endParaRPr sz="1425" b="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440C25-1BF6-4245-864B-1D7CE6494DEC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C20F1D-D846-4425-9F3E-AC1FB70CBCE3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95250" cy="12573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93DC9C-D065-4302-AA0A-6EF770B4C19F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硬件电源与低功耗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44FA6C-A8D3-46AF-BF8E-20ACCA5EDD14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当前休眠电流仍处于毫安级；后续可加入负载开关或PMOS电源门控，在深休眠时切断屏幕、SD卡等非必要外设供电，只保留按键唤醒链路。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33C218-1F50-40E6-840F-88F1A6245689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04775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ABC715-894D-462B-888B-E801411ED93A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95250" cy="12573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C94CE6-4457-4212-8DCA-CC5BA533FF28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971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结构小型化</a:t>
            </a:r>
            <a:endParaRPr sz="1800" b="1" dirty="0">
              <a:solidFill>
                <a:srgbClr val="22A7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069CBA-5CBC-4570-BA29-70880EDB9B85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971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样机采用3D打印外壳，屏幕FPC与主板连接仍占用较多空间；后续可优化PCB外形、FPC座位置和堆叠结构，降低整机厚度并提升佩戴舒适度。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05BEA2-43DE-4995-A24A-2CCD54DCC09B}"/>
              </a:ext>
            </a:extLst>
          </p:cNvPr>
          <p:cNvSpPr>
            <a:spLocks noGrp="1"/>
          </p:cNvSpPr>
          <p:nvPr/>
        </p:nvSpPr>
        <p:spPr>
          <a:xfrm>
            <a:off x="2495550" y="541020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后续目标：更平滑显示、更低待机功耗、更小整机体积。</a:t>
            </a:r>
          </a:p>
        </p:txBody>
      </p:sp>
    </p:spTree>
    <p:extLst>
      <p:ext uri="{BB962C8B-B14F-4D97-AF65-F5344CB8AC3E}">
        <p14:creationId xmlns:p14="http://schemas.microsoft.com/office/powerpoint/2010/main" val="123309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77074855-B289-4D01-A46C-3A36EBB259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D333C26-6DC6-4408-AB40-9A98EC54DAE5}"/>
              </a:ext>
            </a:extLst>
          </p:cNvPr>
          <p:cNvSpPr>
            <a:spLocks noGrp="1"/>
          </p:cNvSpPr>
          <p:nvPr/>
        </p:nvSpPr>
        <p:spPr>
          <a:xfrm>
            <a:off x="-3143250" y="-2571750"/>
            <a:ext cx="4572000" cy="4572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E012B45-F1A0-43A5-92DB-BE08F1424E11}"/>
              </a:ext>
            </a:extLst>
          </p:cNvPr>
          <p:cNvSpPr>
            <a:spLocks noGrp="1"/>
          </p:cNvSpPr>
          <p:nvPr/>
        </p:nvSpPr>
        <p:spPr>
          <a:xfrm>
            <a:off x="-2667000" y="-2095500"/>
            <a:ext cx="3429000" cy="34290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388F0FF-8371-44A6-83E7-A97E5F09BE22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4953000" cy="4953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75F5C36-E4A8-4958-9822-CF3541A9F281}"/>
              </a:ext>
            </a:extLst>
          </p:cNvPr>
          <p:cNvSpPr>
            <a:spLocks noGrp="1"/>
          </p:cNvSpPr>
          <p:nvPr/>
        </p:nvSpPr>
        <p:spPr>
          <a:xfrm>
            <a:off x="9382125" y="5048250"/>
            <a:ext cx="2857500" cy="2857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A0F451-BF4C-4642-9885-6BF0C78FCD11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223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9D20BC-66D4-44AB-8858-CFC1C46CDB23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45A0BD-2DEA-4949-8AF3-D11DADF70738}"/>
              </a:ext>
            </a:extLst>
          </p:cNvPr>
          <p:cNvSpPr>
            <a:spLocks noGrp="1"/>
          </p:cNvSpPr>
          <p:nvPr/>
        </p:nvSpPr>
        <p:spPr>
          <a:xfrm>
            <a:off x="11239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8566D6-15EF-4103-AECF-D03A18718D30}"/>
              </a:ext>
            </a:extLst>
          </p:cNvPr>
          <p:cNvSpPr>
            <a:spLocks noGrp="1"/>
          </p:cNvSpPr>
          <p:nvPr/>
        </p:nvSpPr>
        <p:spPr>
          <a:xfrm>
            <a:off x="16764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2762F1-A714-4940-BDDF-8D9797A0EAE7}"/>
              </a:ext>
            </a:extLst>
          </p:cNvPr>
          <p:cNvSpPr>
            <a:spLocks noGrp="1"/>
          </p:cNvSpPr>
          <p:nvPr/>
        </p:nvSpPr>
        <p:spPr>
          <a:xfrm>
            <a:off x="22288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07773C-7DC8-4141-B9B0-1A29C8E9DE33}"/>
              </a:ext>
            </a:extLst>
          </p:cNvPr>
          <p:cNvSpPr>
            <a:spLocks noGrp="1"/>
          </p:cNvSpPr>
          <p:nvPr/>
        </p:nvSpPr>
        <p:spPr>
          <a:xfrm>
            <a:off x="27813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27C2CE-13AD-4BF3-B17D-B36D3545ED12}"/>
              </a:ext>
            </a:extLst>
          </p:cNvPr>
          <p:cNvSpPr>
            <a:spLocks noGrp="1"/>
          </p:cNvSpPr>
          <p:nvPr/>
        </p:nvSpPr>
        <p:spPr>
          <a:xfrm>
            <a:off x="33337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AC08FF-6090-4E6E-9743-200F85299F0F}"/>
              </a:ext>
            </a:extLst>
          </p:cNvPr>
          <p:cNvSpPr>
            <a:spLocks noGrp="1"/>
          </p:cNvSpPr>
          <p:nvPr/>
        </p:nvSpPr>
        <p:spPr>
          <a:xfrm>
            <a:off x="38862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0DBA7B-FD6D-4252-B9D2-FD095D62F7CA}"/>
              </a:ext>
            </a:extLst>
          </p:cNvPr>
          <p:cNvSpPr>
            <a:spLocks noGrp="1"/>
          </p:cNvSpPr>
          <p:nvPr/>
        </p:nvSpPr>
        <p:spPr>
          <a:xfrm>
            <a:off x="44386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B51050-4D27-4581-B2B8-CBFEFA5275D5}"/>
              </a:ext>
            </a:extLst>
          </p:cNvPr>
          <p:cNvSpPr>
            <a:spLocks noGrp="1"/>
          </p:cNvSpPr>
          <p:nvPr/>
        </p:nvSpPr>
        <p:spPr>
          <a:xfrm>
            <a:off x="49911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9640B5-A4A1-43F7-BF95-9028666C3DFC}"/>
              </a:ext>
            </a:extLst>
          </p:cNvPr>
          <p:cNvSpPr>
            <a:spLocks noGrp="1"/>
          </p:cNvSpPr>
          <p:nvPr/>
        </p:nvSpPr>
        <p:spPr>
          <a:xfrm>
            <a:off x="55435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2B4420-0CE6-4BC9-BA61-7CCC978DDA64}"/>
              </a:ext>
            </a:extLst>
          </p:cNvPr>
          <p:cNvSpPr>
            <a:spLocks noGrp="1"/>
          </p:cNvSpPr>
          <p:nvPr/>
        </p:nvSpPr>
        <p:spPr>
          <a:xfrm>
            <a:off x="60960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631779-5C35-4C6B-9CE2-9C5EB1F20C59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41B40C-5217-420E-9EA7-3C672791448D}"/>
              </a:ext>
            </a:extLst>
          </p:cNvPr>
          <p:cNvSpPr>
            <a:spLocks noGrp="1"/>
          </p:cNvSpPr>
          <p:nvPr/>
        </p:nvSpPr>
        <p:spPr>
          <a:xfrm>
            <a:off x="72009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F22C08-1C75-4E35-9E53-C387F75C6E6C}"/>
              </a:ext>
            </a:extLst>
          </p:cNvPr>
          <p:cNvSpPr>
            <a:spLocks noGrp="1"/>
          </p:cNvSpPr>
          <p:nvPr/>
        </p:nvSpPr>
        <p:spPr>
          <a:xfrm>
            <a:off x="77533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676DA0-875E-4E64-87C0-07ED012BCDD0}"/>
              </a:ext>
            </a:extLst>
          </p:cNvPr>
          <p:cNvSpPr>
            <a:spLocks noGrp="1"/>
          </p:cNvSpPr>
          <p:nvPr/>
        </p:nvSpPr>
        <p:spPr>
          <a:xfrm>
            <a:off x="83058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480385-9C1E-440C-9E1B-ADD2A08115A6}"/>
              </a:ext>
            </a:extLst>
          </p:cNvPr>
          <p:cNvSpPr>
            <a:spLocks noGrp="1"/>
          </p:cNvSpPr>
          <p:nvPr/>
        </p:nvSpPr>
        <p:spPr>
          <a:xfrm>
            <a:off x="88582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B0F7F1-DE4E-46C5-94B7-FCE46E59EB3E}"/>
              </a:ext>
            </a:extLst>
          </p:cNvPr>
          <p:cNvSpPr>
            <a:spLocks noGrp="1"/>
          </p:cNvSpPr>
          <p:nvPr/>
        </p:nvSpPr>
        <p:spPr>
          <a:xfrm>
            <a:off x="1504950" y="8001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B0388B-019C-4EEE-BE4E-D2DDCD9FAC81}"/>
              </a:ext>
            </a:extLst>
          </p:cNvPr>
          <p:cNvSpPr>
            <a:spLocks noGrp="1"/>
          </p:cNvSpPr>
          <p:nvPr/>
        </p:nvSpPr>
        <p:spPr>
          <a:xfrm>
            <a:off x="1543050" y="1524000"/>
            <a:ext cx="2857500" cy="47625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0F77AEB-06ED-4390-8C29-8ABC236C0689}"/>
              </a:ext>
            </a:extLst>
          </p:cNvPr>
          <p:cNvSpPr>
            <a:spLocks noGrp="1"/>
          </p:cNvSpPr>
          <p:nvPr/>
        </p:nvSpPr>
        <p:spPr>
          <a:xfrm>
            <a:off x="1123950" y="22383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1E2773-2C7E-45C5-A30C-F86CB5F394DE}"/>
              </a:ext>
            </a:extLst>
          </p:cNvPr>
          <p:cNvSpPr>
            <a:spLocks noGrp="1"/>
          </p:cNvSpPr>
          <p:nvPr/>
        </p:nvSpPr>
        <p:spPr>
          <a:xfrm>
            <a:off x="1409700" y="211455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完成ESP32-S3R8低功耗触控智能手表样机，实现显示触摸、SD存储、RTC守时、WiFi联网和双级休眠等硬件闭环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1B842FC-4955-44D9-B5C9-29C5C2BFB806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10B0D7-FED6-4F90-B4C5-2700C20AC3C9}"/>
              </a:ext>
            </a:extLst>
          </p:cNvPr>
          <p:cNvSpPr>
            <a:spLocks noGrp="1"/>
          </p:cNvSpPr>
          <p:nvPr/>
        </p:nvSpPr>
        <p:spPr>
          <a:xfrm>
            <a:off x="1409700" y="27432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软件采用FreeRTOS任务划分与异步消息队列，完成表盘、天气、NTP、图片</a:t>
            </a:r>
            <a:r>
              <a:rPr sz="1875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875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</a:t>
            </a:r>
            <a:r>
              <a:rPr sz="1875" b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875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小说、小游戏和OTA等功能</a:t>
            </a:r>
            <a:endParaRPr sz="1875" b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6CC58B4-1B59-465C-90A1-4FC567BC8E50}"/>
              </a:ext>
            </a:extLst>
          </p:cNvPr>
          <p:cNvSpPr>
            <a:spLocks noGrp="1"/>
          </p:cNvSpPr>
          <p:nvPr/>
        </p:nvSpPr>
        <p:spPr>
          <a:xfrm>
            <a:off x="1123950" y="34956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A59F78-9EE3-434B-8C06-2A11E4D11E88}"/>
              </a:ext>
            </a:extLst>
          </p:cNvPr>
          <p:cNvSpPr>
            <a:spLocks noGrp="1"/>
          </p:cNvSpPr>
          <p:nvPr/>
        </p:nvSpPr>
        <p:spPr>
          <a:xfrm>
            <a:off x="1409700" y="337185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测试表明常规触摸操作、页面切换、电子书断点续读、网络连接与固件维护功能均可稳定运行</a:t>
            </a:r>
            <a:endParaRPr sz="1875" b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DBF9C80-78D1-4851-A168-05FCF6D6C8DB}"/>
              </a:ext>
            </a:extLst>
          </p:cNvPr>
          <p:cNvSpPr>
            <a:spLocks noGrp="1"/>
          </p:cNvSpPr>
          <p:nvPr/>
        </p:nvSpPr>
        <p:spPr>
          <a:xfrm>
            <a:off x="1123950" y="412432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C00D39D-788D-48DD-8771-E02CA1438BB2}"/>
              </a:ext>
            </a:extLst>
          </p:cNvPr>
          <p:cNvSpPr>
            <a:spLocks noGrp="1"/>
          </p:cNvSpPr>
          <p:nvPr/>
        </p:nvSpPr>
        <p:spPr>
          <a:xfrm>
            <a:off x="1409700" y="40005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高分辨率图片翻页和MJPEG播放仍受显示同步、总线带宽与微控制器算力限制，是后续优化重点</a:t>
            </a:r>
            <a:endParaRPr sz="1875" b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D4B87C-CC31-4E7E-B4B9-7331D7E9F855}"/>
              </a:ext>
            </a:extLst>
          </p:cNvPr>
          <p:cNvSpPr>
            <a:spLocks noGrp="1"/>
          </p:cNvSpPr>
          <p:nvPr/>
        </p:nvSpPr>
        <p:spPr>
          <a:xfrm>
            <a:off x="1143000" y="5010150"/>
            <a:ext cx="7810500" cy="17145"/>
          </a:xfrm>
          <a:prstGeom prst="rect">
            <a:avLst/>
          </a:prstGeom>
          <a:solidFill>
            <a:srgbClr val="AAC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053ED6-FC32-4BD1-8F41-455E5CE63DD6}"/>
              </a:ext>
            </a:extLst>
          </p:cNvPr>
          <p:cNvSpPr>
            <a:spLocks noGrp="1"/>
          </p:cNvSpPr>
          <p:nvPr/>
        </p:nvSpPr>
        <p:spPr>
          <a:xfrm>
            <a:off x="1143000" y="52387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后续将围绕TE同步刷新、SDMMC存储带宽、外设电源门控和结构小型化继续改进，使系统更接近可长期佩戴的工程样机</a:t>
            </a:r>
            <a:r>
              <a:rPr sz="1800" b="0" dirty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23767ED-9202-4023-BB8E-3766C730898F}"/>
              </a:ext>
            </a:extLst>
          </p:cNvPr>
          <p:cNvSpPr>
            <a:spLocks noGrp="1"/>
          </p:cNvSpPr>
          <p:nvPr/>
        </p:nvSpPr>
        <p:spPr>
          <a:xfrm>
            <a:off x="7239000" y="6057900"/>
            <a:ext cx="361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7536240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910</Words>
  <Application>Microsoft Office PowerPoint</Application>
  <DocSecurity>0</DocSecurity>
  <PresentationFormat>宽屏</PresentationFormat>
  <Paragraphs>299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zd w</cp:lastModifiedBy>
  <cp:revision>5</cp:revision>
  <dcterms:created xsi:type="dcterms:W3CDTF">2026-05-27T18:48:14Z</dcterms:created>
  <dcterms:modified xsi:type="dcterms:W3CDTF">2026-05-28T13:31:56Z</dcterms:modified>
</cp:coreProperties>
</file>