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6b95498f54f1d" /><Relationship Type="http://schemas.openxmlformats.org/officeDocument/2006/relationships/extended-properties" Target="/docProps/app.xml" Id="R91ca1917b3014ec9" /><Relationship Type="http://schemas.openxmlformats.org/officeDocument/2006/relationships/officeDocument" Target="/ppt/presentation.xml" Id="R97f5cad8281349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a48f10797460e"/>
  </p:sldMasterIdLst>
  <p:notesMasterIdLst>
    <p:notesMasterId xmlns:r="http://schemas.openxmlformats.org/officeDocument/2006/relationships" r:id="R0577fb2d0fb54f5c"/>
  </p:notesMasterIdLst>
  <p:sldIdLst>
    <p:sldId xmlns:r="http://schemas.openxmlformats.org/officeDocument/2006/relationships" id="256" r:id="R4501bf274bd34c84"/>
    <p:sldId xmlns:r="http://schemas.openxmlformats.org/officeDocument/2006/relationships" id="257" r:id="R7fa3a6fda8444922"/>
    <p:sldId xmlns:r="http://schemas.openxmlformats.org/officeDocument/2006/relationships" id="258" r:id="R1ce5987e187e46e8"/>
    <p:sldId xmlns:r="http://schemas.openxmlformats.org/officeDocument/2006/relationships" id="259" r:id="R8f8363b3dd514cc4"/>
    <p:sldId xmlns:r="http://schemas.openxmlformats.org/officeDocument/2006/relationships" id="260" r:id="R06ca76f5d643454a"/>
    <p:sldId xmlns:r="http://schemas.openxmlformats.org/officeDocument/2006/relationships" id="261" r:id="R04d9de1a9a6d4388"/>
    <p:sldId xmlns:r="http://schemas.openxmlformats.org/officeDocument/2006/relationships" id="262" r:id="R0ef1ec790b9b414f"/>
    <p:sldId xmlns:r="http://schemas.openxmlformats.org/officeDocument/2006/relationships" id="263" r:id="R43861ea07a2d42a1"/>
    <p:sldId xmlns:r="http://schemas.openxmlformats.org/officeDocument/2006/relationships" id="264" r:id="R7c594f529a964396"/>
    <p:sldId xmlns:r="http://schemas.openxmlformats.org/officeDocument/2006/relationships" id="265" r:id="R059cc38616fb421f"/>
    <p:sldId xmlns:r="http://schemas.openxmlformats.org/officeDocument/2006/relationships" id="266" r:id="R06a707a77d2145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a48f10797460e" /><Relationship Type="http://schemas.openxmlformats.org/officeDocument/2006/relationships/theme" Target="/ppt/theme/theme1.xml" Id="Rd9987905187d49da" /><Relationship Type="http://schemas.openxmlformats.org/officeDocument/2006/relationships/notesMaster" Target="/ppt/notesMasters/notesMaster1.xml" Id="R0577fb2d0fb54f5c" /><Relationship Type="http://schemas.openxmlformats.org/officeDocument/2006/relationships/presProps" Target="/ppt/presProps.xml" Id="R951dec63d6004152" /><Relationship Type="http://schemas.openxmlformats.org/officeDocument/2006/relationships/viewProps" Target="/ppt/viewProps.xml" Id="R60a994c8a56d4b4d" /><Relationship Type="http://schemas.openxmlformats.org/officeDocument/2006/relationships/tableStyles" Target="/ppt/tableStyles.xml" Id="R1677763cae9a4dd0" /><Relationship Type="http://schemas.openxmlformats.org/officeDocument/2006/relationships/slide" Target="/ppt/slides/slide1.xml" Id="R4501bf274bd34c84" /><Relationship Type="http://schemas.openxmlformats.org/officeDocument/2006/relationships/slide" Target="/ppt/slides/slide2.xml" Id="R7fa3a6fda8444922" /><Relationship Type="http://schemas.openxmlformats.org/officeDocument/2006/relationships/slide" Target="/ppt/slides/slide3.xml" Id="R1ce5987e187e46e8" /><Relationship Type="http://schemas.openxmlformats.org/officeDocument/2006/relationships/slide" Target="/ppt/slides/slide4.xml" Id="R8f8363b3dd514cc4" /><Relationship Type="http://schemas.openxmlformats.org/officeDocument/2006/relationships/slide" Target="/ppt/slides/slide5.xml" Id="R06ca76f5d643454a" /><Relationship Type="http://schemas.openxmlformats.org/officeDocument/2006/relationships/slide" Target="/ppt/slides/slide6.xml" Id="R04d9de1a9a6d4388" /><Relationship Type="http://schemas.openxmlformats.org/officeDocument/2006/relationships/slide" Target="/ppt/slides/slide7.xml" Id="R0ef1ec790b9b414f" /><Relationship Type="http://schemas.openxmlformats.org/officeDocument/2006/relationships/slide" Target="/ppt/slides/slide8.xml" Id="R43861ea07a2d42a1" /><Relationship Type="http://schemas.openxmlformats.org/officeDocument/2006/relationships/slide" Target="/ppt/slides/slide9.xml" Id="R7c594f529a964396" /><Relationship Type="http://schemas.openxmlformats.org/officeDocument/2006/relationships/slide" Target="/ppt/slides/slide10.xml" Id="R059cc38616fb421f" /><Relationship Type="http://schemas.openxmlformats.org/officeDocument/2006/relationships/slide" Target="/ppt/slides/slide11.xml" Id="R06a707a77d2145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7a25eba8be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39fbabaf24060" /><Relationship Type="http://schemas.openxmlformats.org/officeDocument/2006/relationships/notesMaster" Target="/ppt/notesMasters/notesMaster1.xml" Id="R3f37880d4e3b42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36fe336c84121" /><Relationship Type="http://schemas.openxmlformats.org/officeDocument/2006/relationships/notesMaster" Target="/ppt/notesMasters/notesMaster1.xml" Id="R8244415f2c8142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099f2db8c4899" /><Relationship Type="http://schemas.openxmlformats.org/officeDocument/2006/relationships/notesMaster" Target="/ppt/notesMasters/notesMaster1.xml" Id="R79659875b9e54e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f88e571b74d13" /><Relationship Type="http://schemas.openxmlformats.org/officeDocument/2006/relationships/notesMaster" Target="/ppt/notesMasters/notesMaster1.xml" Id="R7c5eee29cc29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e73e11f01449b1" /><Relationship Type="http://schemas.openxmlformats.org/officeDocument/2006/relationships/notesMaster" Target="/ppt/notesMasters/notesMaster1.xml" Id="Ra830d4964d7a48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d139afb6848d3" /><Relationship Type="http://schemas.openxmlformats.org/officeDocument/2006/relationships/notesMaster" Target="/ppt/notesMasters/notesMaster1.xml" Id="Rf9f38d5a98c04f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f630a30d74d47" /><Relationship Type="http://schemas.openxmlformats.org/officeDocument/2006/relationships/notesMaster" Target="/ppt/notesMasters/notesMaster1.xml" Id="Re9623bc3eee649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23d366c42345b1" /><Relationship Type="http://schemas.openxmlformats.org/officeDocument/2006/relationships/notesMaster" Target="/ppt/notesMasters/notesMaster1.xml" Id="R3b487c0c406747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3a50400ce0410d" /><Relationship Type="http://schemas.openxmlformats.org/officeDocument/2006/relationships/notesMaster" Target="/ppt/notesMasters/notesMaster1.xml" Id="R96c9505d563e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2d241a4d754ea3" /><Relationship Type="http://schemas.openxmlformats.org/officeDocument/2006/relationships/notesMaster" Target="/ppt/notesMasters/notesMaster1.xml" Id="Ra926b1d04e5e42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683c18b7da43ea" /><Relationship Type="http://schemas.openxmlformats.org/officeDocument/2006/relationships/notesMaster" Target="/ppt/notesMasters/notesMaster1.xml" Id="Rc171fb50ed964b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8fa55bdb846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d4dc1aaa56b4d5a" /><Relationship Type="http://schemas.openxmlformats.org/officeDocument/2006/relationships/slideLayout" Target="/ppt/slideLayouts/slideLayout2.xml" Id="R234c1ee603b9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c1ee603b9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54aa4caf7463f" /><Relationship Type="http://schemas.openxmlformats.org/officeDocument/2006/relationships/notesSlide" Target="/ppt/notesSlides/notesSlide1.xml" Id="R7e4244d9adf2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cd3afa2d754a3e" /><Relationship Type="http://schemas.openxmlformats.org/officeDocument/2006/relationships/notesSlide" Target="/ppt/notesSlides/notesSlide2.xml" Id="R40662f1567324b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a0208e9ef4a76" /><Relationship Type="http://schemas.openxmlformats.org/officeDocument/2006/relationships/notesSlide" Target="/ppt/notesSlides/notesSlide3.xml" Id="R6be7816fbaa2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c0ef5874624d07" /><Relationship Type="http://schemas.openxmlformats.org/officeDocument/2006/relationships/notesSlide" Target="/ppt/notesSlides/notesSlide4.xml" Id="R104cfe06ce204d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aa59986c0493d" /><Relationship Type="http://schemas.openxmlformats.org/officeDocument/2006/relationships/notesSlide" Target="/ppt/notesSlides/notesSlide5.xml" Id="R43ce26c1338f40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295ab78b074870" /><Relationship Type="http://schemas.openxmlformats.org/officeDocument/2006/relationships/notesSlide" Target="/ppt/notesSlides/notesSlide6.xml" Id="Rc206558f428847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d1c213ed649b2" /><Relationship Type="http://schemas.openxmlformats.org/officeDocument/2006/relationships/notesSlide" Target="/ppt/notesSlides/notesSlide7.xml" Id="Rd1c8956d91c7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fe012d9364a9f" /><Relationship Type="http://schemas.openxmlformats.org/officeDocument/2006/relationships/notesSlide" Target="/ppt/notesSlides/notesSlide8.xml" Id="R8656d1781115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169b26af642ce" /><Relationship Type="http://schemas.openxmlformats.org/officeDocument/2006/relationships/notesSlide" Target="/ppt/notesSlides/notesSlide9.xml" Id="R201a1275cb2a4c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c2eedbff03453f" /><Relationship Type="http://schemas.openxmlformats.org/officeDocument/2006/relationships/notesSlide" Target="/ppt/notesSlides/notesSlide10.xml" Id="R15aea28536e3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2310439c74f3a" /><Relationship Type="http://schemas.openxmlformats.org/officeDocument/2006/relationships/notesSlide" Target="/ppt/notesSlides/notesSlide11.xml" Id="R749529e22f1743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D9412-8903-42A7-9004-6F31A81C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211C8-9FAE-43D3-8B94-EAF13C39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37C41-7F7D-469F-BE37-C71FD21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287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E49D2-66A8-4A7F-882A-6A07BE96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288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4A0F-E31D-4C47-908D-83DADBB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525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A0B53-C224-4D3F-8F1F-232FEB8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526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DFAAB-DD0E-49B3-B482-FEFD1883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764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9DF32-E4C6-4688-BE51-4177EFC0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59D39-2A2E-4A6C-934C-947A8D1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02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7C6E4-C40F-40F5-AB74-6093B34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02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90A6-FD94-4BB5-B15C-34C89A64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240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0F1CE-3935-4DDF-AFBC-E6C572C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241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6ED1A-ADE1-4CDD-98C0-8629035A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478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B8C54-D121-41B0-9C81-21D9F9C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154D3-C6F5-43B1-9204-BE1A0E3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C17FB-B0B5-42BD-BB9F-73AF8775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7E4F5-1B74-46EA-88BD-49D0D4AD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CCD89-4AA7-491E-9276-BE904494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955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BEB81-357C-49A3-8BFA-79F1248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2D2B1-F49D-42A8-B821-F5E2A03D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7F320-935F-4682-B463-8DCB4EA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431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C6BC5-BA1B-4C16-92F4-319DF421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432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FDB81-412B-4455-B3D4-9C8FB1F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F82465-99BE-42E8-AC43-9728B5D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B9C1B-BDC9-4DBA-9BD2-75F8C35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908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693C2-D06B-4937-B296-4097B24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48840-4076-4E48-BE93-797C637E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884F4-6464-4F34-9C88-3975F0A2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EEF57-775D-4BDD-AAF6-3ADF7A4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384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4D237-52E3-438A-819D-7A44639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385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C3643-5106-446C-8845-35886697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83D9DD-4761-4E1C-B329-4A03212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C303FA-12FC-4763-8910-C25DB3B2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AD33D-4F66-44F1-ADC3-FEE023C1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861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A3BA7-7144-4468-8844-204B181F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099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434FBD-8556-4D86-A2B5-2F4D6107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517052-5FF8-4ABA-A801-6550649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466A71-8813-47CF-86D5-4A8A1F29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338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00CD68-0B71-45F8-AC06-03795818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5760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02D0B-6C5F-4EDF-8312-D566702E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88F8EA-3EFF-4E06-ABC1-5B677C99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8142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9A8601-18B6-4C09-AEE4-0C1AF13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B08B44-1EE6-436B-A210-930290A2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785E29-84CD-4B66-96AB-11470A5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D5D885-37D7-4639-9A28-06B6ED4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29075"/>
            <a:ext cx="38862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732B97-977B-4618-B087-D26494E7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29125"/>
            <a:ext cx="2914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9BCD57-514D-4AEF-B3D6-CF7F987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09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4E4C3F-6C67-4C7C-9314-5C38AD43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5314F8-F9AD-48B7-8207-ACE2E436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1FB5E8-B386-4FB0-9A20-DDE016A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EA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EAF5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B5062A-8B1F-403A-A152-B328439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E4E14F-FFA4-47F1-B279-2D4FF73F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学生姓名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7A9CDE-BB4A-4710-BB62-275B2CF4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吴钟锭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03FE29-4B74-464E-9D73-0224CBCE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942E19-CBF3-446F-B5AD-08DA3138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342BDF-D36C-4C7A-A0F6-E22FCAE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91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乔美英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E0F26B-F385-44CE-85AC-6C823FF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53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7309DE-ADE0-40AD-9AA1-59A8BAD4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F4FA"/>
                </a:solidFill>
                <a:latin typeface="Microsoft YaHei"/>
                <a:ea typeface="Microsoft YaHei"/>
                <a:cs typeface="Microsoft YaHei"/>
              </a:rPr>
              <a:t>硬件驱动 · 图形交互 · 多媒体应用 · 云端协同 · 低功耗管理</a:t>
            </a:r>
          </a:p>
        </p:txBody>
      </p:sp>
    </p:spTree>
    <p:extLst>
      <p:ext uri="{BB962C8B-B14F-4D97-AF65-F5344CB8AC3E}">
        <p14:creationId xmlns:p14="http://schemas.microsoft.com/office/powerpoint/2010/main" val="15882407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1330D-3B80-43CF-BB50-6341AAC0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262D2-8735-40F6-AB6B-336E190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6F742-7D69-40D5-BEF4-37D012B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1F1F6-E68E-46FC-924A-1C84371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5946C-A5A4-476B-A1EE-129E52AC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C80D7-9543-4511-867A-29EB538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4778-20EB-4703-AF6D-F3E345B6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C16E6-FFF5-43A6-B5B5-D5B74F69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F31A1-40DB-495F-AAFD-68F6F2F8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E6DCE-D8B2-415F-B8D7-C11A604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06ED4-751D-46CE-92B8-1D700ABF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3E36F-B291-49FE-803A-6DFFD05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02817-106D-47EC-B6BF-D623ECB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9731D-C008-49A4-ABDA-0C9B116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2E2D8-0E72-4A6E-BCD2-1F77C419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B5FF5-72D3-4E39-803C-D0C57C2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1920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F2C48-A19B-43B4-AD01-FD3B764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4C22A-6351-4F0E-A309-26F60A6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8590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绪论：研究背景与意义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8D81A-EF00-4976-A23D-955B9A6F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BB29F-68E9-40FF-8560-0B65EFD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4478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57B10-A8F9-4398-A56E-63146FD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48590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总体需求与系统架构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C2E37-933D-4E22-AEB2-83134423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11A44-3127-46E2-93E8-74123E6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F7F30-2D81-4232-BD61-987819A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6700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1DDA1-28C1-4379-8FE2-E4451E7C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4333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01E53-4F31-47CD-8399-2FF57DE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289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6ECCB-22FC-4965-BAB8-A6C1E99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67000"/>
            <a:ext cx="2981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2A725-066D-4FE9-8127-9A7488A0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21908-87CA-4960-9A6C-62BBAFA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9CF42-0EB9-44E0-99E3-22915F38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48100"/>
            <a:ext cx="3409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系统调试与测试</a:t>
            </a:r>
          </a:p>
        </p:txBody>
      </p:sp>
    </p:spTree>
    <p:extLst>
      <p:ext uri="{BB962C8B-B14F-4D97-AF65-F5344CB8AC3E}">
        <p14:creationId xmlns:p14="http://schemas.microsoft.com/office/powerpoint/2010/main" val="485416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EAEEB-E9A7-4D16-989A-E9097E81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D1F06-8277-4FA1-A877-566D9C3D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D5463-8AB7-48D4-BB76-3846BF2E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CF5C2-7835-4A74-AC8D-76172F1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5C54-AFFB-4AC1-80D7-4A7D18F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A14CA-FA73-4872-95CE-0052F64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31656-53BA-49A7-815C-8845260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1FA3E-CCCE-4C26-B0EB-351BE318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34909-B043-4197-80B7-2DEBC66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9B194-8209-447E-9BC6-BE6F9FFF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2AE94-F5C6-4ABA-8EAD-73D8F3EF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2FA86-B1F8-4418-8A33-B4A6BDC4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56124-4236-451D-86D1-2A282F7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3D6D1-3E4E-4D89-A2CA-5A952C8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5385C-5F25-4BF5-851F-5D9116E2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87D64-74EF-4089-988C-AA76B368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绪论：研究背景与意义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9C4E6-5970-4DA0-8EBD-35A8672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67E83-BE6B-4479-83B0-A01258B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DA0D9-24B3-446C-91C8-CF0F1686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E3EA9-5282-4063-B97C-C1CE21C2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21FBE-F4B2-4B09-93B4-0F5AED74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743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物联网与微电子技术推动智能手表由计时工具发展为个人智能终端，可承担信息交互、健康监测、运动提醒和云端同步等任务。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EB59B-3CA4-4855-B477-41462B1B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60FE9-B9F4-48CA-8D3C-76BA533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D183D-3FCA-4D97-9CBA-09FDBA4B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现实问题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1E3C1-05FC-49DD-B628-D8AEBFE8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2743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低功耗手环算力有限，图形交互和多媒体能力不足；高端智能手表性能强但成本高、系统复杂，不利于低成本嵌入式方案落地。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E2CF1-31B9-47D5-B948-94C1CD1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143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607B9-0B5C-4151-887A-6426E4D1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5E89B-5B2A-48D6-9137-EE6F7E1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课题意义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78948-5046-46B3-A557-3A0FA15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743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基于ESP32-S3R8、FreeRTOS和LVGL实现低功耗触控手表原型，验证MCU平台在图形界面、多媒体、网络协同和OTA维护方面的可行性。</a:t>
            </a:r>
          </a:p>
        </p:txBody>
      </p:sp>
    </p:spTree>
    <p:extLst>
      <p:ext uri="{BB962C8B-B14F-4D97-AF65-F5344CB8AC3E}">
        <p14:creationId xmlns:p14="http://schemas.microsoft.com/office/powerpoint/2010/main" val="15579740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036405-9A54-4A51-8E3C-E90C1D6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6585-ED90-45CE-8109-5B5DC7EE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AE539-D05C-4D18-BEED-A987865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4F830-C0F1-481F-8740-E33E864A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2A476-AE17-4DC6-902E-ADCD2FC5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BDBB2-8159-4026-A290-0702DF39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F82C1-3E33-4E96-BE95-0E55C93D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319C9-0291-4515-8ADF-BDDED06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F6DFE-15DB-4CAB-9940-F977B91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44B39-1930-4316-973C-2CD28F3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7366C-01F3-469C-B882-DF5245C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64F6E-9C57-4ED2-B8EF-010B36CB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86A9E-26FD-4BFC-9F09-230642E1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A5442-D29B-4400-84EA-02A851EB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3AC5D-3F77-410C-A429-E5C011E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721D7-3828-46BC-96D8-7D1D881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总体需求：功能需求与性能指标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794BE-E749-47DF-9125-6DBF8CD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385A2-2ED1-4AC9-B0C5-6AE3593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功能需求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28A3A-62C6-449F-9749-E7A38AC5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820DD-7150-4BD3-9B2F-B6ADCA1A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2A004-2322-4CD2-8378-1252916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68EA0-E0EC-42BD-AD47-11AC729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RTC守时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NTP校时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天气获取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FE7B5-1A81-46D5-8079-F1B934A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D3AE1-879D-4AE5-AAFA-29A39267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B84E8-A522-43EC-8003-F84DEDA3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图形交互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D6180-37B7-4CB1-B26B-5E72A2D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LVGL界面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触控手势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全键盘输入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85D97-9F7A-465D-8AC5-5A82FF7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13694-15C6-4CDD-9B0C-FC0477E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E1190-9666-45B0-8266-A66F25B9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多媒体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AC8607-9D9A-4D15-AC69-ACB91EE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SD卡资源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图片/小说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MJPEG视频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72B24-AF44-4985-8C05-81F3C7B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CE7EC-6A7E-40ED-8CFA-6A70FCDD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AAEF8D-557D-406B-9E86-2409184E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云端协同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77E8E-E087-43AA-86BB-8598BDBD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WiFi管理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MQTT通信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OneNET 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06981-AA14-4700-AD9B-F897D225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88C156-1E0C-4FEE-A10D-0D4213C0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929D02-BF6C-4923-89D5-8A7C679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4312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系统维护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CA9479-80B1-4A04-A55B-77B29516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本地OTA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云端OTA</a:t>
            </a:r>
          </a:p>
          <a:p xmlns:a="http://schemas.openxmlformats.org/drawingml/2006/main">
            <a:pPr algn="ctr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07D475-A3D5-41AE-B89D-3773CB68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057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32BA20-70B2-4AB3-8303-40CA7C4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F52F20-A2D3-40F0-B9C3-E3B1CCC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504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CE1EF8-E646-4620-9DB5-457E7AFC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4FC62-33C6-4AC8-BAAB-4750D683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776A14-F9C7-439E-8331-B741947D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多帧缓冲与异步刷新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B94250-00F0-43A2-8BC7-95DA08EE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95750"/>
            <a:ext cx="1504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A76E12-30D2-4F4F-BE81-3640E60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100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0000DE-91F3-4365-B869-16746072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1A308A-3B3A-4F38-BE6A-2749780C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10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点击、滑动及时响应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CB200A-F38E-4A77-83FB-678A9C1C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1504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18E0A2-94CC-4FF0-862B-74AB86B2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120s / 3s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63CD7E-498F-41EF-8CDF-DC04926F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休眠触发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537454-CD03-4E4F-A3E5-20B5BA4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无操作轻休眠 / 长按深休眠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4F5F29-9149-4FD5-A3C8-CF9C860B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1504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55AB66-BA28-4DAF-998C-51A207E9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≥6次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B1B889-82B6-4693-AB00-76E4111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网络重连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43E012-FC21-44ED-B1C3-4812CB46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弱网断连后自动重试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077CBA-85E7-49E2-B5FC-29035CB6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504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34D3C5-EA56-47B9-8E5F-A4A4B15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备份分区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0CE4E0-BDC6-4859-85A4-5B0A657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OTA保护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0A03A5-D295-43FD-8BD0-2B6B971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10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写入非活动分区并校验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E6B202-2860-4678-99ED-33100F10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504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BF996C-A090-4997-87C9-E68042B7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100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  <a:p xmlns:a="http://schemas.openxmlformats.org/drawingml/2006/main">
            <a:pPr algn="ctr">
              <a:def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A9805D-0AC7-4D21-A964-FFA066AD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863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休眠电流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CC0808-5C85-41C5-858B-DCC4296E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10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LightSleep / DeepSleep测试值</a:t>
            </a:r>
          </a:p>
        </p:txBody>
      </p:sp>
    </p:spTree>
    <p:extLst>
      <p:ext uri="{BB962C8B-B14F-4D97-AF65-F5344CB8AC3E}">
        <p14:creationId xmlns:p14="http://schemas.microsoft.com/office/powerpoint/2010/main" val="858666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98730-7B8B-4E00-B72E-0828B499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54BD7-3420-4245-8AB8-7E52304B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51A95-94AC-4C38-ADD3-9A8A77AE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4E98D-605B-44D9-8A9B-C66624E5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58D3F-1118-46CA-9829-0437E79E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BB99B-FD5E-482C-AB29-B23B09C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C636-F4EC-4E83-9B1C-92BCE29B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7E055-ED4B-41CF-85C9-26E454F9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E5D72-5992-4405-A412-9DE66F75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54999-6E6D-4FCD-A005-0D7C3014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061A4-909D-4435-994D-532C491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31B5-C643-44C1-94F3-041A9EE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35678-23BA-4A94-9A62-9867559F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458EC-7028-43C7-8C63-20715627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FA051-6852-436F-AF4E-72584140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82CB-3C14-4181-9831-22A028EC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系统架构：硬件支撑、任务协同与显示刷新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FFAE6-45B9-474A-9FA6-0EB30C05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A416D-5976-40C3-824D-199FE82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899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06292-EFFD-44B8-9207-BD696EE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3C1EA-E7AB-4D1B-A953-DDE645C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291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2E136-18B3-4ABC-B333-0D7074D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38675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完成LCD、触控、SD卡、Flash、RTC、WiFi、电源等底层通信，并封装驱动函数供应用层调用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6DBEE-00FD-4DD9-9711-F3047E78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576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51DDF-47D7-45BC-89CB-FFA4733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899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95308-CA57-497A-9B4A-451460F4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288F1-38D0-4DDF-BBF6-A8A31E0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17B1C-84EA-44FB-9BC7-F6FAB370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4805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基于FreeRTOS划分时间、天气、存储、视频、OTA、功耗等独立任务，任务之间通过异步消息队列转发状态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9510B-1518-4153-9525-9A2A42E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6E3DA-D185-4D6D-9D7D-9D60768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E44-E756-4947-86E6-9865100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4E7F5-7FBC-41AB-BC8D-99EE4FD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897AC-C906-4664-9A03-ED69933E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717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应用状态改变、页面跳转、进度刷新和应用间交互均统一投递到队列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24222-8A75-46C8-B565-623B1899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6AECEE-EE52-4406-91CA-4CBEF16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899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8A7B7-481A-44A3-95F5-5B79631A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87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FCD7D7-A7F7-464E-9A88-74038CFF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2001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9B06CB-C4FD-4F21-8F08-E8F0ECCA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209675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LVGL显示线程统一消费队列消息，完成页面路由、控件刷新、触控事件分发和动画状态呈现</a:t>
            </a:r>
          </a:p>
        </p:txBody>
      </p:sp>
    </p:spTree>
    <p:extLst>
      <p:ext uri="{BB962C8B-B14F-4D97-AF65-F5344CB8AC3E}">
        <p14:creationId xmlns:p14="http://schemas.microsoft.com/office/powerpoint/2010/main" val="18350536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D7CC1-67D3-4773-BEBA-30E181CD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EA331-BF46-4806-90E4-67208F6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B9825-C281-43A4-8A99-2E0DFE40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B707F-B2D4-4E52-A5BD-030625B3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7423D-93E2-4C54-9C39-BF86DC0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9AF44-94A4-4865-8638-771ACD76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889BB-DED6-4FB4-AC59-022DA34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E3328-C073-463D-9688-B27F967B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36DAC-F606-44D0-B1D7-79CECDF0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7E8F1-F61E-4918-A145-1AC37309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7FD15-F682-4D56-A7BE-37F5943A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37246-9527-48B8-B080-C5497E6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ABF5E-F7D4-4F2C-B499-57E38FBD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FE25A-9F2D-4CD4-8C3B-EA23560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9B8CB-8D31-4D20-9A33-F22DEFA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EC8EA-CFC7-4D49-B8CE-3E841A4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硬件设计一：ESP32最小系统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767E7-7371-4E2A-AA97-36ED166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6A091-EAF3-4749-9CDC-8EA83B1E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19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22523-DA3B-4EF2-968C-4474699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E2F09-BC71-448A-A917-4E82D9B3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200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主控与存储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335E5-5844-4FCC-875B-B7FEE88D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2193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采用ESP32-S3R8作为主控，内部集成8MB高速PSRAM，用于显示帧缓冲、多媒体缓存和任务运行；外扩16MB串行Flash保存程序、资源和固件数据。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C1C89-0866-4476-AFAC-DD3F560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6400"/>
            <a:ext cx="2619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087B4-AE6A-4B77-B161-80F93541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238D9-D032-4691-9C6C-08DD41B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47850"/>
            <a:ext cx="2200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时钟与下载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4E048-DC14-437D-A35A-CADC49A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22193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配置40MHz晶振提供稳定主时钟；复位、启动配置和Type-C下载调试接口统一规划，便于固件烧录、调试和后期维护。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AF12F-CBD8-45EF-89D1-79302A2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619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C714F-C868-4F43-87C2-AB0EDFC7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C800A-A992-446E-B22C-F9CC6A9E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2200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8F8F1-309C-472B-8867-1886EE4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22193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主控集成2.4GHz WiFi无线能力，电路预留陶瓷天线及射频匹配网络，保证网络校时、天气获取、MQTT通信和OTA升级的连接基础。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55C23A-FBCD-44D7-A63E-0955D268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2133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BDAB5-2681-4FE6-A8E8-6D872454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288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C215B7-72F1-4997-92A6-34F06C5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47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供电与滤波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253EF9-B45B-445D-BE8E-E0A2DF7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3.3V电源域配合去耦与滤波网络，降低纹波和高频干扰，提升高速SPI、外部存储和无线通信稳定性。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03306C-F444-4A6E-9E86-6DB4882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10048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6F7F5-F2EB-4786-BA84-063C0B2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387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设计重点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E93AE0-838F-495E-9000-AF727FD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3872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最小系统不是简单接线，而是围绕算力、存储带宽、下载调试、射频连接和电源稳定性构建整机硬件基础。</a:t>
            </a:r>
          </a:p>
        </p:txBody>
      </p:sp>
    </p:spTree>
    <p:extLst>
      <p:ext uri="{BB962C8B-B14F-4D97-AF65-F5344CB8AC3E}">
        <p14:creationId xmlns:p14="http://schemas.microsoft.com/office/powerpoint/2010/main" val="17277076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BE6083-7EE9-4E01-B044-812E1CF3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92771-9D36-49BC-884C-5488B19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31CBB-02D0-47C4-98B6-CFDD0D75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4885A-B48B-4926-AEB0-0604513B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8CE9C-D23E-40AB-87A5-8F41E721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66F92-A7D8-471E-9486-8582C7D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81132-5704-4547-98D3-F8765B6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A9D83-2C11-4D11-B554-37239CB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F205E-4181-4746-AC63-CB06675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38AEF-6E70-4476-8BFE-31925F2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ED56B-8E1A-4DD2-BACD-749205EA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7E09F-33E0-4D41-8533-87717A3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1F844-BAA6-49CB-80A6-191886D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8292-D8F0-458F-822F-19C05E51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034D6-26A8-4A33-B6DE-CA01612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0788F-0E50-4670-81BE-A65E467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硬件设计二：显示触控、时间存储与电源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2A197-14FC-4CED-A3AA-041EC4A3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0C84A-DC36-42EE-9E1A-B2B34804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06FF3-5B44-4072-9453-1C16FAA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7782B-C21D-4F8F-8807-F3CF61B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显示触控屏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49EDC-57FF-4793-914C-2740121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51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1.83英寸240×284一体化模组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ST7789P3负责LCD显示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CST816T负责电容触摸检测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SPI-DMA刷新 + I2C中断触控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E9A6D-463D-4B36-80C5-27BDDBD0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9C10C-3B12-4576-BC89-B6FCAC7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C4165-0A1C-442B-A265-E53E42DE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11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RTC与SD存储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605A2-2AB8-43C2-98CE-A45F18A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251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SD3078独立RTC断电守时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Micro SD通过SPI挂载FatFS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保存图片、视频、小说和本地OTA固件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24B50-ADE0-4592-9A34-3124F112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0A030-69D3-47F6-89D1-CCDB3CA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A36B0-27B9-41F1-82F1-80F106E5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811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电源与休眠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21BA5-C895-4E5D-B00C-B533643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251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锂电池充电模块提供安全充电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ME6217输出稳定3.3V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背光、WiFi和外设按需启停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17348-4B6A-44A8-976F-D8A7E7B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791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1D7FD-EF07-452D-AD07-C8E67815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76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790530-8DFC-4F9F-87E5-C6217A5C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76800"/>
            <a:ext cx="744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主控最小系统提供算力和通信接口，显示触控负责交互入口，RTC与SD卡保障时间和资源，电源模块支撑低功耗运行。</a:t>
            </a:r>
          </a:p>
        </p:txBody>
      </p:sp>
    </p:spTree>
    <p:extLst>
      <p:ext uri="{BB962C8B-B14F-4D97-AF65-F5344CB8AC3E}">
        <p14:creationId xmlns:p14="http://schemas.microsoft.com/office/powerpoint/2010/main" val="3805256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1C6F5-8180-4671-B984-97910AD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3503D-6F51-49A3-96A1-3DADC10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5AADB-7CF3-4409-9326-36ED6861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05342-223C-4EBF-9E65-25BBA68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0010B-1473-420C-9B8D-95DAA406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BF022-E1EC-4871-8A6D-ED9D20FC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D0E55-EE8B-450E-9CE6-4095DBB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6A013-C172-4683-B72C-AF15B69E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5B53C-436A-4424-AE0C-44A6A0B6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F7FE5-7C7D-445D-8741-977218BF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DE5E5-9016-4758-9064-BD3ECE08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7E03B-DF0A-4ECF-9043-9B202B77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E70E8-1209-423E-A314-F61A432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CB1CE-7BBD-4D26-88D1-E6C43687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C16D2-315D-4D9B-B7D7-C750721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63FE7-9933-4891-A245-A78A707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软件设计一：自底向上的分层结构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3997C-B353-4AD2-A584-2FAD743B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4785A-4BA8-4C31-BF86-71FE12E2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66383-7C3B-4146-993D-3F2CFEF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AFE41-D6D3-424C-BB24-1D3E10F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33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E9B87-81A3-4B57-9BD2-7EF6AB38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86275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驱动LCD、触摸、SD卡、Flash、RTC、WiFi和电源模块</a:t>
            </a:r>
          </a:p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封装SPI、I2C、GPIO、文件系统和休眠唤醒接口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7E1AD-35FB-4467-BD66-631879E7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44B96-5E0F-49A9-BAE3-FC027D0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D4487-4DC1-4941-9431-21951160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69128-579A-4FCE-9DA1-05A4D23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05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D3D3E-FD4F-46A7-9726-DFA9C72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57575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FreeRTOS拆分为时间、天气、存储、视频、OTA、功耗等任务</a:t>
            </a:r>
          </a:p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各任务彼此独立，状态变化和任务间交互通过异步消息队列转发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2EBFE-6C71-4D19-9A02-153EA89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DB414-46C5-438C-883D-A2558EF1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670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138D4-DBFA-4FE3-A60F-2C5AAB3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4FAFD-7D4B-4A7D-8908-C81A77B6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BD58C-328C-400E-AF0E-A14C8E9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28875"/>
            <a:ext cx="441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统一承接业务状态、页面请求、进度信息和应用间控制消息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DCCB8-8427-469D-BD12-CC36DF41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2BA9B1-20A6-4008-87A3-E3D2A980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573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372905-523A-4F05-8DFD-5B14F04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573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A84145-A0B1-4153-8293-0FB13FDB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47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7D6EE-0909-4D74-999E-336FED6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00175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LVGL显示线程读取队列消息，完成页面刷新、控件更新和事件分发</a:t>
            </a:r>
          </a:p>
        </p:txBody>
      </p:sp>
    </p:spTree>
    <p:extLst>
      <p:ext uri="{BB962C8B-B14F-4D97-AF65-F5344CB8AC3E}">
        <p14:creationId xmlns:p14="http://schemas.microsoft.com/office/powerpoint/2010/main" val="566648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231F4-DDB4-4C4B-8281-1EE45F56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5977-76ED-4575-B4E1-EF4E3211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D005B-5F9E-4961-B44B-4C5D1FC1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6C669-CC66-408F-BFB6-381C4F9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6A949-8215-49F5-9198-DF3EF94D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2C64D-948F-4F30-8AA3-3785062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52377-6B9E-447C-ADE5-D7F2BD75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068B8-297E-4833-BED8-933A2F81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740FD-771D-478C-A563-9009BDEE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B0F36-6C19-48B1-89EB-ABDCBB08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B2B6B-8D98-483A-8B2B-11AA35A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554A2-2A74-4A13-ABA1-7FE358A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4370B-0578-4C1D-A426-E8EBA1B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8021E-EA33-4F88-9443-213DD706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EE893-4E83-496B-B522-DFEA1C0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980A0-20D2-463E-B84D-0FB560FA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软件设计二：核心应用流程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D1DD5-AC0F-4830-9CB0-E0827F68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E12D1-64DB-4CFB-9DF5-CC75975A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7DA06-F8EE-4D7C-B5E3-F17B4E0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AD89A-FA6D-442D-8684-CB94E66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多媒体资源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68868-3CA3-4295-8DB4-545E618F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962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SD卡扫描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路径解析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分块读取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图片/视频/小说显示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BB9F8-ACC2-4284-93D4-C3F79EF8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B739B-E45C-4CAD-B7DC-697833C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BB75B-AFAD-40EE-9955-3F73444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841A2-27C6-4434-B9B9-6ADDA9F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1962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RTC读时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SNTP校准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写入SD3078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表盘同步显示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07277-BEBC-419A-AD3D-CD4244B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D70E5-47C6-4001-B419-C3163179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B44EC-980B-4BD5-9720-B98863BA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OTA升级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ABEE00-D874-4735-A0C7-9A395B4D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1962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本地或云端输入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写入备份分区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固件校验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重启或点击跳转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3034C5-1A7D-4C91-97FB-1C19A847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2266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390E4-3D7F-4A19-9184-C0788E25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907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86A92-EE33-40BD-9A9A-CE232BF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5737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61659-6A03-4589-889E-68C25BA0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1962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空闲检测/长按按键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关闭背光与外设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设置唤醒源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进入休眠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BC04C-42DC-4901-A514-DEDC31D9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队列作用：业务任务只负责产生状态和数据，显示层只负责消费消息并刷新界面，从而降低多任务并发下的UI阻塞风险。</a:t>
            </a:r>
          </a:p>
        </p:txBody>
      </p:sp>
    </p:spTree>
    <p:extLst>
      <p:ext uri="{BB962C8B-B14F-4D97-AF65-F5344CB8AC3E}">
        <p14:creationId xmlns:p14="http://schemas.microsoft.com/office/powerpoint/2010/main" val="17467156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625B2-5C4E-4FB3-83B4-C7E44FE3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B9732-C08C-4070-9F6E-2BCC6FB3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80A3B-2223-44ED-AB3D-D879DA35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7639F-BA86-4F1C-846B-47A79896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F8C0D-E761-4123-B2C5-EAFC65FC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7FFD9-492F-456A-B34C-E3E9789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CDF77-4076-4EE3-A544-DA108DA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4B146-B62B-460F-86E1-9502B4C4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B7712-F692-458B-9615-B9CDC72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54221-9264-4CE7-99C6-945BDC63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1D5AE-6C34-4B11-A266-86D5B9BC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04671-9E8C-4021-B729-1B8EF15D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EE45D-EE16-420F-9803-D50B889F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EDFD7-09D3-489F-AAC2-74353C0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5DBA9-8B0A-4AFB-A018-6C8205C4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7655D-A7AC-486B-8AB7-67E016AB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系统调试一：功能测试结果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D1786-A620-407E-93AC-05C3ECD1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BB446-80EC-4F32-A87F-9DE9CFB4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57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251C7-6324-4031-BC3A-7C1593DA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C8975-E360-4985-A88A-1FA1773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41186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4A117-FDDE-4775-8B60-CC6EEB80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2877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0384A-176D-4135-8AE8-72BE2FD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表盘、主菜单、快捷面板切换正常；快速滑动时偶有轻微撕裂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0EBEF-C275-4445-962E-89E411C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C4F19-F6B1-4B34-BC87-67467729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A9012-8158-43E4-A3C0-BFECE808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37604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9525">
            <a:solidFill>
              <a:srgbClr val="20A8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61CFFB-27CB-445F-BD90-2DF64C5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B275AD-BE8A-4E0E-8333-65BD692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支持SD卡图片浏览和壁纸更换；大图快速翻页存在读取延迟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C5D08-7514-4C14-A444-15271CB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67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3350A-87FB-42CC-BF0A-7C13DEF4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1596A-3356-47D2-B0F9-E810414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36709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3EDE98-F721-45C1-88E3-75E701E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3847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FE1D7-1ABC-4920-9FA4-E0E0745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MJPEG可连续播放，平均约25fps；高负载下会少量掉帧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400D2-8BE4-48B2-A404-AADB689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8C77A-D668-4514-85F3-F9AB8DED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75B652-E0CF-490E-B9B2-5F4DB488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420814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AF7AFF-52CF-43B6-AD65-CFF68846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4332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B30118-D57E-4D51-99C0-534C7998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TXT分屏读取稳定，支持断点续读和阅读位置保存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EE6019-0A93-42A0-B71D-9553954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2FD39E-C21D-46D9-816F-5D70E79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D48569-F616-43DA-B351-BFC1D92B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4029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6E22BD-22B3-4CB1-9372-BE06877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48175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D47EC5-ACFE-440D-AD04-A3026D96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WiFi、天气、NTP、OneNET通信、本地与云端OTA完成验证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6DE077-7786-4840-B381-FEE00A1B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998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8F08CA-6690-41FA-BD0C-6D8A2D4B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510566-F59C-416C-9A01-0AAF63EE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核心功能均能运行，主要瓶颈集中在SD卡大文件读取、MJPEG解码刷新和快速手势下的局部显示撕裂。</a:t>
            </a:r>
          </a:p>
        </p:txBody>
      </p:sp>
    </p:spTree>
    <p:extLst>
      <p:ext uri="{BB962C8B-B14F-4D97-AF65-F5344CB8AC3E}">
        <p14:creationId xmlns:p14="http://schemas.microsoft.com/office/powerpoint/2010/main" val="5943320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BC060-92A7-41F5-9C37-3507B15D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3CDB2-17A3-47E1-9A64-AD94B339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BAADD-577C-4BF3-B714-DB08A88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471AA-4403-4FD0-B3A3-00799751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C4A64-2862-47CC-B5DE-C2FAFFA2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80768-5DF5-4A22-B17D-4620FE7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B0902-B182-47EE-87A7-C1C82740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B3433-6D4B-49FC-9EB9-34F8DBD9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F8EF-E760-406C-AD12-4ADAD67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B26E7-323A-454E-9F99-A691252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E5204-083D-4967-9D08-325747F0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157F5-A0D9-42D0-BB6C-DE0C20D0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81ED2-35B1-4CCD-B246-E561526F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627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9EDFB-CBA4-4A12-8F3A-8CCA00F5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960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50EA1-0028-49B4-98B9-712E020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38798-AFC9-4626-B60F-04619F3F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系统调试二：功耗测试与待改进方向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21EE0-B7FD-4454-9337-8578C236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7D1B1-07E1-4BC5-9FD5-B0F43F9F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电流测试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8CC1-C6F6-418A-A11F-528B52DC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100%亮度+WiFi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E6A49-3032-42F0-BC84-E30935C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A57B5-7A17-498A-B298-BE94BF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555"/>
          </a:solidFill>
          <a:ln xmlns:a="http://schemas.openxmlformats.org/drawingml/2006/main" w="9525">
            <a:solidFill>
              <a:srgbClr val="E255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5A2DA-E614-40B2-9FBC-C0F968F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0.233A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3E6FF-3FCF-4DB2-B8C8-2360170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10%亮度+无WiFi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67139-D3C3-4B7C-A10F-CB73C09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42078-17E8-42D1-93E4-7CC5433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93892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4E9DD-6ECB-46C9-9251-8792D84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0.058A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24B8B-E1E1-4987-A353-A0A259D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LightSleep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6B423-669E-479B-BDC9-6D0E508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91287-990F-42F7-AD8C-1AB02A73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12950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81E61-0A7D-432C-90AE-35F2848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DBCAD-FAD1-4C77-B5DB-1B8EFCE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DeepSleep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418675-7F96-419E-A931-DAA8AF82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8140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DDEB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6FA816-5139-4243-9E0C-A0A4320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81400"/>
            <a:ext cx="971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9525">
            <a:solidFill>
              <a:srgbClr val="20A8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E7EAA-4B8B-4D1B-8AB2-CEA0C69D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7CD724-40D6-436D-AC88-DF40ECE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理论续航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4172A7-488D-45EA-BABD-88D93A9D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B3CB7-1644-4B96-B08A-00AC77F2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1428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15C27E-F2EC-42E2-A343-DEA9B0AE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768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170B8-4EA2-4128-AF05-965D9D16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A28ED3-18C2-4357-8957-56BA907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291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1F2090-A324-4419-8133-BA3F333E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915B4-47E4-4A54-9F39-6A79D928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0101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1.9h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A5A9E7-03D6-498E-ACFD-7DEF095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79ADAE-13DF-4177-95FB-393F195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7.7h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141C7C-E087-4AA6-AA48-F135157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40706F-B066-4C7C-8900-1DCCEBA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3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56h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311D2-2ECA-4683-9E54-BE57BCD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81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F3FB46-8BAC-4BD2-8CD3-31D6381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052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75h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9D8778-280C-4D8B-81F8-C44872A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2B7B67-8789-42A6-AC52-A464EC70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5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CDB4BA-A817-4A4C-8E58-6765CCFF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192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8A9076-4120-4EDC-B818-E7EF01C9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高负载下仍会出现轻微卡顿、掉帧或画面撕裂；大图和视频受SD卡读取速度影响明显。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9835B8-7C26-407D-BE33-22324AD9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FD275C-4D5F-40E7-916C-CB7B7FE1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CE1F11-61C5-49B4-BFA3-78E014BF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5272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改进一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6548C3-FCBA-4290-BD5A-4BECAFC0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优化SPI刷新节奏、MJPEG帧缓冲和SD卡异步读取策略，提高多媒体连续性。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DB362D-7F8B-4525-8871-13C21BC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1ECBE3-3D36-44E6-B151-01DF6019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3AC225-AD68-4642-BAC1-73D0C2E4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861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改进二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186EF4-030A-4C94-A415-8CB8CC3D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576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细化外设电源门控、WiFi按需唤醒和休眠恢复流程，进一步提高实际续航。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6CB916-602A-44D4-926A-410A401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BC5810-5711-4838-A366-D457CE5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5660B7-91D7-4440-970C-8C253C26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962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改进三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83519D-DEFC-4DB5-9007-78C65ED9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910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B82"/>
                </a:solidFill>
                <a:latin typeface="Microsoft YaHei"/>
                <a:ea typeface="Microsoft YaHei"/>
                <a:cs typeface="Microsoft YaHei"/>
              </a:rPr>
              <a:t>后续可增加健康传感器、移动端同步和云端数据管理能力，提高产品完整度。</a:t>
            </a:r>
          </a:p>
        </p:txBody>
      </p:sp>
    </p:spTree>
    <p:extLst>
      <p:ext uri="{BB962C8B-B14F-4D97-AF65-F5344CB8AC3E}">
        <p14:creationId xmlns:p14="http://schemas.microsoft.com/office/powerpoint/2010/main" val="570739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2026-05-26T04:54:56.5030000Z</dcterms:created>
  <dcterms:modified xsi:type="dcterms:W3CDTF">2026-05-26T04:54:56.5030000Z</dcterms:modified>
</coreProperties>
</file>