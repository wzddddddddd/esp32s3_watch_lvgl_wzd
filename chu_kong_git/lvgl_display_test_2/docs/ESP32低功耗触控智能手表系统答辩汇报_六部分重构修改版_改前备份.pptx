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9" r:id="rId4"/>
    <p:sldId id="260" r:id="rId5"/>
    <p:sldId id="263" r:id="rId6"/>
    <p:sldId id="261" r:id="rId7"/>
    <p:sldId id="264" r:id="rId8"/>
    <p:sldId id="266" r:id="rId9"/>
    <p:sldId id="267" r:id="rId10"/>
    <p:sldId id="269" r:id="rId11"/>
    <p:sldId id="272" r:id="rId12"/>
    <p:sldId id="273" r:id="rId13"/>
    <p:sldId id="274" r:id="rId14"/>
    <p:sldId id="275" r:id="rId15"/>
    <p:sldId id="278" r:id="rId16"/>
    <p:sldId id="279" r:id="rId17"/>
    <p:sldId id="280" r:id="rId18"/>
    <p:sldId id="282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59" d="100"/>
          <a:sy n="59" d="100"/>
        </p:scale>
        <p:origin x="6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6357D53D-250F-4251-8C83-D8536DB7BE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F7EA5A7-2DA4-4655-9497-DE98D5175973}"/>
              </a:ext>
            </a:extLst>
          </p:cNvPr>
          <p:cNvSpPr>
            <a:spLocks noGrp="1"/>
          </p:cNvSpPr>
          <p:nvPr/>
        </p:nvSpPr>
        <p:spPr>
          <a:xfrm>
            <a:off x="-3143250" y="-2571750"/>
            <a:ext cx="4572000" cy="45720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2522E05D-2FC7-452A-9717-9FADED1CDD3B}"/>
              </a:ext>
            </a:extLst>
          </p:cNvPr>
          <p:cNvSpPr>
            <a:spLocks noGrp="1"/>
          </p:cNvSpPr>
          <p:nvPr/>
        </p:nvSpPr>
        <p:spPr>
          <a:xfrm>
            <a:off x="-2667000" y="-2095500"/>
            <a:ext cx="3429000" cy="34290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17076B16-8DD1-4AF7-8A73-8CCFA6A7C483}"/>
              </a:ext>
            </a:extLst>
          </p:cNvPr>
          <p:cNvSpPr>
            <a:spLocks noGrp="1"/>
          </p:cNvSpPr>
          <p:nvPr/>
        </p:nvSpPr>
        <p:spPr>
          <a:xfrm>
            <a:off x="8477250" y="4171950"/>
            <a:ext cx="4953000" cy="49530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57B853C-548A-479D-9EF0-913FB7F5E792}"/>
              </a:ext>
            </a:extLst>
          </p:cNvPr>
          <p:cNvSpPr>
            <a:spLocks noGrp="1"/>
          </p:cNvSpPr>
          <p:nvPr/>
        </p:nvSpPr>
        <p:spPr>
          <a:xfrm>
            <a:off x="9382125" y="5048250"/>
            <a:ext cx="2857500" cy="2857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611E51D-E889-44E8-ADB9-4BC82231C105}"/>
              </a:ext>
            </a:extLst>
          </p:cNvPr>
          <p:cNvSpPr>
            <a:spLocks noGrp="1"/>
          </p:cNvSpPr>
          <p:nvPr/>
        </p:nvSpPr>
        <p:spPr>
          <a:xfrm>
            <a:off x="0" y="5810250"/>
            <a:ext cx="12192000" cy="1047750"/>
          </a:xfrm>
          <a:prstGeom prst="rect">
            <a:avLst/>
          </a:prstGeom>
          <a:solidFill>
            <a:srgbClr val="223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DFD3ED0-399F-4CEF-8E83-04D471CBB8C1}"/>
              </a:ext>
            </a:extLst>
          </p:cNvPr>
          <p:cNvSpPr>
            <a:spLocks noGrp="1"/>
          </p:cNvSpPr>
          <p:nvPr/>
        </p:nvSpPr>
        <p:spPr>
          <a:xfrm>
            <a:off x="57150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3200252-A3CD-46DE-A492-0CB46661768F}"/>
              </a:ext>
            </a:extLst>
          </p:cNvPr>
          <p:cNvSpPr>
            <a:spLocks noGrp="1"/>
          </p:cNvSpPr>
          <p:nvPr/>
        </p:nvSpPr>
        <p:spPr>
          <a:xfrm>
            <a:off x="1123950" y="6296025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1396DAE-8A3D-41E6-B9A3-CD86BBC6D2C0}"/>
              </a:ext>
            </a:extLst>
          </p:cNvPr>
          <p:cNvSpPr>
            <a:spLocks noGrp="1"/>
          </p:cNvSpPr>
          <p:nvPr/>
        </p:nvSpPr>
        <p:spPr>
          <a:xfrm>
            <a:off x="1676400" y="643890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EC4F346-A970-4F52-A7B8-1F78FFF18DDE}"/>
              </a:ext>
            </a:extLst>
          </p:cNvPr>
          <p:cNvSpPr>
            <a:spLocks noGrp="1"/>
          </p:cNvSpPr>
          <p:nvPr/>
        </p:nvSpPr>
        <p:spPr>
          <a:xfrm>
            <a:off x="222885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9CDAF5A-377C-404E-90D4-BEEA34C31E31}"/>
              </a:ext>
            </a:extLst>
          </p:cNvPr>
          <p:cNvSpPr>
            <a:spLocks noGrp="1"/>
          </p:cNvSpPr>
          <p:nvPr/>
        </p:nvSpPr>
        <p:spPr>
          <a:xfrm>
            <a:off x="2781300" y="6296025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107C532-E40D-48C3-AA9E-2CC3E0BFA16B}"/>
              </a:ext>
            </a:extLst>
          </p:cNvPr>
          <p:cNvSpPr>
            <a:spLocks noGrp="1"/>
          </p:cNvSpPr>
          <p:nvPr/>
        </p:nvSpPr>
        <p:spPr>
          <a:xfrm>
            <a:off x="3333750" y="643890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E96212D-8F4D-4E8B-B7E6-CDDE601EDD1A}"/>
              </a:ext>
            </a:extLst>
          </p:cNvPr>
          <p:cNvSpPr>
            <a:spLocks noGrp="1"/>
          </p:cNvSpPr>
          <p:nvPr/>
        </p:nvSpPr>
        <p:spPr>
          <a:xfrm>
            <a:off x="388620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41F587C-8A14-474E-B9AC-B283D84BCEB2}"/>
              </a:ext>
            </a:extLst>
          </p:cNvPr>
          <p:cNvSpPr>
            <a:spLocks noGrp="1"/>
          </p:cNvSpPr>
          <p:nvPr/>
        </p:nvSpPr>
        <p:spPr>
          <a:xfrm>
            <a:off x="4438650" y="6296025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0CC1FFD-4FEA-4E59-94A5-CD3DE1FD5959}"/>
              </a:ext>
            </a:extLst>
          </p:cNvPr>
          <p:cNvSpPr>
            <a:spLocks noGrp="1"/>
          </p:cNvSpPr>
          <p:nvPr/>
        </p:nvSpPr>
        <p:spPr>
          <a:xfrm>
            <a:off x="4991100" y="643890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0D7A1F5-4542-416B-AFAA-E898D8EDC505}"/>
              </a:ext>
            </a:extLst>
          </p:cNvPr>
          <p:cNvSpPr>
            <a:spLocks noGrp="1"/>
          </p:cNvSpPr>
          <p:nvPr/>
        </p:nvSpPr>
        <p:spPr>
          <a:xfrm>
            <a:off x="554355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BBF347F-5DB0-40BF-90C0-B1BF0C80EC86}"/>
              </a:ext>
            </a:extLst>
          </p:cNvPr>
          <p:cNvSpPr>
            <a:spLocks noGrp="1"/>
          </p:cNvSpPr>
          <p:nvPr/>
        </p:nvSpPr>
        <p:spPr>
          <a:xfrm>
            <a:off x="6096000" y="6296025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BC74A7C-A0F5-4FD5-9393-F8F16BA21FD3}"/>
              </a:ext>
            </a:extLst>
          </p:cNvPr>
          <p:cNvSpPr>
            <a:spLocks noGrp="1"/>
          </p:cNvSpPr>
          <p:nvPr/>
        </p:nvSpPr>
        <p:spPr>
          <a:xfrm>
            <a:off x="6648450" y="643890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572997C-52B7-4322-9972-97F85BB3C2E5}"/>
              </a:ext>
            </a:extLst>
          </p:cNvPr>
          <p:cNvSpPr>
            <a:spLocks noGrp="1"/>
          </p:cNvSpPr>
          <p:nvPr/>
        </p:nvSpPr>
        <p:spPr>
          <a:xfrm>
            <a:off x="720090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8F660E1-D313-4371-AEAA-C2B06A0B7D04}"/>
              </a:ext>
            </a:extLst>
          </p:cNvPr>
          <p:cNvSpPr>
            <a:spLocks noGrp="1"/>
          </p:cNvSpPr>
          <p:nvPr/>
        </p:nvSpPr>
        <p:spPr>
          <a:xfrm>
            <a:off x="7753350" y="6296025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EAABBF9-0636-4428-9C4B-146D7E701C0D}"/>
              </a:ext>
            </a:extLst>
          </p:cNvPr>
          <p:cNvSpPr>
            <a:spLocks noGrp="1"/>
          </p:cNvSpPr>
          <p:nvPr/>
        </p:nvSpPr>
        <p:spPr>
          <a:xfrm>
            <a:off x="8305800" y="643890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C0F958E-FA05-4946-8B7B-8605317DD847}"/>
              </a:ext>
            </a:extLst>
          </p:cNvPr>
          <p:cNvSpPr>
            <a:spLocks noGrp="1"/>
          </p:cNvSpPr>
          <p:nvPr/>
        </p:nvSpPr>
        <p:spPr>
          <a:xfrm>
            <a:off x="885825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23A19D3-E81A-4055-A73B-2806F93E52AE}"/>
              </a:ext>
            </a:extLst>
          </p:cNvPr>
          <p:cNvSpPr>
            <a:spLocks noGrp="1"/>
          </p:cNvSpPr>
          <p:nvPr/>
        </p:nvSpPr>
        <p:spPr>
          <a:xfrm>
            <a:off x="1409700" y="590550"/>
            <a:ext cx="495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1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rPr>
              <a:t>HENAN POLYTECHNIC UNIVERSITY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BBCD4F0-B1AF-4DA0-8D84-402438414A4E}"/>
              </a:ext>
            </a:extLst>
          </p:cNvPr>
          <p:cNvSpPr>
            <a:spLocks noGrp="1"/>
          </p:cNvSpPr>
          <p:nvPr/>
        </p:nvSpPr>
        <p:spPr>
          <a:xfrm>
            <a:off x="1428750" y="1390650"/>
            <a:ext cx="5524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基于ESP32的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9B749FC-09B6-4D58-984A-279B1E43C4A4}"/>
              </a:ext>
            </a:extLst>
          </p:cNvPr>
          <p:cNvSpPr>
            <a:spLocks noGrp="1"/>
          </p:cNvSpPr>
          <p:nvPr/>
        </p:nvSpPr>
        <p:spPr>
          <a:xfrm>
            <a:off x="1409700" y="1924050"/>
            <a:ext cx="9334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低功耗触控智能手表系统设计与实现</a:t>
            </a:r>
            <a:endParaRPr sz="360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DAE9DAB-DF34-4785-B2A8-4231547E1D17}"/>
              </a:ext>
            </a:extLst>
          </p:cNvPr>
          <p:cNvSpPr>
            <a:spLocks noGrp="1"/>
          </p:cNvSpPr>
          <p:nvPr/>
        </p:nvSpPr>
        <p:spPr>
          <a:xfrm>
            <a:off x="1447800" y="2895600"/>
            <a:ext cx="4000500" cy="38100"/>
          </a:xfrm>
          <a:prstGeom prst="rect">
            <a:avLst/>
          </a:prstGeom>
          <a:solidFill>
            <a:srgbClr val="DDE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7B5CB5A-F9BA-4917-B75A-227F6459959D}"/>
              </a:ext>
            </a:extLst>
          </p:cNvPr>
          <p:cNvSpPr>
            <a:spLocks noGrp="1"/>
          </p:cNvSpPr>
          <p:nvPr/>
        </p:nvSpPr>
        <p:spPr>
          <a:xfrm>
            <a:off x="1447800" y="3219450"/>
            <a:ext cx="3429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950" b="1">
                <a:solidFill>
                  <a:srgbClr val="E8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E8F1FF"/>
                </a:solidFill>
                <a:latin typeface="Microsoft YaHei"/>
                <a:ea typeface="Microsoft YaHei"/>
                <a:cs typeface="Microsoft YaHei"/>
              </a:rPr>
              <a:t>毕业设计答辩汇报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3D34634-1348-453D-B733-BFC6EF805D99}"/>
              </a:ext>
            </a:extLst>
          </p:cNvPr>
          <p:cNvSpPr>
            <a:spLocks noGrp="1"/>
          </p:cNvSpPr>
          <p:nvPr/>
        </p:nvSpPr>
        <p:spPr>
          <a:xfrm>
            <a:off x="1485900" y="4095750"/>
            <a:ext cx="247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答辩人：吴</a:t>
            </a:r>
            <a:r>
              <a:rPr lang="zh-CN" altLang="en-US" sz="187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钟锭</a:t>
            </a:r>
            <a:endParaRPr sz="187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2AFB2CE-1336-4D3D-92F7-3C2F11AB1C41}"/>
              </a:ext>
            </a:extLst>
          </p:cNvPr>
          <p:cNvSpPr>
            <a:spLocks noGrp="1"/>
          </p:cNvSpPr>
          <p:nvPr/>
        </p:nvSpPr>
        <p:spPr>
          <a:xfrm>
            <a:off x="1485900" y="4572000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指导教师：乔美英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CD4F88D-72D0-4194-B488-D83213887988}"/>
              </a:ext>
            </a:extLst>
          </p:cNvPr>
          <p:cNvSpPr>
            <a:spLocks noGrp="1"/>
          </p:cNvSpPr>
          <p:nvPr/>
        </p:nvSpPr>
        <p:spPr>
          <a:xfrm>
            <a:off x="1409700" y="6076950"/>
            <a:ext cx="723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0">
                <a:solidFill>
                  <a:srgbClr val="EA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EAF3FF"/>
                </a:solidFill>
                <a:latin typeface="Microsoft YaHei"/>
                <a:ea typeface="Microsoft YaHei"/>
                <a:cs typeface="Microsoft YaHei"/>
              </a:rPr>
              <a:t>ESP32-S3R8 / FreeRTOS / LVGL / 低功耗 / OTA</a:t>
            </a:r>
          </a:p>
        </p:txBody>
      </p:sp>
    </p:spTree>
    <p:extLst>
      <p:ext uri="{BB962C8B-B14F-4D97-AF65-F5344CB8AC3E}">
        <p14:creationId xmlns:p14="http://schemas.microsoft.com/office/powerpoint/2010/main" val="1824020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0DF62D7A-DE19-4632-A0F8-EA5D5CDCCC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5433B71B-3FE0-4409-BA5F-832D8005FB90}"/>
              </a:ext>
            </a:extLst>
          </p:cNvPr>
          <p:cNvSpPr>
            <a:spLocks noGrp="1"/>
          </p:cNvSpPr>
          <p:nvPr/>
        </p:nvSpPr>
        <p:spPr>
          <a:xfrm>
            <a:off x="2238375" y="-2476500"/>
            <a:ext cx="7715250" cy="41910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86B08C7-67AA-4DC6-B019-66DB0B8C24F1}"/>
              </a:ext>
            </a:extLst>
          </p:cNvPr>
          <p:cNvSpPr>
            <a:spLocks noGrp="1"/>
          </p:cNvSpPr>
          <p:nvPr/>
        </p:nvSpPr>
        <p:spPr>
          <a:xfrm>
            <a:off x="5429250" y="419100"/>
            <a:ext cx="1333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9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3FFEF1-7678-41AF-9FF8-25B8428785BB}"/>
              </a:ext>
            </a:extLst>
          </p:cNvPr>
          <p:cNvSpPr>
            <a:spLocks noGrp="1"/>
          </p:cNvSpPr>
          <p:nvPr/>
        </p:nvSpPr>
        <p:spPr>
          <a:xfrm>
            <a:off x="5219700" y="838200"/>
            <a:ext cx="1752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09A6E3C-3E61-4A40-AD76-6A591C951069}"/>
              </a:ext>
            </a:extLst>
          </p:cNvPr>
          <p:cNvSpPr>
            <a:spLocks noGrp="1"/>
          </p:cNvSpPr>
          <p:nvPr/>
        </p:nvSpPr>
        <p:spPr>
          <a:xfrm>
            <a:off x="2000250" y="2038350"/>
            <a:ext cx="552450" cy="5524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6818BC2-D082-4AC5-B2B3-C82FCF207296}"/>
              </a:ext>
            </a:extLst>
          </p:cNvPr>
          <p:cNvSpPr>
            <a:spLocks noGrp="1"/>
          </p:cNvSpPr>
          <p:nvPr/>
        </p:nvSpPr>
        <p:spPr>
          <a:xfrm>
            <a:off x="2124075" y="2114550"/>
            <a:ext cx="304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0C0876-D6F2-4957-AD37-6397D34CD90D}"/>
              </a:ext>
            </a:extLst>
          </p:cNvPr>
          <p:cNvSpPr>
            <a:spLocks noGrp="1"/>
          </p:cNvSpPr>
          <p:nvPr/>
        </p:nvSpPr>
        <p:spPr>
          <a:xfrm>
            <a:off x="2781300" y="202882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绪论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54883DC-B58A-493E-9983-FCBB27828295}"/>
              </a:ext>
            </a:extLst>
          </p:cNvPr>
          <p:cNvSpPr>
            <a:spLocks noGrp="1"/>
          </p:cNvSpPr>
          <p:nvPr/>
        </p:nvSpPr>
        <p:spPr>
          <a:xfrm>
            <a:off x="2800350" y="2409825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rPr>
              <a:t>背景、小标题与技术路线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C01B271-8296-4D4B-9264-EA7E1378EBC0}"/>
              </a:ext>
            </a:extLst>
          </p:cNvPr>
          <p:cNvSpPr>
            <a:spLocks noGrp="1"/>
          </p:cNvSpPr>
          <p:nvPr/>
        </p:nvSpPr>
        <p:spPr>
          <a:xfrm>
            <a:off x="2000250" y="3200400"/>
            <a:ext cx="552450" cy="5524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F12C6A8-7F99-465D-A860-C5212AE769BE}"/>
              </a:ext>
            </a:extLst>
          </p:cNvPr>
          <p:cNvSpPr>
            <a:spLocks noGrp="1"/>
          </p:cNvSpPr>
          <p:nvPr/>
        </p:nvSpPr>
        <p:spPr>
          <a:xfrm>
            <a:off x="2124075" y="3276600"/>
            <a:ext cx="304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AC84E54-8CE5-4987-BA85-B215C693F284}"/>
              </a:ext>
            </a:extLst>
          </p:cNvPr>
          <p:cNvSpPr>
            <a:spLocks noGrp="1"/>
          </p:cNvSpPr>
          <p:nvPr/>
        </p:nvSpPr>
        <p:spPr>
          <a:xfrm>
            <a:off x="2781300" y="319087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总体设计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DB4919-C1D5-4FD2-A9B0-71B959E54FED}"/>
              </a:ext>
            </a:extLst>
          </p:cNvPr>
          <p:cNvSpPr>
            <a:spLocks noGrp="1"/>
          </p:cNvSpPr>
          <p:nvPr/>
        </p:nvSpPr>
        <p:spPr>
          <a:xfrm>
            <a:off x="2800350" y="3571875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rPr>
              <a:t>器件选型与分层架构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872E3316-0EBF-4FF6-A4B8-7178D68B2B71}"/>
              </a:ext>
            </a:extLst>
          </p:cNvPr>
          <p:cNvSpPr>
            <a:spLocks noGrp="1"/>
          </p:cNvSpPr>
          <p:nvPr/>
        </p:nvSpPr>
        <p:spPr>
          <a:xfrm>
            <a:off x="2000250" y="4362450"/>
            <a:ext cx="552450" cy="5524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487CC6C-B19A-4A85-8FC9-9FEDFD6BD2AE}"/>
              </a:ext>
            </a:extLst>
          </p:cNvPr>
          <p:cNvSpPr>
            <a:spLocks noGrp="1"/>
          </p:cNvSpPr>
          <p:nvPr/>
        </p:nvSpPr>
        <p:spPr>
          <a:xfrm>
            <a:off x="2124075" y="4438650"/>
            <a:ext cx="304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B3757AC-7015-49E3-A533-F9DFD7510EC6}"/>
              </a:ext>
            </a:extLst>
          </p:cNvPr>
          <p:cNvSpPr>
            <a:spLocks noGrp="1"/>
          </p:cNvSpPr>
          <p:nvPr/>
        </p:nvSpPr>
        <p:spPr>
          <a:xfrm>
            <a:off x="2781300" y="435292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硬件设计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8FBB48E-FE14-44F9-970D-CAE9F009980F}"/>
              </a:ext>
            </a:extLst>
          </p:cNvPr>
          <p:cNvSpPr>
            <a:spLocks noGrp="1"/>
          </p:cNvSpPr>
          <p:nvPr/>
        </p:nvSpPr>
        <p:spPr>
          <a:xfrm>
            <a:off x="2800350" y="4733925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rPr>
              <a:t>最小系统、显示触摸与电源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8FFE443F-CF1E-4E36-931C-BD035AFF8FD4}"/>
              </a:ext>
            </a:extLst>
          </p:cNvPr>
          <p:cNvSpPr>
            <a:spLocks noGrp="1"/>
          </p:cNvSpPr>
          <p:nvPr/>
        </p:nvSpPr>
        <p:spPr>
          <a:xfrm>
            <a:off x="6858000" y="2038350"/>
            <a:ext cx="552450" cy="5524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73E5571-7C88-45A3-B090-E69EA7C30BA4}"/>
              </a:ext>
            </a:extLst>
          </p:cNvPr>
          <p:cNvSpPr>
            <a:spLocks noGrp="1"/>
          </p:cNvSpPr>
          <p:nvPr/>
        </p:nvSpPr>
        <p:spPr>
          <a:xfrm>
            <a:off x="6981825" y="2114550"/>
            <a:ext cx="304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9895EC0-6B9F-4F87-BCED-9989585F423C}"/>
              </a:ext>
            </a:extLst>
          </p:cNvPr>
          <p:cNvSpPr>
            <a:spLocks noGrp="1"/>
          </p:cNvSpPr>
          <p:nvPr/>
        </p:nvSpPr>
        <p:spPr>
          <a:xfrm>
            <a:off x="7639050" y="202882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软件设计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E3AC429-C18A-4FB0-9EC3-FBBA5D650DD8}"/>
              </a:ext>
            </a:extLst>
          </p:cNvPr>
          <p:cNvSpPr>
            <a:spLocks noGrp="1"/>
          </p:cNvSpPr>
          <p:nvPr/>
        </p:nvSpPr>
        <p:spPr>
          <a:xfrm>
            <a:off x="7658100" y="2409825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rPr>
              <a:t>任务划分与核心流程</a:t>
            </a: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613987E4-2349-4F63-B465-95E557C2CBE8}"/>
              </a:ext>
            </a:extLst>
          </p:cNvPr>
          <p:cNvSpPr>
            <a:spLocks noGrp="1"/>
          </p:cNvSpPr>
          <p:nvPr/>
        </p:nvSpPr>
        <p:spPr>
          <a:xfrm>
            <a:off x="6858000" y="3200400"/>
            <a:ext cx="552450" cy="5524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264DD3A-F903-4D66-A50B-45EB65E11417}"/>
              </a:ext>
            </a:extLst>
          </p:cNvPr>
          <p:cNvSpPr>
            <a:spLocks noGrp="1"/>
          </p:cNvSpPr>
          <p:nvPr/>
        </p:nvSpPr>
        <p:spPr>
          <a:xfrm>
            <a:off x="6981825" y="3276600"/>
            <a:ext cx="304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A7F26A1-05D9-44C0-8093-756FEDB09A3D}"/>
              </a:ext>
            </a:extLst>
          </p:cNvPr>
          <p:cNvSpPr>
            <a:spLocks noGrp="1"/>
          </p:cNvSpPr>
          <p:nvPr/>
        </p:nvSpPr>
        <p:spPr>
          <a:xfrm>
            <a:off x="7639050" y="319087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系统调试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7BB4E1F-567B-4B9F-90E3-8D97FDCE0818}"/>
              </a:ext>
            </a:extLst>
          </p:cNvPr>
          <p:cNvSpPr>
            <a:spLocks noGrp="1"/>
          </p:cNvSpPr>
          <p:nvPr/>
        </p:nvSpPr>
        <p:spPr>
          <a:xfrm>
            <a:off x="7658100" y="3571875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rPr>
              <a:t>功能、功耗与问题分析</a:t>
            </a: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72D3A075-ED3B-4EF4-88FC-8384075BC04C}"/>
              </a:ext>
            </a:extLst>
          </p:cNvPr>
          <p:cNvSpPr>
            <a:spLocks noGrp="1"/>
          </p:cNvSpPr>
          <p:nvPr/>
        </p:nvSpPr>
        <p:spPr>
          <a:xfrm>
            <a:off x="6858000" y="4362450"/>
            <a:ext cx="552450" cy="5524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8E25FAB-62E8-497A-970F-5D83B3788883}"/>
              </a:ext>
            </a:extLst>
          </p:cNvPr>
          <p:cNvSpPr>
            <a:spLocks noGrp="1"/>
          </p:cNvSpPr>
          <p:nvPr/>
        </p:nvSpPr>
        <p:spPr>
          <a:xfrm>
            <a:off x="6981825" y="4438650"/>
            <a:ext cx="304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D6099A3-9631-45FB-ADCF-9D02D029BA7B}"/>
              </a:ext>
            </a:extLst>
          </p:cNvPr>
          <p:cNvSpPr>
            <a:spLocks noGrp="1"/>
          </p:cNvSpPr>
          <p:nvPr/>
        </p:nvSpPr>
        <p:spPr>
          <a:xfrm>
            <a:off x="7639050" y="435292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A79BC42-583E-4742-840F-A506F0FDE9CC}"/>
              </a:ext>
            </a:extLst>
          </p:cNvPr>
          <p:cNvSpPr>
            <a:spLocks noGrp="1"/>
          </p:cNvSpPr>
          <p:nvPr/>
        </p:nvSpPr>
        <p:spPr>
          <a:xfrm>
            <a:off x="7658100" y="4733925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rPr>
              <a:t>实现内容与后续优化</a:t>
            </a:r>
          </a:p>
        </p:txBody>
      </p:sp>
    </p:spTree>
    <p:extLst>
      <p:ext uri="{BB962C8B-B14F-4D97-AF65-F5344CB8AC3E}">
        <p14:creationId xmlns:p14="http://schemas.microsoft.com/office/powerpoint/2010/main" val="1551529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9133BAF3-572E-456F-9EC1-07C352BF54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43F0457F-9799-432A-B8BE-398652CD510E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2DD7629-69BC-40CA-A19B-4DECD29FF802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8B3CA4E-F977-4EE3-85F0-7B1EDEADAA12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F089DF9-6D21-4636-BB79-0624EC8201DF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176A618-5FF3-4F47-80CB-949221CFF47A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9FD4FC1-B3A8-4AEB-B2A2-FA3C7CF2FB14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2729EDF-9148-499C-BEB7-91EF24DC88CF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研究背景：常见智能手表路线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2945169-EA83-4A10-831E-25E22874F689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4129E4C-0F53-4F7A-AFF0-2DC749375240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4762500" cy="29718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C7411A1-1104-4A6C-A0FB-8DED3683FD86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95250" cy="29718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40BA945-19D6-4975-BE32-C5E8C2969D25}"/>
              </a:ext>
            </a:extLst>
          </p:cNvPr>
          <p:cNvSpPr>
            <a:spLocks noGrp="1"/>
          </p:cNvSpPr>
          <p:nvPr/>
        </p:nvSpPr>
        <p:spPr>
          <a:xfrm>
            <a:off x="990600" y="1866900"/>
            <a:ext cx="4267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高端品牌路线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CA516C0-599C-416D-90E9-FA43E1B058C7}"/>
              </a:ext>
            </a:extLst>
          </p:cNvPr>
          <p:cNvSpPr>
            <a:spLocks noGrp="1"/>
          </p:cNvSpPr>
          <p:nvPr/>
        </p:nvSpPr>
        <p:spPr>
          <a:xfrm>
            <a:off x="990600" y="2324100"/>
            <a:ext cx="4267200" cy="2190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苹果、华为、三星等品牌通常采用高集成SoC、成熟操作系统和完整生态服务。其优势是操作体验流畅、传感器与算法完善、佩戴体验较好；不足是研发投入、物料成本和整机售价较高，不适合低成本教学样机直接复用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E33A34D-386D-4F24-99D2-8875222D77BA}"/>
              </a:ext>
            </a:extLst>
          </p:cNvPr>
          <p:cNvSpPr>
            <a:spLocks noGrp="1"/>
          </p:cNvSpPr>
          <p:nvPr/>
        </p:nvSpPr>
        <p:spPr>
          <a:xfrm>
            <a:off x="6153150" y="1695450"/>
            <a:ext cx="5334000" cy="29718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DF3C2B6-63A0-43B9-A802-4D8526138ACF}"/>
              </a:ext>
            </a:extLst>
          </p:cNvPr>
          <p:cNvSpPr>
            <a:spLocks noGrp="1"/>
          </p:cNvSpPr>
          <p:nvPr/>
        </p:nvSpPr>
        <p:spPr>
          <a:xfrm>
            <a:off x="6153150" y="1695450"/>
            <a:ext cx="95250" cy="2971800"/>
          </a:xfrm>
          <a:prstGeom prst="rect">
            <a:avLst/>
          </a:prstGeom>
          <a:solidFill>
            <a:srgbClr val="22A7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E7EA57E-85C8-4394-AC0C-6E98FAA32F3A}"/>
              </a:ext>
            </a:extLst>
          </p:cNvPr>
          <p:cNvSpPr>
            <a:spLocks noGrp="1"/>
          </p:cNvSpPr>
          <p:nvPr/>
        </p:nvSpPr>
        <p:spPr>
          <a:xfrm>
            <a:off x="6400800" y="1866900"/>
            <a:ext cx="4838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国内常用低成本路线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DBA0496-C4BE-4C48-83CE-FA33CFDA1356}"/>
              </a:ext>
            </a:extLst>
          </p:cNvPr>
          <p:cNvSpPr>
            <a:spLocks noGrp="1"/>
          </p:cNvSpPr>
          <p:nvPr/>
        </p:nvSpPr>
        <p:spPr>
          <a:xfrm>
            <a:off x="6400800" y="2324100"/>
            <a:ext cx="4838700" cy="2190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低成本手表市场常采用杰理、珠海鸿芯等定制化手表芯片。芯片厂商通常同步提供已写好的手表Demo SDK，厂家通过宏定义配置、界面素材替换、表盘资源替换和局部功能微调，就能较快形成可量产产品。该路线开发周期短、投入少、落地快，但底层架构、交互方式和产品基调容易被SDK锁定，深度定制需要重新理解厂商封装逻辑，产品也更容易趋于同质化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8302C0E-0758-42E7-BDFB-9AD1EE696C18}"/>
              </a:ext>
            </a:extLst>
          </p:cNvPr>
          <p:cNvSpPr>
            <a:spLocks noGrp="1"/>
          </p:cNvSpPr>
          <p:nvPr/>
        </p:nvSpPr>
        <p:spPr>
          <a:xfrm>
            <a:off x="1200150" y="5067300"/>
            <a:ext cx="9791700" cy="7429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2567FE9-A471-4DFF-B660-CDD43AF30827}"/>
              </a:ext>
            </a:extLst>
          </p:cNvPr>
          <p:cNvSpPr>
            <a:spLocks noGrp="1"/>
          </p:cNvSpPr>
          <p:nvPr/>
        </p:nvSpPr>
        <p:spPr>
          <a:xfrm>
            <a:off x="1466850" y="5210175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引出问题</a:t>
            </a:r>
            <a:endParaRPr sz="1650" b="1" dirty="0">
              <a:solidFill>
                <a:srgbClr val="223B7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D8154E4-4325-4689-A988-B6D38D6207A7}"/>
              </a:ext>
            </a:extLst>
          </p:cNvPr>
          <p:cNvSpPr>
            <a:spLocks noGrp="1"/>
          </p:cNvSpPr>
          <p:nvPr/>
        </p:nvSpPr>
        <p:spPr>
          <a:xfrm>
            <a:off x="2724150" y="5162550"/>
            <a:ext cx="8001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现成SDK适合快速量产，但难以展开更深层的二次设计；本课题转向开放MCU平台，从硬件、任务调度和UI刷新机制出发验证另一种实现路径。</a:t>
            </a:r>
          </a:p>
        </p:txBody>
      </p:sp>
    </p:spTree>
    <p:extLst>
      <p:ext uri="{BB962C8B-B14F-4D97-AF65-F5344CB8AC3E}">
        <p14:creationId xmlns:p14="http://schemas.microsoft.com/office/powerpoint/2010/main" val="30532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F2E2A8D2-8F7A-4EFE-BAF8-21DD4670CB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5B6319B-F020-435A-ACC7-068B3210357E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C9A853AB-8CFB-4744-94D3-40E824304D4F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345DC7-8D90-428C-A7AD-2991EE04C570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17F5DC5-B9FA-4621-A2C6-DCAFCB42C12D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5699473-45DC-49E3-A4AC-6752E23DD4B2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A7745B8-1FED-4C5E-830A-937CEC01FE44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343C3EA-99EC-439A-BA32-FDE81A182D56}"/>
              </a:ext>
            </a:extLst>
          </p:cNvPr>
          <p:cNvSpPr>
            <a:spLocks noGrp="1"/>
          </p:cNvSpPr>
          <p:nvPr/>
        </p:nvSpPr>
        <p:spPr>
          <a:xfrm>
            <a:off x="658586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本课题方案：开放MCU平台下的手表</a:t>
            </a:r>
            <a:r>
              <a:rPr lang="zh-CN" altLang="en-US" sz="25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方案</a:t>
            </a:r>
            <a:endParaRPr sz="2550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A18522-86AD-4872-9E19-D5167DD7B83D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233F696-956B-4583-B87E-A39DAB02CD84}"/>
              </a:ext>
            </a:extLst>
          </p:cNvPr>
          <p:cNvSpPr>
            <a:spLocks noGrp="1"/>
          </p:cNvSpPr>
          <p:nvPr/>
        </p:nvSpPr>
        <p:spPr>
          <a:xfrm>
            <a:off x="990600" y="1657350"/>
            <a:ext cx="6762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31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ESP32-S3R8 + FreeRTOS + LVGL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FDCD3C2-CC98-4363-B09F-30B11345DAAB}"/>
              </a:ext>
            </a:extLst>
          </p:cNvPr>
          <p:cNvSpPr>
            <a:spLocks noGrp="1"/>
          </p:cNvSpPr>
          <p:nvPr/>
        </p:nvSpPr>
        <p:spPr>
          <a:xfrm>
            <a:off x="1009650" y="2324100"/>
            <a:ext cx="4457700" cy="47625"/>
          </a:xfrm>
          <a:prstGeom prst="rect">
            <a:avLst/>
          </a:prstGeom>
          <a:solidFill>
            <a:srgbClr val="22A7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0535FC43-4975-44B6-815D-1686B1683F56}"/>
              </a:ext>
            </a:extLst>
          </p:cNvPr>
          <p:cNvSpPr>
            <a:spLocks noGrp="1"/>
          </p:cNvSpPr>
          <p:nvPr/>
        </p:nvSpPr>
        <p:spPr>
          <a:xfrm>
            <a:off x="1066800" y="29051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105ED3C-BD4C-46A2-9315-3ED1833924B5}"/>
              </a:ext>
            </a:extLst>
          </p:cNvPr>
          <p:cNvSpPr>
            <a:spLocks noGrp="1"/>
          </p:cNvSpPr>
          <p:nvPr/>
        </p:nvSpPr>
        <p:spPr>
          <a:xfrm>
            <a:off x="1276350" y="2819400"/>
            <a:ext cx="79819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不依赖封闭手表Demo SDK，从硬件驱动、任务调度到UI刷新自行搭建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89A95D3-F55B-47E0-AB63-E934E406CC35}"/>
              </a:ext>
            </a:extLst>
          </p:cNvPr>
          <p:cNvSpPr>
            <a:spLocks noGrp="1"/>
          </p:cNvSpPr>
          <p:nvPr/>
        </p:nvSpPr>
        <p:spPr>
          <a:xfrm>
            <a:off x="1066800" y="34385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01A8694-56A0-41A3-A1D9-F2AA186C94F4}"/>
              </a:ext>
            </a:extLst>
          </p:cNvPr>
          <p:cNvSpPr>
            <a:spLocks noGrp="1"/>
          </p:cNvSpPr>
          <p:nvPr/>
        </p:nvSpPr>
        <p:spPr>
          <a:xfrm>
            <a:off x="1276350" y="3352800"/>
            <a:ext cx="79819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用FreeRTOS拆分存储、网络、OTA、多媒体与显示任务，降低互相阻塞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5BA0F983-C237-4A60-B82B-D0081D63F646}"/>
              </a:ext>
            </a:extLst>
          </p:cNvPr>
          <p:cNvSpPr>
            <a:spLocks noGrp="1"/>
          </p:cNvSpPr>
          <p:nvPr/>
        </p:nvSpPr>
        <p:spPr>
          <a:xfrm>
            <a:off x="1066800" y="39719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E0B84DA-813B-4EAF-879D-9A96CF336136}"/>
              </a:ext>
            </a:extLst>
          </p:cNvPr>
          <p:cNvSpPr>
            <a:spLocks noGrp="1"/>
          </p:cNvSpPr>
          <p:nvPr/>
        </p:nvSpPr>
        <p:spPr>
          <a:xfrm>
            <a:off x="1276350" y="3886200"/>
            <a:ext cx="79819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用LVGL和GUI Guider构建小屏交互界面，便于快速调整页面与功能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E13EDA7F-18E8-4C1E-9181-10655DD225D2}"/>
              </a:ext>
            </a:extLst>
          </p:cNvPr>
          <p:cNvSpPr>
            <a:spLocks noGrp="1"/>
          </p:cNvSpPr>
          <p:nvPr/>
        </p:nvSpPr>
        <p:spPr>
          <a:xfrm>
            <a:off x="1066800" y="45053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CFC3D1C-2C62-4142-B6B7-09F69D6063A3}"/>
              </a:ext>
            </a:extLst>
          </p:cNvPr>
          <p:cNvSpPr>
            <a:spLocks noGrp="1"/>
          </p:cNvSpPr>
          <p:nvPr/>
        </p:nvSpPr>
        <p:spPr>
          <a:xfrm>
            <a:off x="1276350" y="4419600"/>
            <a:ext cx="79819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保留WiFi、SD卡、RTC、OTA和低功耗接口，便于后续扩展传感器与云端功能</a:t>
            </a:r>
          </a:p>
        </p:txBody>
      </p:sp>
    </p:spTree>
    <p:extLst>
      <p:ext uri="{BB962C8B-B14F-4D97-AF65-F5344CB8AC3E}">
        <p14:creationId xmlns:p14="http://schemas.microsoft.com/office/powerpoint/2010/main" val="216412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D1A5AB4D-8ECF-4EF1-9AF2-302E9DDDDE0B}"/>
              </a:ext>
            </a:extLst>
          </p:cNvPr>
          <p:cNvSpPr>
            <a:spLocks noGrp="1"/>
          </p:cNvSpPr>
          <p:nvPr/>
        </p:nvSpPr>
        <p:spPr>
          <a:xfrm>
            <a:off x="0" y="-16329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132F1F51-373F-447B-BF68-24E7185D6D17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C006127E-13F0-4E60-B0D8-065E0D4316BD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A62FB2C-AD18-41B0-8511-42FE639D500D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4258684-71A0-4176-8020-F4676AADABA0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CC410AE-0B9C-4BC2-8523-54597597FDB0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0B3B307-FE30-4ABB-BA10-337EE0E3B639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EC1A67-88FD-443A-8E57-84E2F37003E9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总体方案：核心器件与功能边界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55F4A77-F1ED-4080-9821-72AABE43E030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545BF6-554A-4221-BF92-56B1AA5296E9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1866900" cy="2362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DF1664A-6E8A-4B47-9B5B-F7E417590630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1866900" cy="495300"/>
          </a:xfrm>
          <a:prstGeom prst="rect">
            <a:avLst/>
          </a:prstGeom>
          <a:solidFill>
            <a:srgbClr val="38548C"/>
          </a:solidFill>
          <a:ln w="9525">
            <a:solidFill>
              <a:srgbClr val="38548C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A69DF69-1E84-4278-8F91-C4B095C3A579}"/>
              </a:ext>
            </a:extLst>
          </p:cNvPr>
          <p:cNvSpPr>
            <a:spLocks noGrp="1"/>
          </p:cNvSpPr>
          <p:nvPr/>
        </p:nvSpPr>
        <p:spPr>
          <a:xfrm>
            <a:off x="781050" y="1885950"/>
            <a:ext cx="1638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主控平台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ADA4FF-94CE-4BCF-9703-600AEEA24C20}"/>
              </a:ext>
            </a:extLst>
          </p:cNvPr>
          <p:cNvSpPr>
            <a:spLocks noGrp="1"/>
          </p:cNvSpPr>
          <p:nvPr/>
        </p:nvSpPr>
        <p:spPr>
          <a:xfrm>
            <a:off x="819150" y="2590800"/>
            <a:ext cx="15621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ESP32-S3R8</a:t>
            </a: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双核240MHz</a:t>
            </a: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8MB PSRAM</a:t>
            </a:r>
            <a:endParaRPr lang="en-US" sz="1650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W25Q128 Flash</a:t>
            </a: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endParaRPr sz="1650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2C9BC03-A30C-4196-842F-DEF2B99E1C03}"/>
              </a:ext>
            </a:extLst>
          </p:cNvPr>
          <p:cNvSpPr>
            <a:spLocks noGrp="1"/>
          </p:cNvSpPr>
          <p:nvPr/>
        </p:nvSpPr>
        <p:spPr>
          <a:xfrm>
            <a:off x="2933700" y="1752600"/>
            <a:ext cx="1866900" cy="2362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DCEE2A3-05E8-4EEA-9CA0-BB19A414C84F}"/>
              </a:ext>
            </a:extLst>
          </p:cNvPr>
          <p:cNvSpPr>
            <a:spLocks noGrp="1"/>
          </p:cNvSpPr>
          <p:nvPr/>
        </p:nvSpPr>
        <p:spPr>
          <a:xfrm>
            <a:off x="2933700" y="1752600"/>
            <a:ext cx="1866900" cy="495300"/>
          </a:xfrm>
          <a:prstGeom prst="rect">
            <a:avLst/>
          </a:prstGeom>
          <a:solidFill>
            <a:srgbClr val="22A7C8"/>
          </a:solidFill>
          <a:ln w="9525">
            <a:solidFill>
              <a:srgbClr val="22A7C8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BD60CCB-CFAF-4E02-84D3-95BD95DCA109}"/>
              </a:ext>
            </a:extLst>
          </p:cNvPr>
          <p:cNvSpPr>
            <a:spLocks noGrp="1"/>
          </p:cNvSpPr>
          <p:nvPr/>
        </p:nvSpPr>
        <p:spPr>
          <a:xfrm>
            <a:off x="3048000" y="1885950"/>
            <a:ext cx="1638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显示交互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28A151D-E47A-4151-83BE-CA61CDC19E10}"/>
              </a:ext>
            </a:extLst>
          </p:cNvPr>
          <p:cNvSpPr>
            <a:spLocks noGrp="1"/>
          </p:cNvSpPr>
          <p:nvPr/>
        </p:nvSpPr>
        <p:spPr>
          <a:xfrm>
            <a:off x="3086100" y="2590800"/>
            <a:ext cx="15621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1.83英寸触控屏</a:t>
            </a: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ST7789P3显示</a:t>
            </a: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CST816T触摸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C2D959E-CC52-4798-ACEC-B27E9CD1E450}"/>
              </a:ext>
            </a:extLst>
          </p:cNvPr>
          <p:cNvSpPr>
            <a:spLocks noGrp="1"/>
          </p:cNvSpPr>
          <p:nvPr/>
        </p:nvSpPr>
        <p:spPr>
          <a:xfrm>
            <a:off x="5200650" y="1752600"/>
            <a:ext cx="1866900" cy="2362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8949F83-F03F-4908-93D5-4417F279F350}"/>
              </a:ext>
            </a:extLst>
          </p:cNvPr>
          <p:cNvSpPr>
            <a:spLocks noGrp="1"/>
          </p:cNvSpPr>
          <p:nvPr/>
        </p:nvSpPr>
        <p:spPr>
          <a:xfrm>
            <a:off x="5200650" y="1752600"/>
            <a:ext cx="1866900" cy="495300"/>
          </a:xfrm>
          <a:prstGeom prst="rect">
            <a:avLst/>
          </a:prstGeom>
          <a:solidFill>
            <a:srgbClr val="20A66A"/>
          </a:solidFill>
          <a:ln w="9525">
            <a:solidFill>
              <a:srgbClr val="20A66A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64D7DA4-DE2E-4BB9-A919-FD7994E5C031}"/>
              </a:ext>
            </a:extLst>
          </p:cNvPr>
          <p:cNvSpPr>
            <a:spLocks noGrp="1"/>
          </p:cNvSpPr>
          <p:nvPr/>
        </p:nvSpPr>
        <p:spPr>
          <a:xfrm>
            <a:off x="5314950" y="1885950"/>
            <a:ext cx="1638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存储</a:t>
            </a:r>
            <a:r>
              <a:rPr lang="zh-CN" altLang="en-US" sz="16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sz="16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时间</a:t>
            </a:r>
            <a:endParaRPr sz="165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E15EFD9-5917-4A95-8BA7-DDD45ABC3B51}"/>
              </a:ext>
            </a:extLst>
          </p:cNvPr>
          <p:cNvSpPr>
            <a:spLocks noGrp="1"/>
          </p:cNvSpPr>
          <p:nvPr/>
        </p:nvSpPr>
        <p:spPr>
          <a:xfrm>
            <a:off x="5353050" y="2590800"/>
            <a:ext cx="15621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Micro </a:t>
            </a:r>
            <a:r>
              <a:rPr sz="1650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SD卡</a:t>
            </a:r>
            <a:endParaRPr sz="1650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SD3078 RTC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6E028EA-3CFB-4C14-8431-67D3B62A1DFE}"/>
              </a:ext>
            </a:extLst>
          </p:cNvPr>
          <p:cNvSpPr>
            <a:spLocks noGrp="1"/>
          </p:cNvSpPr>
          <p:nvPr/>
        </p:nvSpPr>
        <p:spPr>
          <a:xfrm>
            <a:off x="7467600" y="1752600"/>
            <a:ext cx="1866900" cy="2362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BCC0638-8EB1-4CCE-AF1C-B07E887EE7B1}"/>
              </a:ext>
            </a:extLst>
          </p:cNvPr>
          <p:cNvSpPr>
            <a:spLocks noGrp="1"/>
          </p:cNvSpPr>
          <p:nvPr/>
        </p:nvSpPr>
        <p:spPr>
          <a:xfrm>
            <a:off x="7467600" y="1752600"/>
            <a:ext cx="1866900" cy="495300"/>
          </a:xfrm>
          <a:prstGeom prst="rect">
            <a:avLst/>
          </a:prstGeom>
          <a:solidFill>
            <a:srgbClr val="F2A21B"/>
          </a:solidFill>
          <a:ln w="9525">
            <a:solidFill>
              <a:srgbClr val="F2A21B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4D3246-68F3-4F72-8BCD-C5B58BB0EBA3}"/>
              </a:ext>
            </a:extLst>
          </p:cNvPr>
          <p:cNvSpPr>
            <a:spLocks noGrp="1"/>
          </p:cNvSpPr>
          <p:nvPr/>
        </p:nvSpPr>
        <p:spPr>
          <a:xfrm>
            <a:off x="7581900" y="1885950"/>
            <a:ext cx="1638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软件支撑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D39EB9D-4893-469E-9325-1EEF7B40051D}"/>
              </a:ext>
            </a:extLst>
          </p:cNvPr>
          <p:cNvSpPr>
            <a:spLocks noGrp="1"/>
          </p:cNvSpPr>
          <p:nvPr/>
        </p:nvSpPr>
        <p:spPr>
          <a:xfrm>
            <a:off x="7620000" y="2590800"/>
            <a:ext cx="15621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ESP32-idf</a:t>
            </a: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LVGL</a:t>
            </a: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GUI </a:t>
            </a:r>
            <a:r>
              <a:rPr sz="1650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Guider辅助</a:t>
            </a:r>
            <a:endParaRPr sz="1650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1B6BFE8-068B-4E10-9139-93E7CDDF964C}"/>
              </a:ext>
            </a:extLst>
          </p:cNvPr>
          <p:cNvSpPr>
            <a:spLocks noGrp="1"/>
          </p:cNvSpPr>
          <p:nvPr/>
        </p:nvSpPr>
        <p:spPr>
          <a:xfrm>
            <a:off x="9734550" y="1752600"/>
            <a:ext cx="1866900" cy="2362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74B1110-44CE-4374-9AA2-215437CAFF3A}"/>
              </a:ext>
            </a:extLst>
          </p:cNvPr>
          <p:cNvSpPr>
            <a:spLocks noGrp="1"/>
          </p:cNvSpPr>
          <p:nvPr/>
        </p:nvSpPr>
        <p:spPr>
          <a:xfrm>
            <a:off x="9734550" y="1752600"/>
            <a:ext cx="1866900" cy="495300"/>
          </a:xfrm>
          <a:prstGeom prst="rect">
            <a:avLst/>
          </a:prstGeom>
          <a:solidFill>
            <a:srgbClr val="E35D5B"/>
          </a:solidFill>
          <a:ln w="9525">
            <a:solidFill>
              <a:srgbClr val="E35D5B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C03E4D8-41FB-492F-80B2-C5EC7868DB8E}"/>
              </a:ext>
            </a:extLst>
          </p:cNvPr>
          <p:cNvSpPr>
            <a:spLocks noGrp="1"/>
          </p:cNvSpPr>
          <p:nvPr/>
        </p:nvSpPr>
        <p:spPr>
          <a:xfrm>
            <a:off x="9848850" y="1885950"/>
            <a:ext cx="1638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联网</a:t>
            </a:r>
            <a:r>
              <a:rPr lang="zh-CN" altLang="en-US" sz="16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sz="16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维护</a:t>
            </a:r>
            <a:endParaRPr sz="165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4B28181-0B6C-4C97-A2D7-9707344DFA13}"/>
              </a:ext>
            </a:extLst>
          </p:cNvPr>
          <p:cNvSpPr>
            <a:spLocks noGrp="1"/>
          </p:cNvSpPr>
          <p:nvPr/>
        </p:nvSpPr>
        <p:spPr>
          <a:xfrm>
            <a:off x="9886950" y="2590800"/>
            <a:ext cx="15621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WiFi连接</a:t>
            </a:r>
            <a:endParaRPr sz="1650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天气</a:t>
            </a: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/NTP/MQTT</a:t>
            </a: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本地与云端OTA</a:t>
            </a:r>
            <a:endParaRPr sz="1650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F5DC6B6-ED3C-4E7D-B420-6E76683B096A}"/>
              </a:ext>
            </a:extLst>
          </p:cNvPr>
          <p:cNvSpPr>
            <a:spLocks noGrp="1"/>
          </p:cNvSpPr>
          <p:nvPr/>
        </p:nvSpPr>
        <p:spPr>
          <a:xfrm>
            <a:off x="1104900" y="4819650"/>
            <a:ext cx="9906000" cy="7429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2D3AC75-C1EC-4F1E-81F1-AAA22F5C7F07}"/>
              </a:ext>
            </a:extLst>
          </p:cNvPr>
          <p:cNvSpPr>
            <a:spLocks noGrp="1"/>
          </p:cNvSpPr>
          <p:nvPr/>
        </p:nvSpPr>
        <p:spPr>
          <a:xfrm>
            <a:off x="1352550" y="495300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总体边界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8395907-6C15-43BC-B7FF-F606B99A8033}"/>
              </a:ext>
            </a:extLst>
          </p:cNvPr>
          <p:cNvSpPr>
            <a:spLocks noGrp="1"/>
          </p:cNvSpPr>
          <p:nvPr/>
        </p:nvSpPr>
        <p:spPr>
          <a:xfrm>
            <a:off x="2686050" y="4933950"/>
            <a:ext cx="781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硬件提供显示、触摸、存储、时钟、网络和电源能力；软件完成任务调度、界面刷新、数据读取、网络协同与低功耗控制</a:t>
            </a:r>
            <a:r>
              <a:rPr sz="157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439829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>
            <a:extLst>
              <a:ext uri="{FF2B5EF4-FFF2-40B4-BE49-F238E27FC236}">
                <a16:creationId xmlns:a16="http://schemas.microsoft.com/office/drawing/2014/main" id="{B2CA1690-EECE-4111-8204-EDDB2B4C6862}"/>
              </a:ext>
            </a:extLst>
          </p:cNvPr>
          <p:cNvSpPr>
            <a:spLocks noGrp="1"/>
          </p:cNvSpPr>
          <p:nvPr/>
        </p:nvSpPr>
        <p:spPr>
          <a:xfrm>
            <a:off x="381000" y="523875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7CE4823E-5403-4725-90EB-EF9C1E0644E5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48E4B14E-1167-4781-BABD-48B163571D93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D922B39-4408-4D77-914C-1AA91F92E5D0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E6C8080-094C-4297-B67C-83E3CB8C65D6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E4F63F9-EA60-48C1-9B93-A73595EC82A8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A8022B3-8E3F-49CE-8B26-34058BDFCEE4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69D410A-0229-46D7-AD77-8BD0E259ACEA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系统设计需求与性能指标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E0F28AA-2FBB-4A70-8E9A-E475EB284972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50113B8-B99A-4370-AF6B-A79EDD910375}"/>
              </a:ext>
            </a:extLst>
          </p:cNvPr>
          <p:cNvSpPr>
            <a:spLocks noGrp="1"/>
          </p:cNvSpPr>
          <p:nvPr/>
        </p:nvSpPr>
        <p:spPr>
          <a:xfrm>
            <a:off x="742950" y="1581150"/>
            <a:ext cx="133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设计需求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3D79EF3-FCF8-4D1C-90E9-D7DA8026F9E5}"/>
              </a:ext>
            </a:extLst>
          </p:cNvPr>
          <p:cNvSpPr>
            <a:spLocks noGrp="1"/>
          </p:cNvSpPr>
          <p:nvPr/>
        </p:nvSpPr>
        <p:spPr>
          <a:xfrm>
            <a:off x="704850" y="1981200"/>
            <a:ext cx="1752600" cy="11620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41B4B5C-67FC-42B7-95D8-9D4BF38413F7}"/>
              </a:ext>
            </a:extLst>
          </p:cNvPr>
          <p:cNvSpPr>
            <a:spLocks noGrp="1"/>
          </p:cNvSpPr>
          <p:nvPr/>
        </p:nvSpPr>
        <p:spPr>
          <a:xfrm>
            <a:off x="1181100" y="2114550"/>
            <a:ext cx="1047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基础显示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FF7AF0D-F6FB-47C8-87D2-B86007E412AD}"/>
              </a:ext>
            </a:extLst>
          </p:cNvPr>
          <p:cNvSpPr>
            <a:spLocks noGrp="1"/>
          </p:cNvSpPr>
          <p:nvPr/>
        </p:nvSpPr>
        <p:spPr>
          <a:xfrm>
            <a:off x="876300" y="257175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00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日期、时间、壁纸切换</a:t>
            </a:r>
            <a:endParaRPr sz="1200" b="0" dirty="0">
              <a:solidFill>
                <a:srgbClr val="4C60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8C8E1D6-C25A-4490-8425-F5F6A9A19DF8}"/>
              </a:ext>
            </a:extLst>
          </p:cNvPr>
          <p:cNvSpPr>
            <a:spLocks noGrp="1"/>
          </p:cNvSpPr>
          <p:nvPr/>
        </p:nvSpPr>
        <p:spPr>
          <a:xfrm>
            <a:off x="2914650" y="1981200"/>
            <a:ext cx="1752600" cy="11620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2629ECC-B1C4-471C-B027-F73F23028D7A}"/>
              </a:ext>
            </a:extLst>
          </p:cNvPr>
          <p:cNvSpPr>
            <a:spLocks noGrp="1"/>
          </p:cNvSpPr>
          <p:nvPr/>
        </p:nvSpPr>
        <p:spPr>
          <a:xfrm>
            <a:off x="3390900" y="2114550"/>
            <a:ext cx="1047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触摸交互</a:t>
            </a:r>
            <a:endParaRPr sz="1575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DDB07C5-EB37-45FE-B030-F61594DA5FD5}"/>
              </a:ext>
            </a:extLst>
          </p:cNvPr>
          <p:cNvSpPr>
            <a:spLocks noGrp="1"/>
          </p:cNvSpPr>
          <p:nvPr/>
        </p:nvSpPr>
        <p:spPr>
          <a:xfrm>
            <a:off x="3086100" y="257175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00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点击、滑动</a:t>
            </a:r>
            <a:r>
              <a:rPr lang="zh-CN" altLang="en-US" sz="1200" b="0" dirty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流畅</a:t>
            </a:r>
            <a:endParaRPr sz="1200" b="0" dirty="0">
              <a:solidFill>
                <a:srgbClr val="4C60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2C30022-BD70-4B73-94CF-5A13F9FC909B}"/>
              </a:ext>
            </a:extLst>
          </p:cNvPr>
          <p:cNvSpPr>
            <a:spLocks noGrp="1"/>
          </p:cNvSpPr>
          <p:nvPr/>
        </p:nvSpPr>
        <p:spPr>
          <a:xfrm>
            <a:off x="5124450" y="1981200"/>
            <a:ext cx="1752600" cy="11620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38E635F-0BC0-4340-BA90-562411CEAD61}"/>
              </a:ext>
            </a:extLst>
          </p:cNvPr>
          <p:cNvSpPr>
            <a:spLocks noGrp="1"/>
          </p:cNvSpPr>
          <p:nvPr/>
        </p:nvSpPr>
        <p:spPr>
          <a:xfrm>
            <a:off x="5600700" y="2114550"/>
            <a:ext cx="1047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本地资源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04CDFF1-3F0D-4086-B3DD-2B48B5D92DF1}"/>
              </a:ext>
            </a:extLst>
          </p:cNvPr>
          <p:cNvSpPr>
            <a:spLocks noGrp="1"/>
          </p:cNvSpPr>
          <p:nvPr/>
        </p:nvSpPr>
        <p:spPr>
          <a:xfrm>
            <a:off x="5295900" y="257175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00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SD卡</a:t>
            </a:r>
            <a:r>
              <a:rPr lang="zh-CN" altLang="en-US" sz="1200" b="0" dirty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显示</a:t>
            </a:r>
            <a:r>
              <a:rPr sz="1200" b="0" dirty="0" err="1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图片、MJPEG视频、TXT小说</a:t>
            </a:r>
            <a:endParaRPr sz="1200" b="0" dirty="0">
              <a:solidFill>
                <a:srgbClr val="4C60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B06AE58-6F3D-4892-B04E-D8C8D73BD98D}"/>
              </a:ext>
            </a:extLst>
          </p:cNvPr>
          <p:cNvSpPr>
            <a:spLocks noGrp="1"/>
          </p:cNvSpPr>
          <p:nvPr/>
        </p:nvSpPr>
        <p:spPr>
          <a:xfrm>
            <a:off x="7334250" y="1981200"/>
            <a:ext cx="1752600" cy="11620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B53E397-1363-4773-8599-C4CB41EF4E3F}"/>
              </a:ext>
            </a:extLst>
          </p:cNvPr>
          <p:cNvSpPr>
            <a:spLocks noGrp="1"/>
          </p:cNvSpPr>
          <p:nvPr/>
        </p:nvSpPr>
        <p:spPr>
          <a:xfrm>
            <a:off x="7810500" y="2114550"/>
            <a:ext cx="1047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联网维护</a:t>
            </a:r>
            <a:endParaRPr sz="1575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A0B83D8-66D9-433E-9E82-1E6341D67525}"/>
              </a:ext>
            </a:extLst>
          </p:cNvPr>
          <p:cNvSpPr>
            <a:spLocks noGrp="1"/>
          </p:cNvSpPr>
          <p:nvPr/>
        </p:nvSpPr>
        <p:spPr>
          <a:xfrm>
            <a:off x="7505700" y="257175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00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WiFi、天气、NTP、MQTT、OTA</a:t>
            </a:r>
            <a:endParaRPr sz="1200" b="0" dirty="0">
              <a:solidFill>
                <a:srgbClr val="4C60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F061212-B784-443E-ACC2-C680D32F2F66}"/>
              </a:ext>
            </a:extLst>
          </p:cNvPr>
          <p:cNvSpPr>
            <a:spLocks noGrp="1"/>
          </p:cNvSpPr>
          <p:nvPr/>
        </p:nvSpPr>
        <p:spPr>
          <a:xfrm>
            <a:off x="9544050" y="1981200"/>
            <a:ext cx="1752600" cy="11620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516154B-A298-4A8F-AEDA-5A83449F6A0B}"/>
              </a:ext>
            </a:extLst>
          </p:cNvPr>
          <p:cNvSpPr>
            <a:spLocks noGrp="1"/>
          </p:cNvSpPr>
          <p:nvPr/>
        </p:nvSpPr>
        <p:spPr>
          <a:xfrm>
            <a:off x="9927771" y="2114550"/>
            <a:ext cx="1140279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低功耗</a:t>
            </a:r>
            <a:endParaRPr sz="1575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E642B12-3DAF-4593-BBC8-C7D049496F36}"/>
              </a:ext>
            </a:extLst>
          </p:cNvPr>
          <p:cNvSpPr>
            <a:spLocks noGrp="1"/>
          </p:cNvSpPr>
          <p:nvPr/>
        </p:nvSpPr>
        <p:spPr>
          <a:xfrm>
            <a:off x="9715500" y="257175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00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轻休眠、深休眠、按键</a:t>
            </a:r>
            <a:r>
              <a:rPr lang="zh-CN" altLang="en-US" sz="1200" b="0" dirty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触摸</a:t>
            </a:r>
            <a:r>
              <a:rPr sz="1200" b="0" dirty="0" err="1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唤醒</a:t>
            </a:r>
            <a:endParaRPr sz="1200" b="0" dirty="0">
              <a:solidFill>
                <a:srgbClr val="4C60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773AAB0-6E80-4729-9F15-5CF2FD64DF4A}"/>
              </a:ext>
            </a:extLst>
          </p:cNvPr>
          <p:cNvSpPr>
            <a:spLocks noGrp="1"/>
          </p:cNvSpPr>
          <p:nvPr/>
        </p:nvSpPr>
        <p:spPr>
          <a:xfrm>
            <a:off x="742950" y="3524250"/>
            <a:ext cx="10553700" cy="19050"/>
          </a:xfrm>
          <a:prstGeom prst="rect">
            <a:avLst/>
          </a:prstGeom>
          <a:solidFill>
            <a:srgbClr val="C9D9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0229C78-2626-47B6-9640-861D204418FF}"/>
              </a:ext>
            </a:extLst>
          </p:cNvPr>
          <p:cNvSpPr>
            <a:spLocks noGrp="1"/>
          </p:cNvSpPr>
          <p:nvPr/>
        </p:nvSpPr>
        <p:spPr>
          <a:xfrm>
            <a:off x="742950" y="3810000"/>
            <a:ext cx="133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性能指标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E79109C-E73E-4733-BE87-C77BD315A5E8}"/>
              </a:ext>
            </a:extLst>
          </p:cNvPr>
          <p:cNvSpPr>
            <a:spLocks noGrp="1"/>
          </p:cNvSpPr>
          <p:nvPr/>
        </p:nvSpPr>
        <p:spPr>
          <a:xfrm>
            <a:off x="819150" y="4095750"/>
            <a:ext cx="1504950" cy="14287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8AA389B-80CB-4996-B470-AD582A6AB130}"/>
              </a:ext>
            </a:extLst>
          </p:cNvPr>
          <p:cNvSpPr>
            <a:spLocks noGrp="1"/>
          </p:cNvSpPr>
          <p:nvPr/>
        </p:nvSpPr>
        <p:spPr>
          <a:xfrm>
            <a:off x="914400" y="4305300"/>
            <a:ext cx="1314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3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≤50ms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F0D0202-6733-49A2-8296-FC47341FE170}"/>
              </a:ext>
            </a:extLst>
          </p:cNvPr>
          <p:cNvSpPr>
            <a:spLocks noGrp="1"/>
          </p:cNvSpPr>
          <p:nvPr/>
        </p:nvSpPr>
        <p:spPr>
          <a:xfrm>
            <a:off x="933450" y="4838700"/>
            <a:ext cx="1276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触控响应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57564FA-A018-4AF4-9307-08E55CEB833F}"/>
              </a:ext>
            </a:extLst>
          </p:cNvPr>
          <p:cNvSpPr>
            <a:spLocks noGrp="1"/>
          </p:cNvSpPr>
          <p:nvPr/>
        </p:nvSpPr>
        <p:spPr>
          <a:xfrm>
            <a:off x="990600" y="5200650"/>
            <a:ext cx="1162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点击与滑动及时反馈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F958994-DFBA-4B9B-9F1D-FFF80DBD3CA1}"/>
              </a:ext>
            </a:extLst>
          </p:cNvPr>
          <p:cNvSpPr>
            <a:spLocks noGrp="1"/>
          </p:cNvSpPr>
          <p:nvPr/>
        </p:nvSpPr>
        <p:spPr>
          <a:xfrm>
            <a:off x="2590800" y="4095750"/>
            <a:ext cx="1504950" cy="14287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EA62056-CBEF-47F8-B162-99F719CEFCEF}"/>
              </a:ext>
            </a:extLst>
          </p:cNvPr>
          <p:cNvSpPr>
            <a:spLocks noGrp="1"/>
          </p:cNvSpPr>
          <p:nvPr/>
        </p:nvSpPr>
        <p:spPr>
          <a:xfrm>
            <a:off x="2686050" y="4305300"/>
            <a:ext cx="1314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325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rPr>
              <a:t>约25fps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CB79DB7-2652-491C-BACA-E05C9A8F7820}"/>
              </a:ext>
            </a:extLst>
          </p:cNvPr>
          <p:cNvSpPr>
            <a:spLocks noGrp="1"/>
          </p:cNvSpPr>
          <p:nvPr/>
        </p:nvSpPr>
        <p:spPr>
          <a:xfrm>
            <a:off x="2705100" y="4838700"/>
            <a:ext cx="1276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视频播放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BA2567E-B63B-4B07-9475-C646BE8BEEA0}"/>
              </a:ext>
            </a:extLst>
          </p:cNvPr>
          <p:cNvSpPr>
            <a:spLocks noGrp="1"/>
          </p:cNvSpPr>
          <p:nvPr/>
        </p:nvSpPr>
        <p:spPr>
          <a:xfrm>
            <a:off x="2762250" y="5200650"/>
            <a:ext cx="1162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普通MJPEG连续播放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023664C-8C3A-4400-85AB-D72CCBACA2F6}"/>
              </a:ext>
            </a:extLst>
          </p:cNvPr>
          <p:cNvSpPr>
            <a:spLocks noGrp="1"/>
          </p:cNvSpPr>
          <p:nvPr/>
        </p:nvSpPr>
        <p:spPr>
          <a:xfrm>
            <a:off x="4362450" y="4095750"/>
            <a:ext cx="1504950" cy="14287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F6028C5-3BDA-43EC-BEAC-DFE96946C046}"/>
              </a:ext>
            </a:extLst>
          </p:cNvPr>
          <p:cNvSpPr>
            <a:spLocks noGrp="1"/>
          </p:cNvSpPr>
          <p:nvPr/>
        </p:nvSpPr>
        <p:spPr>
          <a:xfrm>
            <a:off x="4457700" y="4305300"/>
            <a:ext cx="1314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325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120s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80831A4-6A23-4804-9064-251BDBE1AFBE}"/>
              </a:ext>
            </a:extLst>
          </p:cNvPr>
          <p:cNvSpPr>
            <a:spLocks noGrp="1"/>
          </p:cNvSpPr>
          <p:nvPr/>
        </p:nvSpPr>
        <p:spPr>
          <a:xfrm>
            <a:off x="4476750" y="4838700"/>
            <a:ext cx="1276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轻休眠触发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A14BC8C-BAD0-41C0-AE75-684D60938D1E}"/>
              </a:ext>
            </a:extLst>
          </p:cNvPr>
          <p:cNvSpPr>
            <a:spLocks noGrp="1"/>
          </p:cNvSpPr>
          <p:nvPr/>
        </p:nvSpPr>
        <p:spPr>
          <a:xfrm>
            <a:off x="4533900" y="5200650"/>
            <a:ext cx="1162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无操作自动进入</a:t>
            </a:r>
            <a:endParaRPr sz="1275" b="0" dirty="0">
              <a:solidFill>
                <a:srgbClr val="4C60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233756F-D7A3-4B97-81DA-73E6B91229D6}"/>
              </a:ext>
            </a:extLst>
          </p:cNvPr>
          <p:cNvSpPr>
            <a:spLocks noGrp="1"/>
          </p:cNvSpPr>
          <p:nvPr/>
        </p:nvSpPr>
        <p:spPr>
          <a:xfrm>
            <a:off x="6134100" y="4095750"/>
            <a:ext cx="1504950" cy="14287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1D057C0B-2FB4-43E4-8279-F87976B27214}"/>
              </a:ext>
            </a:extLst>
          </p:cNvPr>
          <p:cNvSpPr>
            <a:spLocks noGrp="1"/>
          </p:cNvSpPr>
          <p:nvPr/>
        </p:nvSpPr>
        <p:spPr>
          <a:xfrm>
            <a:off x="6229350" y="4305300"/>
            <a:ext cx="1314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325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约3s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C798D83A-B0EB-449B-93F9-1F3DD7587A10}"/>
              </a:ext>
            </a:extLst>
          </p:cNvPr>
          <p:cNvSpPr>
            <a:spLocks noGrp="1"/>
          </p:cNvSpPr>
          <p:nvPr/>
        </p:nvSpPr>
        <p:spPr>
          <a:xfrm>
            <a:off x="6248400" y="4838700"/>
            <a:ext cx="1276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深休眠触发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CD87765-5936-4402-B33B-0FAC29A11553}"/>
              </a:ext>
            </a:extLst>
          </p:cNvPr>
          <p:cNvSpPr>
            <a:spLocks noGrp="1"/>
          </p:cNvSpPr>
          <p:nvPr/>
        </p:nvSpPr>
        <p:spPr>
          <a:xfrm>
            <a:off x="6305550" y="5200650"/>
            <a:ext cx="1162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长按确认键进入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0201B5D-AFF9-4535-B1CC-0A9D3D69EA49}"/>
              </a:ext>
            </a:extLst>
          </p:cNvPr>
          <p:cNvSpPr>
            <a:spLocks noGrp="1"/>
          </p:cNvSpPr>
          <p:nvPr/>
        </p:nvSpPr>
        <p:spPr>
          <a:xfrm>
            <a:off x="7905750" y="4095750"/>
            <a:ext cx="1504950" cy="14287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47ADF8D-6BA3-442E-8FC6-A54725F2DD70}"/>
              </a:ext>
            </a:extLst>
          </p:cNvPr>
          <p:cNvSpPr>
            <a:spLocks noGrp="1"/>
          </p:cNvSpPr>
          <p:nvPr/>
        </p:nvSpPr>
        <p:spPr>
          <a:xfrm>
            <a:off x="8001000" y="4305300"/>
            <a:ext cx="1314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3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0.008A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979317DE-ED85-42C6-8CE5-C8E9AAB0EE56}"/>
              </a:ext>
            </a:extLst>
          </p:cNvPr>
          <p:cNvSpPr>
            <a:spLocks noGrp="1"/>
          </p:cNvSpPr>
          <p:nvPr/>
        </p:nvSpPr>
        <p:spPr>
          <a:xfrm>
            <a:off x="8020050" y="4838700"/>
            <a:ext cx="1276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轻休眠电流</a:t>
            </a:r>
            <a:endParaRPr sz="1575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66C56210-866E-4165-8CB2-4F5B3D6D9934}"/>
              </a:ext>
            </a:extLst>
          </p:cNvPr>
          <p:cNvSpPr>
            <a:spLocks noGrp="1"/>
          </p:cNvSpPr>
          <p:nvPr/>
        </p:nvSpPr>
        <p:spPr>
          <a:xfrm>
            <a:off x="8077200" y="5200650"/>
            <a:ext cx="1162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关闭背光与部分外设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1E55D18-6E23-479A-ABC2-83DF80CB47C8}"/>
              </a:ext>
            </a:extLst>
          </p:cNvPr>
          <p:cNvSpPr>
            <a:spLocks noGrp="1"/>
          </p:cNvSpPr>
          <p:nvPr/>
        </p:nvSpPr>
        <p:spPr>
          <a:xfrm>
            <a:off x="9677400" y="4095750"/>
            <a:ext cx="1504950" cy="14287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3678349-3732-4373-AB29-A83D844F266A}"/>
              </a:ext>
            </a:extLst>
          </p:cNvPr>
          <p:cNvSpPr>
            <a:spLocks noGrp="1"/>
          </p:cNvSpPr>
          <p:nvPr/>
        </p:nvSpPr>
        <p:spPr>
          <a:xfrm>
            <a:off x="9772650" y="4305300"/>
            <a:ext cx="1314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325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0.006A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59FD5BD-755D-4EF9-A4BD-63A18278FB41}"/>
              </a:ext>
            </a:extLst>
          </p:cNvPr>
          <p:cNvSpPr>
            <a:spLocks noGrp="1"/>
          </p:cNvSpPr>
          <p:nvPr/>
        </p:nvSpPr>
        <p:spPr>
          <a:xfrm>
            <a:off x="9791700" y="4838700"/>
            <a:ext cx="1276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深休眠电流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6B524881-C1EA-4E71-AE3B-356B24325FF2}"/>
              </a:ext>
            </a:extLst>
          </p:cNvPr>
          <p:cNvSpPr>
            <a:spLocks noGrp="1"/>
          </p:cNvSpPr>
          <p:nvPr/>
        </p:nvSpPr>
        <p:spPr>
          <a:xfrm>
            <a:off x="9848850" y="5200650"/>
            <a:ext cx="1162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仅保留必要唤醒条件</a:t>
            </a:r>
          </a:p>
        </p:txBody>
      </p:sp>
    </p:spTree>
    <p:extLst>
      <p:ext uri="{BB962C8B-B14F-4D97-AF65-F5344CB8AC3E}">
        <p14:creationId xmlns:p14="http://schemas.microsoft.com/office/powerpoint/2010/main" val="1454224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7AAF24DD-42D4-4C02-8A56-BF04EED1EE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A21B9123-BF10-405F-8F69-65993F94BC9C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7CC26D3-9F3B-435A-878B-9A3BCD936E1B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C9300C3-C074-40F9-9DB7-707844B54E57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4BF3CAF-957A-4F55-881E-7FD8B2BB4D1D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76FE895-10D4-4E32-862A-6E57B6C96743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4ED91A6-CC7B-4496-A72B-D3B622A365DA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4831B30-D884-4266-AC3B-FF57C4ECB252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总体架构：硬件支撑、任务协同与显示刷新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5FBF2C0-71A2-41B1-9241-4397B3ED6343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8318D2-154B-432D-ABD7-64F164151A14}"/>
              </a:ext>
            </a:extLst>
          </p:cNvPr>
          <p:cNvSpPr>
            <a:spLocks noGrp="1"/>
          </p:cNvSpPr>
          <p:nvPr/>
        </p:nvSpPr>
        <p:spPr>
          <a:xfrm>
            <a:off x="495300" y="1466850"/>
            <a:ext cx="8096250" cy="43434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9955" y="1581150"/>
            <a:ext cx="7306940" cy="41148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AE460DA0-74BC-4898-A1C3-D8CD6C3E352B}"/>
              </a:ext>
            </a:extLst>
          </p:cNvPr>
          <p:cNvSpPr>
            <a:spLocks noGrp="1"/>
          </p:cNvSpPr>
          <p:nvPr/>
        </p:nvSpPr>
        <p:spPr>
          <a:xfrm>
            <a:off x="8953500" y="1638300"/>
            <a:ext cx="114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D1FDB741-6E32-4BB6-9157-ED079F8F0F41}"/>
              </a:ext>
            </a:extLst>
          </p:cNvPr>
          <p:cNvSpPr>
            <a:spLocks noGrp="1"/>
          </p:cNvSpPr>
          <p:nvPr/>
        </p:nvSpPr>
        <p:spPr>
          <a:xfrm>
            <a:off x="8991600" y="22574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10A5E01-5E6D-41CD-A5CA-8F3DA0747612}"/>
              </a:ext>
            </a:extLst>
          </p:cNvPr>
          <p:cNvSpPr>
            <a:spLocks noGrp="1"/>
          </p:cNvSpPr>
          <p:nvPr/>
        </p:nvSpPr>
        <p:spPr>
          <a:xfrm>
            <a:off x="9201150" y="2171700"/>
            <a:ext cx="22479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硬件层封装显示、触摸、存储、时钟、网络和电源能力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B2E71B69-AB1C-4CF1-BF3B-841F796C3439}"/>
              </a:ext>
            </a:extLst>
          </p:cNvPr>
          <p:cNvSpPr>
            <a:spLocks noGrp="1"/>
          </p:cNvSpPr>
          <p:nvPr/>
        </p:nvSpPr>
        <p:spPr>
          <a:xfrm>
            <a:off x="8991600" y="29432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3E5C7E2-414B-4A3C-8906-C271A554F82F}"/>
              </a:ext>
            </a:extLst>
          </p:cNvPr>
          <p:cNvSpPr>
            <a:spLocks noGrp="1"/>
          </p:cNvSpPr>
          <p:nvPr/>
        </p:nvSpPr>
        <p:spPr>
          <a:xfrm>
            <a:off x="9201150" y="2857500"/>
            <a:ext cx="22479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应用层按功能拆分为系统服务、OTA、多媒体、网络和存储任务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30E41BC3-B0E4-413A-B5DF-0B767B366FE3}"/>
              </a:ext>
            </a:extLst>
          </p:cNvPr>
          <p:cNvSpPr>
            <a:spLocks noGrp="1"/>
          </p:cNvSpPr>
          <p:nvPr/>
        </p:nvSpPr>
        <p:spPr>
          <a:xfrm>
            <a:off x="8991600" y="36290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22B8500-17DF-487C-A04E-1317F718404D}"/>
              </a:ext>
            </a:extLst>
          </p:cNvPr>
          <p:cNvSpPr>
            <a:spLocks noGrp="1"/>
          </p:cNvSpPr>
          <p:nvPr/>
        </p:nvSpPr>
        <p:spPr>
          <a:xfrm>
            <a:off x="9201150" y="3543300"/>
            <a:ext cx="22479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应用层状态变化统一写入异步消息队列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456E76F7-059B-40D1-8EE8-023912072B1D}"/>
              </a:ext>
            </a:extLst>
          </p:cNvPr>
          <p:cNvSpPr>
            <a:spLocks noGrp="1"/>
          </p:cNvSpPr>
          <p:nvPr/>
        </p:nvSpPr>
        <p:spPr>
          <a:xfrm>
            <a:off x="8991600" y="43148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C02B045-FE30-4875-B090-A4A4D0637DC8}"/>
              </a:ext>
            </a:extLst>
          </p:cNvPr>
          <p:cNvSpPr>
            <a:spLocks noGrp="1"/>
          </p:cNvSpPr>
          <p:nvPr/>
        </p:nvSpPr>
        <p:spPr>
          <a:xfrm>
            <a:off x="9201150" y="4229100"/>
            <a:ext cx="22479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显示层消费队列消息，完成页面刷新、事件分发和屏幕输出</a:t>
            </a:r>
          </a:p>
        </p:txBody>
      </p:sp>
    </p:spTree>
    <p:extLst>
      <p:ext uri="{BB962C8B-B14F-4D97-AF65-F5344CB8AC3E}">
        <p14:creationId xmlns:p14="http://schemas.microsoft.com/office/powerpoint/2010/main" val="733324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F9816352-DA53-4E80-B392-3767AE9F31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CCAE666A-5FC4-47D6-AA22-4DA14F29B254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C8CDBE8-3425-4E7C-B454-5D423181B164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4BD49FC-B0C9-433C-8F74-098DCD861611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5B4520-AA59-4593-AD00-8064744222D4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19A0D06-0560-4B61-849C-CD550570AE6A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66EACFE-ABC1-4E84-906E-27A1CBD19106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19FD715-2CF6-4E3F-933C-B76318FE5D8E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最小系统：ESP32-S3R8芯片级设计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97D0D67-85E7-4C4B-BD58-84387E29743B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E28C658-F002-45E6-A5AF-F76708D06153}"/>
              </a:ext>
            </a:extLst>
          </p:cNvPr>
          <p:cNvSpPr>
            <a:spLocks noGrp="1"/>
          </p:cNvSpPr>
          <p:nvPr/>
        </p:nvSpPr>
        <p:spPr>
          <a:xfrm>
            <a:off x="838200" y="1752600"/>
            <a:ext cx="4857750" cy="1219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6FDCFA4-A1FB-457E-A925-80E780AAE32E}"/>
              </a:ext>
            </a:extLst>
          </p:cNvPr>
          <p:cNvSpPr>
            <a:spLocks noGrp="1"/>
          </p:cNvSpPr>
          <p:nvPr/>
        </p:nvSpPr>
        <p:spPr>
          <a:xfrm>
            <a:off x="838200" y="1752600"/>
            <a:ext cx="95250" cy="12192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ED5D695-2BCB-4973-9AC0-3DC1BDA9F1C3}"/>
              </a:ext>
            </a:extLst>
          </p:cNvPr>
          <p:cNvSpPr>
            <a:spLocks noGrp="1"/>
          </p:cNvSpPr>
          <p:nvPr/>
        </p:nvSpPr>
        <p:spPr>
          <a:xfrm>
            <a:off x="1085850" y="1924050"/>
            <a:ext cx="4362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ESP32-S3R8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6D1B301-939A-41B7-A028-96C95296E173}"/>
              </a:ext>
            </a:extLst>
          </p:cNvPr>
          <p:cNvSpPr>
            <a:spLocks noGrp="1"/>
          </p:cNvSpPr>
          <p:nvPr/>
        </p:nvSpPr>
        <p:spPr>
          <a:xfrm>
            <a:off x="1085850" y="2381250"/>
            <a:ext cx="4362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双核32位处理器，最高240MHz；片内合封8MB PSRAM，用于图形缓存、多媒体缓冲和任务运行空间。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A228C4-B8DE-4A90-9982-2F837F6E6263}"/>
              </a:ext>
            </a:extLst>
          </p:cNvPr>
          <p:cNvSpPr>
            <a:spLocks noGrp="1"/>
          </p:cNvSpPr>
          <p:nvPr/>
        </p:nvSpPr>
        <p:spPr>
          <a:xfrm>
            <a:off x="6457950" y="1752600"/>
            <a:ext cx="4857750" cy="1219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615B659-591A-47AC-835C-A5F1C4C0DD07}"/>
              </a:ext>
            </a:extLst>
          </p:cNvPr>
          <p:cNvSpPr>
            <a:spLocks noGrp="1"/>
          </p:cNvSpPr>
          <p:nvPr/>
        </p:nvSpPr>
        <p:spPr>
          <a:xfrm>
            <a:off x="6457950" y="1752600"/>
            <a:ext cx="95250" cy="1219200"/>
          </a:xfrm>
          <a:prstGeom prst="rect">
            <a:avLst/>
          </a:prstGeom>
          <a:solidFill>
            <a:srgbClr val="20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ACC2A9C-80C2-45DA-B4F8-85DC6EB78D44}"/>
              </a:ext>
            </a:extLst>
          </p:cNvPr>
          <p:cNvSpPr>
            <a:spLocks noGrp="1"/>
          </p:cNvSpPr>
          <p:nvPr/>
        </p:nvSpPr>
        <p:spPr>
          <a:xfrm>
            <a:off x="6705600" y="1924050"/>
            <a:ext cx="4362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W25Q128 Flash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67403FA-6B32-45A8-9ECB-5EBB65605953}"/>
              </a:ext>
            </a:extLst>
          </p:cNvPr>
          <p:cNvSpPr>
            <a:spLocks noGrp="1"/>
          </p:cNvSpPr>
          <p:nvPr/>
        </p:nvSpPr>
        <p:spPr>
          <a:xfrm>
            <a:off x="6705600" y="2381250"/>
            <a:ext cx="4362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外扩16MB串行Flash，用于程序固件、图像资源、配置参数和升级备份等非易失性存储。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B248678-DE19-46C8-A48F-4ED8A0C599EC}"/>
              </a:ext>
            </a:extLst>
          </p:cNvPr>
          <p:cNvSpPr>
            <a:spLocks noGrp="1"/>
          </p:cNvSpPr>
          <p:nvPr/>
        </p:nvSpPr>
        <p:spPr>
          <a:xfrm>
            <a:off x="838200" y="3429000"/>
            <a:ext cx="4857750" cy="1219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7993EA7-311B-4D43-BB64-D8BA08321A4D}"/>
              </a:ext>
            </a:extLst>
          </p:cNvPr>
          <p:cNvSpPr>
            <a:spLocks noGrp="1"/>
          </p:cNvSpPr>
          <p:nvPr/>
        </p:nvSpPr>
        <p:spPr>
          <a:xfrm>
            <a:off x="838200" y="3429000"/>
            <a:ext cx="95250" cy="1219200"/>
          </a:xfrm>
          <a:prstGeom prst="rect">
            <a:avLst/>
          </a:prstGeom>
          <a:solidFill>
            <a:srgbClr val="22A7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F90CEE7-EBF5-4758-A60B-D1EF705A8FAD}"/>
              </a:ext>
            </a:extLst>
          </p:cNvPr>
          <p:cNvSpPr>
            <a:spLocks noGrp="1"/>
          </p:cNvSpPr>
          <p:nvPr/>
        </p:nvSpPr>
        <p:spPr>
          <a:xfrm>
            <a:off x="1085850" y="3600450"/>
            <a:ext cx="4362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40MHz晶振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D8F2555-CC37-4B15-8504-2946C54C33CE}"/>
              </a:ext>
            </a:extLst>
          </p:cNvPr>
          <p:cNvSpPr>
            <a:spLocks noGrp="1"/>
          </p:cNvSpPr>
          <p:nvPr/>
        </p:nvSpPr>
        <p:spPr>
          <a:xfrm>
            <a:off x="1085850" y="4057650"/>
            <a:ext cx="4362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为主控提供稳定系统时钟，同时配合复位、启动配置和下载控制电路完成可靠启动。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11C1777-5B72-492A-A77A-B7BEE682BE10}"/>
              </a:ext>
            </a:extLst>
          </p:cNvPr>
          <p:cNvSpPr>
            <a:spLocks noGrp="1"/>
          </p:cNvSpPr>
          <p:nvPr/>
        </p:nvSpPr>
        <p:spPr>
          <a:xfrm>
            <a:off x="6457950" y="3429000"/>
            <a:ext cx="4857750" cy="1219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727A349-2ACD-4238-8A92-7013A42523DC}"/>
              </a:ext>
            </a:extLst>
          </p:cNvPr>
          <p:cNvSpPr>
            <a:spLocks noGrp="1"/>
          </p:cNvSpPr>
          <p:nvPr/>
        </p:nvSpPr>
        <p:spPr>
          <a:xfrm>
            <a:off x="6457950" y="3429000"/>
            <a:ext cx="95250" cy="1219200"/>
          </a:xfrm>
          <a:prstGeom prst="rect">
            <a:avLst/>
          </a:prstGeom>
          <a:solidFill>
            <a:srgbClr val="F2A2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2A48A6D-70C7-4134-980D-682B715F3BF0}"/>
              </a:ext>
            </a:extLst>
          </p:cNvPr>
          <p:cNvSpPr>
            <a:spLocks noGrp="1"/>
          </p:cNvSpPr>
          <p:nvPr/>
        </p:nvSpPr>
        <p:spPr>
          <a:xfrm>
            <a:off x="6705600" y="3600450"/>
            <a:ext cx="4362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rPr>
              <a:t>射频与天线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49ED705-4C5F-41A5-9A5E-ADBDB1710749}"/>
              </a:ext>
            </a:extLst>
          </p:cNvPr>
          <p:cNvSpPr>
            <a:spLocks noGrp="1"/>
          </p:cNvSpPr>
          <p:nvPr/>
        </p:nvSpPr>
        <p:spPr>
          <a:xfrm>
            <a:off x="6705600" y="4057650"/>
            <a:ext cx="4362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2.4GHz陶瓷天线与匹配网络用于WiFi链路，布线和阻抗控制影响无线稳定性。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489407A-3B2C-4D1F-9366-9E844AC300B0}"/>
              </a:ext>
            </a:extLst>
          </p:cNvPr>
          <p:cNvSpPr>
            <a:spLocks noGrp="1"/>
          </p:cNvSpPr>
          <p:nvPr/>
        </p:nvSpPr>
        <p:spPr>
          <a:xfrm>
            <a:off x="1428750" y="5334000"/>
            <a:ext cx="9334500" cy="4000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34B071C-6030-4E52-9CFC-359CDCABFBB9}"/>
              </a:ext>
            </a:extLst>
          </p:cNvPr>
          <p:cNvSpPr>
            <a:spLocks noGrp="1"/>
          </p:cNvSpPr>
          <p:nvPr/>
        </p:nvSpPr>
        <p:spPr>
          <a:xfrm>
            <a:off x="1676400" y="5410200"/>
            <a:ext cx="8858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设计重点：芯片级布板提高空间灵活性，同时需要重点保证电源完整性、时钟稳定性、射频匹配和高速总线信号质量。</a:t>
            </a:r>
          </a:p>
        </p:txBody>
      </p:sp>
    </p:spTree>
    <p:extLst>
      <p:ext uri="{BB962C8B-B14F-4D97-AF65-F5344CB8AC3E}">
        <p14:creationId xmlns:p14="http://schemas.microsoft.com/office/powerpoint/2010/main" val="540870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512C1156-DFBD-4903-A7AA-40081E07CE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7EA19EB6-70E7-450F-AAC8-0A9ECE469AE7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6493C6DD-0E47-4627-96C6-FBD7466B5B02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3C06C7-EEB8-46E6-94E7-EC27A2361BB0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2996E2A-5B39-4E8A-A7C6-20056B5D18FE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4CCBBB7-6807-441F-9DB7-1EE009ADF480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F0E58A-6C77-4E0B-8BEC-54DDBA21A78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C4D383F-1298-4352-AE01-66603BAD5E22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显示触摸、时间与存储接口设计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E01A1A-F2F9-41F2-BCE2-1EE226160E0F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E0943EF-7F58-4809-B9D2-8F4D3BE9567D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3333750" cy="29527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991FA7-192F-4F3C-A69E-4D1A4D071F95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95250" cy="295275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FD79F83-8385-4881-9E35-A9ECD99A1A05}"/>
              </a:ext>
            </a:extLst>
          </p:cNvPr>
          <p:cNvSpPr>
            <a:spLocks noGrp="1"/>
          </p:cNvSpPr>
          <p:nvPr/>
        </p:nvSpPr>
        <p:spPr>
          <a:xfrm>
            <a:off x="990600" y="1866900"/>
            <a:ext cx="2838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显示触摸模组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FBE878E-CF0B-40BF-BD74-4114C72C23AA}"/>
              </a:ext>
            </a:extLst>
          </p:cNvPr>
          <p:cNvSpPr>
            <a:spLocks noGrp="1"/>
          </p:cNvSpPr>
          <p:nvPr/>
        </p:nvSpPr>
        <p:spPr>
          <a:xfrm>
            <a:off x="990600" y="2324100"/>
            <a:ext cx="2838450" cy="2171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1.83英寸240×284一体化模组；显示端采用ST7789P3，通过SPI与DMA搬运提高刷新效率；触摸端采用CST816T，通过I2C与中断实现坐标读取和唤醒。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C5F3089-913A-469B-A99C-B49C9AFAF4ED}"/>
              </a:ext>
            </a:extLst>
          </p:cNvPr>
          <p:cNvSpPr>
            <a:spLocks noGrp="1"/>
          </p:cNvSpPr>
          <p:nvPr/>
        </p:nvSpPr>
        <p:spPr>
          <a:xfrm>
            <a:off x="4438650" y="1695450"/>
            <a:ext cx="3333750" cy="29527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330E814-BD11-41B3-BB58-CC9B75F56487}"/>
              </a:ext>
            </a:extLst>
          </p:cNvPr>
          <p:cNvSpPr>
            <a:spLocks noGrp="1"/>
          </p:cNvSpPr>
          <p:nvPr/>
        </p:nvSpPr>
        <p:spPr>
          <a:xfrm>
            <a:off x="4438650" y="1695450"/>
            <a:ext cx="95250" cy="2952750"/>
          </a:xfrm>
          <a:prstGeom prst="rect">
            <a:avLst/>
          </a:prstGeom>
          <a:solidFill>
            <a:srgbClr val="20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D938BB7-DCBD-4E3B-A831-CCB6A36E19BF}"/>
              </a:ext>
            </a:extLst>
          </p:cNvPr>
          <p:cNvSpPr>
            <a:spLocks noGrp="1"/>
          </p:cNvSpPr>
          <p:nvPr/>
        </p:nvSpPr>
        <p:spPr>
          <a:xfrm>
            <a:off x="4686300" y="1866900"/>
            <a:ext cx="2838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时间与存储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B23CDBC-6A43-4274-B86F-2800366DA13F}"/>
              </a:ext>
            </a:extLst>
          </p:cNvPr>
          <p:cNvSpPr>
            <a:spLocks noGrp="1"/>
          </p:cNvSpPr>
          <p:nvPr/>
        </p:nvSpPr>
        <p:spPr>
          <a:xfrm>
            <a:off x="4686300" y="2324100"/>
            <a:ext cx="2838450" cy="2171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SD3078独立RTC承担断网守时、时间同步和事件记录；Micro </a:t>
            </a:r>
            <a:r>
              <a:rPr sz="142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SD卡作为图片、视频、小说和本地OTA固件的大容量外部存储</a:t>
            </a:r>
            <a:r>
              <a:rPr sz="142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5972D42-32C7-4310-B859-EC7103657A72}"/>
              </a:ext>
            </a:extLst>
          </p:cNvPr>
          <p:cNvSpPr>
            <a:spLocks noGrp="1"/>
          </p:cNvSpPr>
          <p:nvPr/>
        </p:nvSpPr>
        <p:spPr>
          <a:xfrm>
            <a:off x="8134350" y="1695450"/>
            <a:ext cx="3333750" cy="29527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BFC2D22-31AF-49D4-A534-DBC8DC3A086D}"/>
              </a:ext>
            </a:extLst>
          </p:cNvPr>
          <p:cNvSpPr>
            <a:spLocks noGrp="1"/>
          </p:cNvSpPr>
          <p:nvPr/>
        </p:nvSpPr>
        <p:spPr>
          <a:xfrm>
            <a:off x="8134350" y="1695450"/>
            <a:ext cx="95250" cy="2952750"/>
          </a:xfrm>
          <a:prstGeom prst="rect">
            <a:avLst/>
          </a:prstGeom>
          <a:solidFill>
            <a:srgbClr val="22A7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A2EF034-7F69-4240-AE6A-51470F79611F}"/>
              </a:ext>
            </a:extLst>
          </p:cNvPr>
          <p:cNvSpPr>
            <a:spLocks noGrp="1"/>
          </p:cNvSpPr>
          <p:nvPr/>
        </p:nvSpPr>
        <p:spPr>
          <a:xfrm>
            <a:off x="8382000" y="1866900"/>
            <a:ext cx="2838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下载调试接口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A04EC86-2051-4E57-8348-5DBD3AD5F128}"/>
              </a:ext>
            </a:extLst>
          </p:cNvPr>
          <p:cNvSpPr>
            <a:spLocks noGrp="1"/>
          </p:cNvSpPr>
          <p:nvPr/>
        </p:nvSpPr>
        <p:spPr>
          <a:xfrm>
            <a:off x="8382000" y="2324100"/>
            <a:ext cx="2838450" cy="2171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Type-C接口统一承担供电、固件下载和调试通信；复位与启动配置电路配合完成程序烧录和异常恢复</a:t>
            </a:r>
            <a:r>
              <a:rPr sz="142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8C6C28D-AC4C-4F4E-9DE9-0DF803D20859}"/>
              </a:ext>
            </a:extLst>
          </p:cNvPr>
          <p:cNvSpPr>
            <a:spLocks noGrp="1"/>
          </p:cNvSpPr>
          <p:nvPr/>
        </p:nvSpPr>
        <p:spPr>
          <a:xfrm>
            <a:off x="1295400" y="5181600"/>
            <a:ext cx="9601200" cy="4381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B42F461-1438-436A-B2CF-D397E3ED472A}"/>
              </a:ext>
            </a:extLst>
          </p:cNvPr>
          <p:cNvSpPr>
            <a:spLocks noGrp="1"/>
          </p:cNvSpPr>
          <p:nvPr/>
        </p:nvSpPr>
        <p:spPr>
          <a:xfrm>
            <a:off x="1524000" y="5276850"/>
            <a:ext cx="9144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硬件链路：SPI负责高吞吐显示和存储，I2C负责触摸与RTC等低速外设，GPIO负责复位、背光、卡检测和休眠唤醒。</a:t>
            </a:r>
          </a:p>
        </p:txBody>
      </p:sp>
    </p:spTree>
    <p:extLst>
      <p:ext uri="{BB962C8B-B14F-4D97-AF65-F5344CB8AC3E}">
        <p14:creationId xmlns:p14="http://schemas.microsoft.com/office/powerpoint/2010/main" val="440371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5EE70730-CA9A-4118-B46A-9B56F8ACF4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C96233D-AE9E-4A76-B281-B83C90210B22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E5586E11-BF98-466E-8E71-E2A66F424D4F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0072E9-6FEC-4907-AE46-10CD378FC4F1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0ED572-6EE5-40AE-9618-2259DC503EEE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B5D8BF-6992-4B94-8E26-78C07A73F7AC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3A447C-A512-47D5-88A2-A45ECF0934D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8FC7AA7-780A-4883-9652-E057570ECF05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硬件实物：主板器件与屏幕连接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88CD434-C2A2-4E01-9549-38E64235F56E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13DA26C-12FD-499D-BF8B-ABB62B8F0A01}"/>
              </a:ext>
            </a:extLst>
          </p:cNvPr>
          <p:cNvSpPr>
            <a:spLocks noGrp="1"/>
          </p:cNvSpPr>
          <p:nvPr/>
        </p:nvSpPr>
        <p:spPr>
          <a:xfrm>
            <a:off x="704850" y="1466850"/>
            <a:ext cx="4953000" cy="39243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96004" y="1581150"/>
            <a:ext cx="2770692" cy="36957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A4A22C5-D638-46CA-8538-52EA4DACF1E8}"/>
              </a:ext>
            </a:extLst>
          </p:cNvPr>
          <p:cNvSpPr>
            <a:spLocks noGrp="1"/>
          </p:cNvSpPr>
          <p:nvPr/>
        </p:nvSpPr>
        <p:spPr>
          <a:xfrm>
            <a:off x="704850" y="1466850"/>
            <a:ext cx="4953000" cy="400050"/>
          </a:xfrm>
          <a:prstGeom prst="rect">
            <a:avLst/>
          </a:prstGeom>
          <a:solidFill>
            <a:srgbClr val="FFFFFF">
              <a:alpha val="88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009F719-D700-4092-ADF0-B9C6BA6B4514}"/>
              </a:ext>
            </a:extLst>
          </p:cNvPr>
          <p:cNvSpPr>
            <a:spLocks noGrp="1"/>
          </p:cNvSpPr>
          <p:nvPr/>
        </p:nvSpPr>
        <p:spPr>
          <a:xfrm>
            <a:off x="838200" y="1543050"/>
            <a:ext cx="468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主板正面与主要器件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FC1CE53-832B-4E96-A5BB-47EFEE5DD837}"/>
              </a:ext>
            </a:extLst>
          </p:cNvPr>
          <p:cNvSpPr>
            <a:spLocks noGrp="1"/>
          </p:cNvSpPr>
          <p:nvPr/>
        </p:nvSpPr>
        <p:spPr>
          <a:xfrm>
            <a:off x="6324600" y="1466850"/>
            <a:ext cx="4953000" cy="39243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15754" y="1581150"/>
            <a:ext cx="2770692" cy="3695700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36DF65E9-165D-41CF-9F4E-5B814AF9A9F8}"/>
              </a:ext>
            </a:extLst>
          </p:cNvPr>
          <p:cNvSpPr>
            <a:spLocks noGrp="1"/>
          </p:cNvSpPr>
          <p:nvPr/>
        </p:nvSpPr>
        <p:spPr>
          <a:xfrm>
            <a:off x="6324600" y="1466850"/>
            <a:ext cx="4953000" cy="400050"/>
          </a:xfrm>
          <a:prstGeom prst="rect">
            <a:avLst/>
          </a:prstGeom>
          <a:solidFill>
            <a:srgbClr val="FFFFFF">
              <a:alpha val="88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D670ACC-70F0-4EF7-B9FB-EE4283C199BB}"/>
              </a:ext>
            </a:extLst>
          </p:cNvPr>
          <p:cNvSpPr>
            <a:spLocks noGrp="1"/>
          </p:cNvSpPr>
          <p:nvPr/>
        </p:nvSpPr>
        <p:spPr>
          <a:xfrm>
            <a:off x="6457950" y="1543050"/>
            <a:ext cx="468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触摸屏FPC连接结构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231A291-F4EA-48FC-9215-73E97C709867}"/>
              </a:ext>
            </a:extLst>
          </p:cNvPr>
          <p:cNvSpPr>
            <a:spLocks noGrp="1"/>
          </p:cNvSpPr>
          <p:nvPr/>
        </p:nvSpPr>
        <p:spPr>
          <a:xfrm>
            <a:off x="1181100" y="5562600"/>
            <a:ext cx="982980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777E3AC-A714-44E1-8F91-23482974AF2B}"/>
              </a:ext>
            </a:extLst>
          </p:cNvPr>
          <p:cNvSpPr>
            <a:spLocks noGrp="1"/>
          </p:cNvSpPr>
          <p:nvPr/>
        </p:nvSpPr>
        <p:spPr>
          <a:xfrm>
            <a:off x="1333500" y="5638800"/>
            <a:ext cx="952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实物调试重点：确认Type-C供电与下载、Micro SD卡座、SD3078 RTC、W25Q128 Flash、ESP32-S3R8主控以及屏幕FPC连接可靠。</a:t>
            </a:r>
          </a:p>
        </p:txBody>
      </p:sp>
    </p:spTree>
    <p:extLst>
      <p:ext uri="{BB962C8B-B14F-4D97-AF65-F5344CB8AC3E}">
        <p14:creationId xmlns:p14="http://schemas.microsoft.com/office/powerpoint/2010/main" val="523290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7B0ACDD1-3152-4243-BE24-9DE49BCA84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461EAE15-2B97-4641-BBBE-48F42306B23C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2B6FDC9-EEEE-49AD-A668-A68F688E766A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5F32371-21E7-4F9D-9F97-44CFA137E7C8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724BF9E-0189-415F-9C7D-552E6AEE7278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8539952-D772-4D99-A394-35000051F027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213553-1792-4859-B834-CB4C345D5B6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7BEEB60-2030-4F47-B355-E99A0776AE26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SD卡与多媒体流程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C7F2B23-446B-483E-BF46-87685483669B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715AE03-DA67-48F6-B78A-E39579559F1F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7810500" cy="44386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67996" y="1543049"/>
            <a:ext cx="3598318" cy="4324351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33A921F4-3C3C-4BD7-9A69-4639138FB025}"/>
              </a:ext>
            </a:extLst>
          </p:cNvPr>
          <p:cNvSpPr>
            <a:spLocks noGrp="1"/>
          </p:cNvSpPr>
          <p:nvPr/>
        </p:nvSpPr>
        <p:spPr>
          <a:xfrm>
            <a:off x="8782050" y="1657350"/>
            <a:ext cx="1714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讲解重点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E1F17712-3727-447C-BFDA-305CCD229C26}"/>
              </a:ext>
            </a:extLst>
          </p:cNvPr>
          <p:cNvSpPr>
            <a:spLocks noGrp="1"/>
          </p:cNvSpPr>
          <p:nvPr/>
        </p:nvSpPr>
        <p:spPr>
          <a:xfrm>
            <a:off x="8820150" y="22955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6C7A584-E004-47C3-ADB9-718E53E598CA}"/>
              </a:ext>
            </a:extLst>
          </p:cNvPr>
          <p:cNvSpPr>
            <a:spLocks noGrp="1"/>
          </p:cNvSpPr>
          <p:nvPr/>
        </p:nvSpPr>
        <p:spPr>
          <a:xfrm>
            <a:off x="9029700" y="2209800"/>
            <a:ext cx="24193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启动阶段初始化SD接口并挂载FatFS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15635142-D790-4052-9BD9-B882FCFAFAE9}"/>
              </a:ext>
            </a:extLst>
          </p:cNvPr>
          <p:cNvSpPr>
            <a:spLocks noGrp="1"/>
          </p:cNvSpPr>
          <p:nvPr/>
        </p:nvSpPr>
        <p:spPr>
          <a:xfrm>
            <a:off x="8820150" y="29051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B489D80-374F-4679-9595-344C33768B90}"/>
              </a:ext>
            </a:extLst>
          </p:cNvPr>
          <p:cNvSpPr>
            <a:spLocks noGrp="1"/>
          </p:cNvSpPr>
          <p:nvPr/>
        </p:nvSpPr>
        <p:spPr>
          <a:xfrm>
            <a:off x="9029700" y="2819400"/>
            <a:ext cx="24193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扫描/sdcard资源，建立图片、视频、小说文件列表缓存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3143331A-8746-4E50-A7F3-EA7B640B302B}"/>
              </a:ext>
            </a:extLst>
          </p:cNvPr>
          <p:cNvSpPr>
            <a:spLocks noGrp="1"/>
          </p:cNvSpPr>
          <p:nvPr/>
        </p:nvSpPr>
        <p:spPr>
          <a:xfrm>
            <a:off x="8820150" y="35147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5EC8147-D2DD-4457-BEEE-F521AE7117D9}"/>
              </a:ext>
            </a:extLst>
          </p:cNvPr>
          <p:cNvSpPr>
            <a:spLocks noGrp="1"/>
          </p:cNvSpPr>
          <p:nvPr/>
        </p:nvSpPr>
        <p:spPr>
          <a:xfrm>
            <a:off x="9029700" y="3429000"/>
            <a:ext cx="24193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图片分块读取解码，减少内存占用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5AF3BF70-E67B-4222-8B36-94A9CA8CCC30}"/>
              </a:ext>
            </a:extLst>
          </p:cNvPr>
          <p:cNvSpPr>
            <a:spLocks noGrp="1"/>
          </p:cNvSpPr>
          <p:nvPr/>
        </p:nvSpPr>
        <p:spPr>
          <a:xfrm>
            <a:off x="8820150" y="41243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5CD40F2-3EA5-438C-9AFC-FAD2008CE54C}"/>
              </a:ext>
            </a:extLst>
          </p:cNvPr>
          <p:cNvSpPr>
            <a:spLocks noGrp="1"/>
          </p:cNvSpPr>
          <p:nvPr/>
        </p:nvSpPr>
        <p:spPr>
          <a:xfrm>
            <a:off x="9029700" y="4038600"/>
            <a:ext cx="24193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视频帧和小说翻页通过消息通知显示层刷新</a:t>
            </a:r>
          </a:p>
        </p:txBody>
      </p:sp>
    </p:spTree>
    <p:extLst>
      <p:ext uri="{BB962C8B-B14F-4D97-AF65-F5344CB8AC3E}">
        <p14:creationId xmlns:p14="http://schemas.microsoft.com/office/powerpoint/2010/main" val="1874705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EF9EB788-F58C-420F-8168-3B620E7D76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5DA26627-241C-43AC-9708-7C9F3E608468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82638E6-2549-423B-AA51-7A13A57A50C5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59B235C-7A9E-4874-9F3C-F1E0872BEFF7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44756E8-EF84-4AF9-9012-544130CB0700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499593-5905-44F0-AF60-026C155123B0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C0E894D-3AC6-47E2-B61D-4E70E6BBD81C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C256301-2F86-490B-B9AF-CB20B0C5EF2F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时间同步流程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1A73575-2C07-49CD-BFD1-4583DB0766F4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C273B34-AF05-4848-BDCF-70EF559094AC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7810500" cy="44386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293054" y="1543050"/>
            <a:ext cx="2253092" cy="421005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86F6C9BC-3C69-4F2C-B070-4905D6DBC732}"/>
              </a:ext>
            </a:extLst>
          </p:cNvPr>
          <p:cNvSpPr>
            <a:spLocks noGrp="1"/>
          </p:cNvSpPr>
          <p:nvPr/>
        </p:nvSpPr>
        <p:spPr>
          <a:xfrm>
            <a:off x="8782050" y="16573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三条时间来源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4A36E11-CC90-4570-9A78-F3549A555885}"/>
              </a:ext>
            </a:extLst>
          </p:cNvPr>
          <p:cNvSpPr>
            <a:spLocks noGrp="1"/>
          </p:cNvSpPr>
          <p:nvPr/>
        </p:nvSpPr>
        <p:spPr>
          <a:xfrm>
            <a:off x="8820150" y="23336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9EF586A-F947-4441-B80D-64E37A5CB6A8}"/>
              </a:ext>
            </a:extLst>
          </p:cNvPr>
          <p:cNvSpPr>
            <a:spLocks noGrp="1"/>
          </p:cNvSpPr>
          <p:nvPr/>
        </p:nvSpPr>
        <p:spPr>
          <a:xfrm>
            <a:off x="9029700" y="2247900"/>
            <a:ext cx="24193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上电读取RTC校准系统时钟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E79FC8F-2B73-401D-8401-819C9AC0E76C}"/>
              </a:ext>
            </a:extLst>
          </p:cNvPr>
          <p:cNvSpPr>
            <a:spLocks noGrp="1"/>
          </p:cNvSpPr>
          <p:nvPr/>
        </p:nvSpPr>
        <p:spPr>
          <a:xfrm>
            <a:off x="8820150" y="292417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E704D5E-5C49-40C0-8B08-FE9C1E0EB666}"/>
              </a:ext>
            </a:extLst>
          </p:cNvPr>
          <p:cNvSpPr>
            <a:spLocks noGrp="1"/>
          </p:cNvSpPr>
          <p:nvPr/>
        </p:nvSpPr>
        <p:spPr>
          <a:xfrm>
            <a:off x="9029700" y="2838450"/>
            <a:ext cx="24193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联网后SNTP校时并写回RTC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ACA0921B-60DF-43AC-A0C8-340139086E7F}"/>
              </a:ext>
            </a:extLst>
          </p:cNvPr>
          <p:cNvSpPr>
            <a:spLocks noGrp="1"/>
          </p:cNvSpPr>
          <p:nvPr/>
        </p:nvSpPr>
        <p:spPr>
          <a:xfrm>
            <a:off x="8820150" y="35147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F04133E-0EAA-4EA2-8418-89F2961C9401}"/>
              </a:ext>
            </a:extLst>
          </p:cNvPr>
          <p:cNvSpPr>
            <a:spLocks noGrp="1"/>
          </p:cNvSpPr>
          <p:nvPr/>
        </p:nvSpPr>
        <p:spPr>
          <a:xfrm>
            <a:off x="9029700" y="3429000"/>
            <a:ext cx="24193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无网依靠RTC守时并刷新缓存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DC13AFA1-C96F-4DF1-86B1-61BAAAE832DA}"/>
              </a:ext>
            </a:extLst>
          </p:cNvPr>
          <p:cNvSpPr>
            <a:spLocks noGrp="1"/>
          </p:cNvSpPr>
          <p:nvPr/>
        </p:nvSpPr>
        <p:spPr>
          <a:xfrm>
            <a:off x="8820150" y="410527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C38BB4A-291E-4607-AD92-68682387F0B8}"/>
              </a:ext>
            </a:extLst>
          </p:cNvPr>
          <p:cNvSpPr>
            <a:spLocks noGrp="1"/>
          </p:cNvSpPr>
          <p:nvPr/>
        </p:nvSpPr>
        <p:spPr>
          <a:xfrm>
            <a:off x="9029700" y="4019550"/>
            <a:ext cx="24193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手动改时同步写入系统与RTC</a:t>
            </a:r>
          </a:p>
        </p:txBody>
      </p:sp>
    </p:spTree>
    <p:extLst>
      <p:ext uri="{BB962C8B-B14F-4D97-AF65-F5344CB8AC3E}">
        <p14:creationId xmlns:p14="http://schemas.microsoft.com/office/powerpoint/2010/main" val="72325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5E44ED22-F54C-4B1A-94BA-89A89546C6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FD3F0052-4650-4486-AC71-9A8466C7433E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ACBEB3A-99A2-43A6-AD6E-F618DC319431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4BB9A16-D718-4BF8-9F23-75C14C6A1DC0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3097978-725A-45FF-8DC8-5B46CA10CE6D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1B74FAF-4D92-4FDC-B356-E8CCB83AE343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B16E39E-A51B-40FE-B12D-C525C1F77311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543A450-3175-434F-BA89-1ED60DC07A50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OTA升级流程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46DBCDE-5229-48D9-9618-6C60CB70FE29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875F1EA-B426-4698-B9B2-4D3CBC42202E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7810500" cy="44386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043394" y="1543050"/>
            <a:ext cx="2752412" cy="421005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BD408352-865B-43B5-B608-EBD1CDE85D64}"/>
              </a:ext>
            </a:extLst>
          </p:cNvPr>
          <p:cNvSpPr>
            <a:spLocks noGrp="1"/>
          </p:cNvSpPr>
          <p:nvPr/>
        </p:nvSpPr>
        <p:spPr>
          <a:xfrm>
            <a:off x="8782050" y="1657350"/>
            <a:ext cx="1905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升级策略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22C1EBF-78AA-4BF0-8D4A-4E91251A4F33}"/>
              </a:ext>
            </a:extLst>
          </p:cNvPr>
          <p:cNvSpPr>
            <a:spLocks noGrp="1"/>
          </p:cNvSpPr>
          <p:nvPr/>
        </p:nvSpPr>
        <p:spPr>
          <a:xfrm>
            <a:off x="8820150" y="23336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A52D537-2A27-4651-86B3-7B56DE425630}"/>
              </a:ext>
            </a:extLst>
          </p:cNvPr>
          <p:cNvSpPr>
            <a:spLocks noGrp="1"/>
          </p:cNvSpPr>
          <p:nvPr/>
        </p:nvSpPr>
        <p:spPr>
          <a:xfrm>
            <a:off x="9029700" y="2247900"/>
            <a:ext cx="24193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支持云端OTA与本地SD卡OTA两条路径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7DE7F62-C1EF-43CE-9D08-6973F63B50DF}"/>
              </a:ext>
            </a:extLst>
          </p:cNvPr>
          <p:cNvSpPr>
            <a:spLocks noGrp="1"/>
          </p:cNvSpPr>
          <p:nvPr/>
        </p:nvSpPr>
        <p:spPr>
          <a:xfrm>
            <a:off x="8820150" y="29432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B548C05-857F-4FF9-8E86-27FBE546C3C1}"/>
              </a:ext>
            </a:extLst>
          </p:cNvPr>
          <p:cNvSpPr>
            <a:spLocks noGrp="1"/>
          </p:cNvSpPr>
          <p:nvPr/>
        </p:nvSpPr>
        <p:spPr>
          <a:xfrm>
            <a:off x="9029700" y="2857500"/>
            <a:ext cx="24193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读取当前运行分区，写入备份分区并进行校验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DE99E4FC-E3F3-4255-BA07-2589146D7690}"/>
              </a:ext>
            </a:extLst>
          </p:cNvPr>
          <p:cNvSpPr>
            <a:spLocks noGrp="1"/>
          </p:cNvSpPr>
          <p:nvPr/>
        </p:nvSpPr>
        <p:spPr>
          <a:xfrm>
            <a:off x="8820150" y="35528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023B3D-8DFC-4E3B-9351-139AA352DA8C}"/>
              </a:ext>
            </a:extLst>
          </p:cNvPr>
          <p:cNvSpPr>
            <a:spLocks noGrp="1"/>
          </p:cNvSpPr>
          <p:nvPr/>
        </p:nvSpPr>
        <p:spPr>
          <a:xfrm>
            <a:off x="9029700" y="3467100"/>
            <a:ext cx="24193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升级完成后重启或点击跳转按钮进入新固件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67253287-C27F-4D94-B708-9342169467B2}"/>
              </a:ext>
            </a:extLst>
          </p:cNvPr>
          <p:cNvSpPr>
            <a:spLocks noGrp="1"/>
          </p:cNvSpPr>
          <p:nvPr/>
        </p:nvSpPr>
        <p:spPr>
          <a:xfrm>
            <a:off x="8820150" y="41624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3885289-AC53-4858-8D9A-C36D43ABF321}"/>
              </a:ext>
            </a:extLst>
          </p:cNvPr>
          <p:cNvSpPr>
            <a:spLocks noGrp="1"/>
          </p:cNvSpPr>
          <p:nvPr/>
        </p:nvSpPr>
        <p:spPr>
          <a:xfrm>
            <a:off x="9029700" y="4076700"/>
            <a:ext cx="24193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若新固件启动异常，则回滚到上一可用分区</a:t>
            </a:r>
          </a:p>
        </p:txBody>
      </p:sp>
    </p:spTree>
    <p:extLst>
      <p:ext uri="{BB962C8B-B14F-4D97-AF65-F5344CB8AC3E}">
        <p14:creationId xmlns:p14="http://schemas.microsoft.com/office/powerpoint/2010/main" val="1843374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82142FBD-0825-4015-9C43-284E8BE8E9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1FD80CC0-FCD7-4B8D-8C5A-D06CD3A39404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7D00A5E-B27E-4B8A-87DF-8882BF0B6C8F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000C4A-DBD8-407F-9521-79BB6755067C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D0EFD0D-F268-4DDC-B91D-02ED63F264BB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5CD84EF-2BFA-44A4-9E68-815F38D6B72E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FAF3597-BA01-4A60-9ACF-4C9185478790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258A8A1-C38C-41F8-94F9-53E86713B4BF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低功耗流程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4AFB178-F3CB-4ECE-AF01-1A71B60D05C2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D37ECDC-F62E-45AD-A0EB-E974486C4809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7810500" cy="44386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812619" y="1543050"/>
            <a:ext cx="3213962" cy="421005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6A8D1C68-51E4-4ECE-B235-ECD589F7FE81}"/>
              </a:ext>
            </a:extLst>
          </p:cNvPr>
          <p:cNvSpPr>
            <a:spLocks noGrp="1"/>
          </p:cNvSpPr>
          <p:nvPr/>
        </p:nvSpPr>
        <p:spPr>
          <a:xfrm>
            <a:off x="8782050" y="1657350"/>
            <a:ext cx="1905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双级休眠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BF896CB-0A4F-445A-9F4E-7FF86DB8C9D2}"/>
              </a:ext>
            </a:extLst>
          </p:cNvPr>
          <p:cNvSpPr>
            <a:spLocks noGrp="1"/>
          </p:cNvSpPr>
          <p:nvPr/>
        </p:nvSpPr>
        <p:spPr>
          <a:xfrm>
            <a:off x="8820150" y="24098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D05B81-EE12-4BA1-8FB2-93CA53CE3311}"/>
              </a:ext>
            </a:extLst>
          </p:cNvPr>
          <p:cNvSpPr>
            <a:spLocks noGrp="1"/>
          </p:cNvSpPr>
          <p:nvPr/>
        </p:nvSpPr>
        <p:spPr>
          <a:xfrm>
            <a:off x="9029700" y="2324100"/>
            <a:ext cx="24193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120秒无操作：进入轻休眠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4BB4DAF-ADEF-4BBD-869A-58DC40266833}"/>
              </a:ext>
            </a:extLst>
          </p:cNvPr>
          <p:cNvSpPr>
            <a:spLocks noGrp="1"/>
          </p:cNvSpPr>
          <p:nvPr/>
        </p:nvSpPr>
        <p:spPr>
          <a:xfrm>
            <a:off x="8820150" y="322897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2AF0283-47AF-4E1E-B97C-D657BF96A09C}"/>
              </a:ext>
            </a:extLst>
          </p:cNvPr>
          <p:cNvSpPr>
            <a:spLocks noGrp="1"/>
          </p:cNvSpPr>
          <p:nvPr/>
        </p:nvSpPr>
        <p:spPr>
          <a:xfrm>
            <a:off x="9029700" y="3143250"/>
            <a:ext cx="24193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长按确认键3秒：进入深休眠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2A062A45-3DC1-4589-938F-AE940F383263}"/>
              </a:ext>
            </a:extLst>
          </p:cNvPr>
          <p:cNvSpPr>
            <a:spLocks noGrp="1"/>
          </p:cNvSpPr>
          <p:nvPr/>
        </p:nvSpPr>
        <p:spPr>
          <a:xfrm>
            <a:off x="8820150" y="40481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EAA5E3D-BC69-40B7-8F3F-38829A04ACFD}"/>
              </a:ext>
            </a:extLst>
          </p:cNvPr>
          <p:cNvSpPr>
            <a:spLocks noGrp="1"/>
          </p:cNvSpPr>
          <p:nvPr/>
        </p:nvSpPr>
        <p:spPr>
          <a:xfrm>
            <a:off x="9029700" y="3962400"/>
            <a:ext cx="24193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轻休眠快醒，深休眠防误触</a:t>
            </a:r>
          </a:p>
        </p:txBody>
      </p:sp>
    </p:spTree>
    <p:extLst>
      <p:ext uri="{BB962C8B-B14F-4D97-AF65-F5344CB8AC3E}">
        <p14:creationId xmlns:p14="http://schemas.microsoft.com/office/powerpoint/2010/main" val="13973886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E87324E8-1197-4722-9870-C0DFBC0123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67AD831B-CCEE-4430-A1F7-98C3C163EAE1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FFB7A1F-780B-4F37-A4C7-D472E3DBD5B9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BBC36E-0A76-480D-8CE5-5EA0AB4321E2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F38719D-8564-4299-B3BB-3AA707496072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76F62DE-7378-45EB-9ACC-78ECF92FBBFB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CE9D623-111A-4983-98E7-489454893BAF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5005D2C-86D6-4967-9AFF-40AD96052550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功能测试结果：核心业务基本闭环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E43A22B-446B-4EA5-8CAE-7F5ADEBB8632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4070EB0-06AF-449F-88ED-BB55E0996BE7}"/>
              </a:ext>
            </a:extLst>
          </p:cNvPr>
          <p:cNvSpPr>
            <a:spLocks noGrp="1"/>
          </p:cNvSpPr>
          <p:nvPr/>
        </p:nvSpPr>
        <p:spPr>
          <a:xfrm>
            <a:off x="1123950" y="171450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手势交互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0D224B7-BD4E-4D6A-A0DE-4530AE83104A}"/>
              </a:ext>
            </a:extLst>
          </p:cNvPr>
          <p:cNvSpPr>
            <a:spLocks noGrp="1"/>
          </p:cNvSpPr>
          <p:nvPr/>
        </p:nvSpPr>
        <p:spPr>
          <a:xfrm>
            <a:off x="2647950" y="1771650"/>
            <a:ext cx="4953000" cy="228600"/>
          </a:xfrm>
          <a:prstGeom prst="rect">
            <a:avLst/>
          </a:prstGeom>
          <a:solidFill>
            <a:srgbClr val="DAE8F4"/>
          </a:solidFill>
          <a:ln w="9525">
            <a:solidFill>
              <a:srgbClr val="DAE8F4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A2DBD38-4499-480A-857F-5E3220BE4E3D}"/>
              </a:ext>
            </a:extLst>
          </p:cNvPr>
          <p:cNvSpPr>
            <a:spLocks noGrp="1"/>
          </p:cNvSpPr>
          <p:nvPr/>
        </p:nvSpPr>
        <p:spPr>
          <a:xfrm>
            <a:off x="2647950" y="1771650"/>
            <a:ext cx="4556760" cy="228600"/>
          </a:xfrm>
          <a:prstGeom prst="rect">
            <a:avLst/>
          </a:prstGeom>
          <a:solidFill>
            <a:srgbClr val="20A66A"/>
          </a:solidFill>
          <a:ln w="9525">
            <a:solidFill>
              <a:srgbClr val="20A66A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4B812A-8AEA-49D7-8CDA-96509E48CB56}"/>
              </a:ext>
            </a:extLst>
          </p:cNvPr>
          <p:cNvSpPr>
            <a:spLocks noGrp="1"/>
          </p:cNvSpPr>
          <p:nvPr/>
        </p:nvSpPr>
        <p:spPr>
          <a:xfrm>
            <a:off x="7848600" y="1695450"/>
            <a:ext cx="647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92%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669EE7C-81DB-4FD4-BC6D-FE8E01902CB2}"/>
              </a:ext>
            </a:extLst>
          </p:cNvPr>
          <p:cNvSpPr>
            <a:spLocks noGrp="1"/>
          </p:cNvSpPr>
          <p:nvPr/>
        </p:nvSpPr>
        <p:spPr>
          <a:xfrm>
            <a:off x="8839200" y="1666875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表盘、主菜单、快捷面板切换正常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73FC4CC-218E-423C-A618-D52D0E8FC2EC}"/>
              </a:ext>
            </a:extLst>
          </p:cNvPr>
          <p:cNvSpPr>
            <a:spLocks noGrp="1"/>
          </p:cNvSpPr>
          <p:nvPr/>
        </p:nvSpPr>
        <p:spPr>
          <a:xfrm>
            <a:off x="1123950" y="243840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图片壁纸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C57EAAC-1C9B-458C-8558-3337DD2A3AD2}"/>
              </a:ext>
            </a:extLst>
          </p:cNvPr>
          <p:cNvSpPr>
            <a:spLocks noGrp="1"/>
          </p:cNvSpPr>
          <p:nvPr/>
        </p:nvSpPr>
        <p:spPr>
          <a:xfrm>
            <a:off x="2647950" y="2495550"/>
            <a:ext cx="4953000" cy="228600"/>
          </a:xfrm>
          <a:prstGeom prst="rect">
            <a:avLst/>
          </a:prstGeom>
          <a:solidFill>
            <a:srgbClr val="DAE8F4"/>
          </a:solidFill>
          <a:ln w="9525">
            <a:solidFill>
              <a:srgbClr val="DAE8F4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40E74E4-573C-4F7B-B7E8-BC91A9B1C7E7}"/>
              </a:ext>
            </a:extLst>
          </p:cNvPr>
          <p:cNvSpPr>
            <a:spLocks noGrp="1"/>
          </p:cNvSpPr>
          <p:nvPr/>
        </p:nvSpPr>
        <p:spPr>
          <a:xfrm>
            <a:off x="2647950" y="2495550"/>
            <a:ext cx="4160520" cy="228600"/>
          </a:xfrm>
          <a:prstGeom prst="rect">
            <a:avLst/>
          </a:prstGeom>
          <a:solidFill>
            <a:srgbClr val="22A7C8"/>
          </a:solidFill>
          <a:ln w="9525">
            <a:solidFill>
              <a:srgbClr val="22A7C8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53681E4-B4BC-4EC0-B9F0-D8B0CCCF2C81}"/>
              </a:ext>
            </a:extLst>
          </p:cNvPr>
          <p:cNvSpPr>
            <a:spLocks noGrp="1"/>
          </p:cNvSpPr>
          <p:nvPr/>
        </p:nvSpPr>
        <p:spPr>
          <a:xfrm>
            <a:off x="7848600" y="2419350"/>
            <a:ext cx="647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84%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70D0E97-8F32-4CE4-BC04-0E3FD30CA299}"/>
              </a:ext>
            </a:extLst>
          </p:cNvPr>
          <p:cNvSpPr>
            <a:spLocks noGrp="1"/>
          </p:cNvSpPr>
          <p:nvPr/>
        </p:nvSpPr>
        <p:spPr>
          <a:xfrm>
            <a:off x="8839200" y="2390775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支持SD卡图片浏览与壁纸更换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A0D5D97-602E-4362-B4AA-4FF1126B1722}"/>
              </a:ext>
            </a:extLst>
          </p:cNvPr>
          <p:cNvSpPr>
            <a:spLocks noGrp="1"/>
          </p:cNvSpPr>
          <p:nvPr/>
        </p:nvSpPr>
        <p:spPr>
          <a:xfrm>
            <a:off x="1123950" y="316230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视频播放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1DC6707-60E3-4C60-A4CC-6EC12A7F0479}"/>
              </a:ext>
            </a:extLst>
          </p:cNvPr>
          <p:cNvSpPr>
            <a:spLocks noGrp="1"/>
          </p:cNvSpPr>
          <p:nvPr/>
        </p:nvSpPr>
        <p:spPr>
          <a:xfrm>
            <a:off x="2647950" y="3219450"/>
            <a:ext cx="4953000" cy="228600"/>
          </a:xfrm>
          <a:prstGeom prst="rect">
            <a:avLst/>
          </a:prstGeom>
          <a:solidFill>
            <a:srgbClr val="DAE8F4"/>
          </a:solidFill>
          <a:ln w="9525">
            <a:solidFill>
              <a:srgbClr val="DAE8F4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8048571-6AF0-4A5C-AE74-E79A832F0A3F}"/>
              </a:ext>
            </a:extLst>
          </p:cNvPr>
          <p:cNvSpPr>
            <a:spLocks noGrp="1"/>
          </p:cNvSpPr>
          <p:nvPr/>
        </p:nvSpPr>
        <p:spPr>
          <a:xfrm>
            <a:off x="2647950" y="3219450"/>
            <a:ext cx="4061460" cy="228600"/>
          </a:xfrm>
          <a:prstGeom prst="rect">
            <a:avLst/>
          </a:prstGeom>
          <a:solidFill>
            <a:srgbClr val="F2A21B"/>
          </a:solidFill>
          <a:ln w="9525">
            <a:solidFill>
              <a:srgbClr val="F2A21B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56EAA09-A624-45BF-A628-D6E4CB992952}"/>
              </a:ext>
            </a:extLst>
          </p:cNvPr>
          <p:cNvSpPr>
            <a:spLocks noGrp="1"/>
          </p:cNvSpPr>
          <p:nvPr/>
        </p:nvSpPr>
        <p:spPr>
          <a:xfrm>
            <a:off x="7848600" y="3143250"/>
            <a:ext cx="647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rPr>
              <a:t>82%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1873F6A-316C-4616-B239-735134CDD814}"/>
              </a:ext>
            </a:extLst>
          </p:cNvPr>
          <p:cNvSpPr>
            <a:spLocks noGrp="1"/>
          </p:cNvSpPr>
          <p:nvPr/>
        </p:nvSpPr>
        <p:spPr>
          <a:xfrm>
            <a:off x="8839200" y="3114675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MJPEG可连续播放，高负载下偶发掉帧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DF6EDEE-2ED7-4E22-BFC0-D7639750AF43}"/>
              </a:ext>
            </a:extLst>
          </p:cNvPr>
          <p:cNvSpPr>
            <a:spLocks noGrp="1"/>
          </p:cNvSpPr>
          <p:nvPr/>
        </p:nvSpPr>
        <p:spPr>
          <a:xfrm>
            <a:off x="1123950" y="388620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小说阅读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E16ECFC-C0B0-4CD5-A70D-A151BD556888}"/>
              </a:ext>
            </a:extLst>
          </p:cNvPr>
          <p:cNvSpPr>
            <a:spLocks noGrp="1"/>
          </p:cNvSpPr>
          <p:nvPr/>
        </p:nvSpPr>
        <p:spPr>
          <a:xfrm>
            <a:off x="2647950" y="3943350"/>
            <a:ext cx="4953000" cy="228600"/>
          </a:xfrm>
          <a:prstGeom prst="rect">
            <a:avLst/>
          </a:prstGeom>
          <a:solidFill>
            <a:srgbClr val="DAE8F4"/>
          </a:solidFill>
          <a:ln w="9525">
            <a:solidFill>
              <a:srgbClr val="DAE8F4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C5F5D1B-AFBA-470B-812A-8C9840F88302}"/>
              </a:ext>
            </a:extLst>
          </p:cNvPr>
          <p:cNvSpPr>
            <a:spLocks noGrp="1"/>
          </p:cNvSpPr>
          <p:nvPr/>
        </p:nvSpPr>
        <p:spPr>
          <a:xfrm>
            <a:off x="2647950" y="3943350"/>
            <a:ext cx="4655820" cy="228600"/>
          </a:xfrm>
          <a:prstGeom prst="rect">
            <a:avLst/>
          </a:prstGeom>
          <a:solidFill>
            <a:srgbClr val="20A66A"/>
          </a:solidFill>
          <a:ln w="9525">
            <a:solidFill>
              <a:srgbClr val="20A66A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6509C9D-9FD7-44EE-A2CC-22A29B6EC19A}"/>
              </a:ext>
            </a:extLst>
          </p:cNvPr>
          <p:cNvSpPr>
            <a:spLocks noGrp="1"/>
          </p:cNvSpPr>
          <p:nvPr/>
        </p:nvSpPr>
        <p:spPr>
          <a:xfrm>
            <a:off x="7848600" y="3867150"/>
            <a:ext cx="647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94%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414F315-95BB-4E9F-AD35-E4F1F9A299F1}"/>
              </a:ext>
            </a:extLst>
          </p:cNvPr>
          <p:cNvSpPr>
            <a:spLocks noGrp="1"/>
          </p:cNvSpPr>
          <p:nvPr/>
        </p:nvSpPr>
        <p:spPr>
          <a:xfrm>
            <a:off x="8839200" y="3838575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TXT分页读取，支持断点续读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D28D00F-FCD8-450F-A3E2-35CE904A1A9C}"/>
              </a:ext>
            </a:extLst>
          </p:cNvPr>
          <p:cNvSpPr>
            <a:spLocks noGrp="1"/>
          </p:cNvSpPr>
          <p:nvPr/>
        </p:nvSpPr>
        <p:spPr>
          <a:xfrm>
            <a:off x="1123950" y="461010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网络OTA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BA9B218-1BC9-4027-838C-345062696389}"/>
              </a:ext>
            </a:extLst>
          </p:cNvPr>
          <p:cNvSpPr>
            <a:spLocks noGrp="1"/>
          </p:cNvSpPr>
          <p:nvPr/>
        </p:nvSpPr>
        <p:spPr>
          <a:xfrm>
            <a:off x="2647950" y="4667250"/>
            <a:ext cx="4953000" cy="228600"/>
          </a:xfrm>
          <a:prstGeom prst="rect">
            <a:avLst/>
          </a:prstGeom>
          <a:solidFill>
            <a:srgbClr val="DAE8F4"/>
          </a:solidFill>
          <a:ln w="9525">
            <a:solidFill>
              <a:srgbClr val="DAE8F4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3CE05CD-8F85-48BD-A49C-3660CB7E722D}"/>
              </a:ext>
            </a:extLst>
          </p:cNvPr>
          <p:cNvSpPr>
            <a:spLocks noGrp="1"/>
          </p:cNvSpPr>
          <p:nvPr/>
        </p:nvSpPr>
        <p:spPr>
          <a:xfrm>
            <a:off x="2647950" y="4667250"/>
            <a:ext cx="4457700" cy="228600"/>
          </a:xfrm>
          <a:prstGeom prst="rect">
            <a:avLst/>
          </a:prstGeom>
          <a:solidFill>
            <a:srgbClr val="38548C"/>
          </a:solidFill>
          <a:ln w="9525">
            <a:solidFill>
              <a:srgbClr val="38548C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D5B47AF-96E9-42F0-8907-2336065FCBAA}"/>
              </a:ext>
            </a:extLst>
          </p:cNvPr>
          <p:cNvSpPr>
            <a:spLocks noGrp="1"/>
          </p:cNvSpPr>
          <p:nvPr/>
        </p:nvSpPr>
        <p:spPr>
          <a:xfrm>
            <a:off x="7848600" y="4591050"/>
            <a:ext cx="647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90%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0D29824-4B3B-4924-A562-E3DE6347B963}"/>
              </a:ext>
            </a:extLst>
          </p:cNvPr>
          <p:cNvSpPr>
            <a:spLocks noGrp="1"/>
          </p:cNvSpPr>
          <p:nvPr/>
        </p:nvSpPr>
        <p:spPr>
          <a:xfrm>
            <a:off x="8839200" y="4562475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WiFi、天气、NTP、OTA流程验证通过</a:t>
            </a:r>
          </a:p>
        </p:txBody>
      </p:sp>
    </p:spTree>
    <p:extLst>
      <p:ext uri="{BB962C8B-B14F-4D97-AF65-F5344CB8AC3E}">
        <p14:creationId xmlns:p14="http://schemas.microsoft.com/office/powerpoint/2010/main" val="9319031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1472A37B-C28A-4113-A6EE-1852665A52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0CC046-ECAE-4E47-AFD7-9EBDB0F12A16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4649F1A2-0646-4210-BED5-ED5CF8EF5320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E32AB6E-DBF4-4837-B93A-AA7DD7A7FC49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243964C-95DE-4857-9C1B-ABE42F129B2A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A173AA-3B9B-47DC-AE05-FFB6C615D9C6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B21419F-B2FA-4BC4-91C0-61E770569DA8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FC93DB9-E71C-49E1-B11E-E382EBD10870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功耗测试：工作状态电流趋势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984EE58-257A-4FAD-B926-91D643A82BA7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9810275-CAC4-41DC-87FA-0A7960D67DE8}"/>
              </a:ext>
            </a:extLst>
          </p:cNvPr>
          <p:cNvSpPr>
            <a:spLocks noGrp="1"/>
          </p:cNvSpPr>
          <p:nvPr/>
        </p:nvSpPr>
        <p:spPr>
          <a:xfrm>
            <a:off x="723900" y="1504950"/>
            <a:ext cx="7810500" cy="40957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51BD7AE-8D19-4866-B2B3-A09C66A4D54F}"/>
              </a:ext>
            </a:extLst>
          </p:cNvPr>
          <p:cNvSpPr>
            <a:spLocks noGrp="1"/>
          </p:cNvSpPr>
          <p:nvPr/>
        </p:nvSpPr>
        <p:spPr>
          <a:xfrm>
            <a:off x="8782050" y="1676400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测试结论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E88A37F4-C384-47C9-AA71-7F511E3F7FCB}"/>
              </a:ext>
            </a:extLst>
          </p:cNvPr>
          <p:cNvSpPr>
            <a:spLocks noGrp="1"/>
          </p:cNvSpPr>
          <p:nvPr/>
        </p:nvSpPr>
        <p:spPr>
          <a:xfrm>
            <a:off x="8820150" y="23336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9BF2CF1-5D32-438F-A3EB-0A71C3156036}"/>
              </a:ext>
            </a:extLst>
          </p:cNvPr>
          <p:cNvSpPr>
            <a:spLocks noGrp="1"/>
          </p:cNvSpPr>
          <p:nvPr/>
        </p:nvSpPr>
        <p:spPr>
          <a:xfrm>
            <a:off x="9029700" y="2247900"/>
            <a:ext cx="25336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满亮联网时电流最高，理论续航约1.9小时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DC63A195-4DE0-4728-BCAD-27778CB98090}"/>
              </a:ext>
            </a:extLst>
          </p:cNvPr>
          <p:cNvSpPr>
            <a:spLocks noGrp="1"/>
          </p:cNvSpPr>
          <p:nvPr/>
        </p:nvSpPr>
        <p:spPr>
          <a:xfrm>
            <a:off x="8820150" y="315277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3E26715-2AA5-4E5E-900E-8DADF1A16C69}"/>
              </a:ext>
            </a:extLst>
          </p:cNvPr>
          <p:cNvSpPr>
            <a:spLocks noGrp="1"/>
          </p:cNvSpPr>
          <p:nvPr/>
        </p:nvSpPr>
        <p:spPr>
          <a:xfrm>
            <a:off x="9029700" y="3067050"/>
            <a:ext cx="25336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7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正常模式</a:t>
            </a:r>
            <a:r>
              <a:rPr sz="157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低亮度并关闭联网后，亮屏续航约7.7小时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DDD20429-5F11-499B-B6DB-75324DD8EF91}"/>
              </a:ext>
            </a:extLst>
          </p:cNvPr>
          <p:cNvSpPr>
            <a:spLocks noGrp="1"/>
          </p:cNvSpPr>
          <p:nvPr/>
        </p:nvSpPr>
        <p:spPr>
          <a:xfrm>
            <a:off x="8820150" y="39719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628ABF1-EC43-4A3B-BE36-AA8A06A67ED0}"/>
              </a:ext>
            </a:extLst>
          </p:cNvPr>
          <p:cNvSpPr>
            <a:spLocks noGrp="1"/>
          </p:cNvSpPr>
          <p:nvPr/>
        </p:nvSpPr>
        <p:spPr>
          <a:xfrm>
            <a:off x="9029700" y="3886200"/>
            <a:ext cx="25336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>
              <a:def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轻休眠</a:t>
            </a:r>
            <a:r>
              <a:rPr lang="en-US" altLang="zh-CN" sz="157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Light</a:t>
            </a:r>
            <a:r>
              <a:rPr lang="en-US" altLang="zh-CN" sz="157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 Sleep</a:t>
            </a:r>
            <a:r>
              <a:rPr lang="zh-CN" altLang="en-US" sz="1575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续航约</a:t>
            </a:r>
            <a:r>
              <a:rPr lang="en-US" altLang="zh-CN" sz="1575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56</a:t>
            </a:r>
            <a:r>
              <a:rPr lang="zh-CN" altLang="en-US" sz="1575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小时</a:t>
            </a:r>
            <a:r>
              <a:rPr sz="157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和深休眠</a:t>
            </a:r>
            <a:r>
              <a:rPr lang="en-US" altLang="zh-CN" sz="157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Deep</a:t>
            </a:r>
            <a:r>
              <a:rPr lang="en-US" altLang="zh-CN" sz="157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 Sleep</a:t>
            </a:r>
            <a:r>
              <a:rPr lang="zh-CN" altLang="en-US" sz="157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续航约</a:t>
            </a:r>
            <a:r>
              <a:rPr lang="en-US" altLang="zh-CN" sz="157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75</a:t>
            </a:r>
            <a:r>
              <a:rPr lang="zh-CN" altLang="en-US" sz="157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小时</a:t>
            </a:r>
            <a:r>
              <a:rPr sz="157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57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适合待机存放</a:t>
            </a:r>
            <a:endParaRPr sz="1575" b="0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E7B95C6C-E60A-E1B8-AB2B-4295244F8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366" y="1510051"/>
            <a:ext cx="7837306" cy="4090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3053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22FDCEA1-93C3-4B9B-8C86-E65DCED28078}"/>
              </a:ext>
            </a:extLst>
          </p:cNvPr>
          <p:cNvSpPr>
            <a:spLocks noGrp="1"/>
          </p:cNvSpPr>
          <p:nvPr/>
        </p:nvSpPr>
        <p:spPr>
          <a:xfrm>
            <a:off x="1905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CBEA643E-1063-4353-A46A-40ED3A45DEEA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B583444B-9726-4520-924F-0500A415D70C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9C52DD-2018-44AC-946B-A1E462769123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D47CEF6-1065-4558-9ADD-8FB3086DE975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961D346-4182-440E-AB51-83CF548F6299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4FA68F6-3FBB-4064-9A06-BFF4586EAD36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9891CBA-E6CF-4B3B-95AA-D12E30507ED1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不足分析与后续改进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B3EEA9-DDC1-4938-B870-D91BC9C3749C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8BA63B-FF69-4718-AFE7-46C634517F5F}"/>
              </a:ext>
            </a:extLst>
          </p:cNvPr>
          <p:cNvSpPr>
            <a:spLocks noGrp="1"/>
          </p:cNvSpPr>
          <p:nvPr/>
        </p:nvSpPr>
        <p:spPr>
          <a:xfrm>
            <a:off x="819150" y="1676400"/>
            <a:ext cx="4953000" cy="12573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926E136-C5C2-4E5A-89EA-7FE856C7CB63}"/>
              </a:ext>
            </a:extLst>
          </p:cNvPr>
          <p:cNvSpPr>
            <a:spLocks noGrp="1"/>
          </p:cNvSpPr>
          <p:nvPr/>
        </p:nvSpPr>
        <p:spPr>
          <a:xfrm>
            <a:off x="819150" y="1676400"/>
            <a:ext cx="95250" cy="1257300"/>
          </a:xfrm>
          <a:prstGeom prst="rect">
            <a:avLst/>
          </a:prstGeom>
          <a:solidFill>
            <a:srgbClr val="F2A2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DEF570F-6751-4A3C-AD1E-AB441B80AF89}"/>
              </a:ext>
            </a:extLst>
          </p:cNvPr>
          <p:cNvSpPr>
            <a:spLocks noGrp="1"/>
          </p:cNvSpPr>
          <p:nvPr/>
        </p:nvSpPr>
        <p:spPr>
          <a:xfrm>
            <a:off x="1066800" y="1847850"/>
            <a:ext cx="4457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rPr>
              <a:t>显示同步与总线带宽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A0E7849-9744-4AE7-9A0B-B7903BC08A00}"/>
              </a:ext>
            </a:extLst>
          </p:cNvPr>
          <p:cNvSpPr>
            <a:spLocks noGrp="1"/>
          </p:cNvSpPr>
          <p:nvPr/>
        </p:nvSpPr>
        <p:spPr>
          <a:xfrm>
            <a:off x="1066800" y="2305050"/>
            <a:ext cx="44577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高负载下仍会出现轻微撕裂、卡顿或掉帧；后续可引出LCD TE同步信号，并将SD卡由SPI升级为4-bit SDMMC。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3440C25-1BF6-4245-864B-1D7CE6494DEC}"/>
              </a:ext>
            </a:extLst>
          </p:cNvPr>
          <p:cNvSpPr>
            <a:spLocks noGrp="1"/>
          </p:cNvSpPr>
          <p:nvPr/>
        </p:nvSpPr>
        <p:spPr>
          <a:xfrm>
            <a:off x="6343650" y="1676400"/>
            <a:ext cx="4953000" cy="12573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CC20F1D-D846-4425-9F3E-AC1FB70CBCE3}"/>
              </a:ext>
            </a:extLst>
          </p:cNvPr>
          <p:cNvSpPr>
            <a:spLocks noGrp="1"/>
          </p:cNvSpPr>
          <p:nvPr/>
        </p:nvSpPr>
        <p:spPr>
          <a:xfrm>
            <a:off x="6343650" y="1676400"/>
            <a:ext cx="95250" cy="1257300"/>
          </a:xfrm>
          <a:prstGeom prst="rect">
            <a:avLst/>
          </a:prstGeom>
          <a:solidFill>
            <a:srgbClr val="20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693DC9C-D065-4302-AA0A-6EF770B4C19F}"/>
              </a:ext>
            </a:extLst>
          </p:cNvPr>
          <p:cNvSpPr>
            <a:spLocks noGrp="1"/>
          </p:cNvSpPr>
          <p:nvPr/>
        </p:nvSpPr>
        <p:spPr>
          <a:xfrm>
            <a:off x="6591300" y="1847850"/>
            <a:ext cx="4457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硬件电源与低功耗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744FA6C-A8D3-46AF-BF8E-20ACCA5EDD14}"/>
              </a:ext>
            </a:extLst>
          </p:cNvPr>
          <p:cNvSpPr>
            <a:spLocks noGrp="1"/>
          </p:cNvSpPr>
          <p:nvPr/>
        </p:nvSpPr>
        <p:spPr>
          <a:xfrm>
            <a:off x="6591300" y="2305050"/>
            <a:ext cx="44577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LightSleep与DeepSleep仍为毫安级电流；后续可增加负载开关或PMOS电源门控，深睡时切断非必要外设供电。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E33C218-1F50-40E6-840F-88F1A6245689}"/>
              </a:ext>
            </a:extLst>
          </p:cNvPr>
          <p:cNvSpPr>
            <a:spLocks noGrp="1"/>
          </p:cNvSpPr>
          <p:nvPr/>
        </p:nvSpPr>
        <p:spPr>
          <a:xfrm>
            <a:off x="819150" y="3352800"/>
            <a:ext cx="4953000" cy="12573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ABC715-894D-462B-888B-E801411ED93A}"/>
              </a:ext>
            </a:extLst>
          </p:cNvPr>
          <p:cNvSpPr>
            <a:spLocks noGrp="1"/>
          </p:cNvSpPr>
          <p:nvPr/>
        </p:nvSpPr>
        <p:spPr>
          <a:xfrm>
            <a:off x="819150" y="3352800"/>
            <a:ext cx="95250" cy="1257300"/>
          </a:xfrm>
          <a:prstGeom prst="rect">
            <a:avLst/>
          </a:prstGeom>
          <a:solidFill>
            <a:srgbClr val="22A7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AC94CE6-4457-4212-8DCA-CC5BA533FF28}"/>
              </a:ext>
            </a:extLst>
          </p:cNvPr>
          <p:cNvSpPr>
            <a:spLocks noGrp="1"/>
          </p:cNvSpPr>
          <p:nvPr/>
        </p:nvSpPr>
        <p:spPr>
          <a:xfrm>
            <a:off x="1066800" y="3524250"/>
            <a:ext cx="4457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 err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RTC备用电源</a:t>
            </a:r>
            <a:endParaRPr sz="1800" b="1" dirty="0">
              <a:solidFill>
                <a:srgbClr val="22A7C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4069CBA-5CBC-4570-BA29-70880EDB9B85}"/>
              </a:ext>
            </a:extLst>
          </p:cNvPr>
          <p:cNvSpPr>
            <a:spLocks noGrp="1"/>
          </p:cNvSpPr>
          <p:nvPr/>
        </p:nvSpPr>
        <p:spPr>
          <a:xfrm>
            <a:off x="1066800" y="3981450"/>
            <a:ext cx="44577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当前RTC仍依赖主电池；后续可加入法拉电容或小容量备用电池，主电池耗尽后仍能保持基本走时</a:t>
            </a:r>
            <a:r>
              <a:rPr sz="142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508A03E-4B41-4091-A22C-79E531A19A81}"/>
              </a:ext>
            </a:extLst>
          </p:cNvPr>
          <p:cNvSpPr>
            <a:spLocks noGrp="1"/>
          </p:cNvSpPr>
          <p:nvPr/>
        </p:nvSpPr>
        <p:spPr>
          <a:xfrm>
            <a:off x="6343650" y="3352800"/>
            <a:ext cx="4953000" cy="12573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65931A0-7692-4D93-ABB0-2C030E45335A}"/>
              </a:ext>
            </a:extLst>
          </p:cNvPr>
          <p:cNvSpPr>
            <a:spLocks noGrp="1"/>
          </p:cNvSpPr>
          <p:nvPr/>
        </p:nvSpPr>
        <p:spPr>
          <a:xfrm>
            <a:off x="6343650" y="3352800"/>
            <a:ext cx="95250" cy="1257300"/>
          </a:xfrm>
          <a:prstGeom prst="rect">
            <a:avLst/>
          </a:prstGeom>
          <a:solidFill>
            <a:srgbClr val="E35D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E74ACEB-76CA-4433-94A1-262C9C6E0264}"/>
              </a:ext>
            </a:extLst>
          </p:cNvPr>
          <p:cNvSpPr>
            <a:spLocks noGrp="1"/>
          </p:cNvSpPr>
          <p:nvPr/>
        </p:nvSpPr>
        <p:spPr>
          <a:xfrm>
            <a:off x="6591300" y="3524250"/>
            <a:ext cx="4457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E35D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35D5B"/>
                </a:solidFill>
                <a:latin typeface="Microsoft YaHei"/>
                <a:ea typeface="Microsoft YaHei"/>
                <a:cs typeface="Microsoft YaHei"/>
              </a:rPr>
              <a:t>结构小型化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C27FCBF-27C3-48F2-AEBB-A80340C1A75E}"/>
              </a:ext>
            </a:extLst>
          </p:cNvPr>
          <p:cNvSpPr>
            <a:spLocks noGrp="1"/>
          </p:cNvSpPr>
          <p:nvPr/>
        </p:nvSpPr>
        <p:spPr>
          <a:xfrm>
            <a:off x="6591300" y="3981450"/>
            <a:ext cx="44577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3D打印外壳和FPC连接占用空间较大；后续可优化PCB与FPC座位置，降低整机厚度并提升佩戴体验。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705BEA2-43DE-4995-A24A-2CCD54DCC09B}"/>
              </a:ext>
            </a:extLst>
          </p:cNvPr>
          <p:cNvSpPr>
            <a:spLocks noGrp="1"/>
          </p:cNvSpPr>
          <p:nvPr/>
        </p:nvSpPr>
        <p:spPr>
          <a:xfrm>
            <a:off x="2495550" y="5410200"/>
            <a:ext cx="723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后续目标：更平滑显示、更低待机功耗、更小整机体积。</a:t>
            </a:r>
          </a:p>
        </p:txBody>
      </p:sp>
    </p:spTree>
    <p:extLst>
      <p:ext uri="{BB962C8B-B14F-4D97-AF65-F5344CB8AC3E}">
        <p14:creationId xmlns:p14="http://schemas.microsoft.com/office/powerpoint/2010/main" val="1233090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77074855-B289-4D01-A46C-3A36EBB259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AD333C26-6DC6-4408-AB40-9A98EC54DAE5}"/>
              </a:ext>
            </a:extLst>
          </p:cNvPr>
          <p:cNvSpPr>
            <a:spLocks noGrp="1"/>
          </p:cNvSpPr>
          <p:nvPr/>
        </p:nvSpPr>
        <p:spPr>
          <a:xfrm>
            <a:off x="-3143250" y="-2571750"/>
            <a:ext cx="4572000" cy="45720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EE012B45-F1A0-43A5-92DB-BE08F1424E11}"/>
              </a:ext>
            </a:extLst>
          </p:cNvPr>
          <p:cNvSpPr>
            <a:spLocks noGrp="1"/>
          </p:cNvSpPr>
          <p:nvPr/>
        </p:nvSpPr>
        <p:spPr>
          <a:xfrm>
            <a:off x="-2667000" y="-2095500"/>
            <a:ext cx="3429000" cy="34290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388F0FF-8371-44A6-83E7-A97E5F09BE22}"/>
              </a:ext>
            </a:extLst>
          </p:cNvPr>
          <p:cNvSpPr>
            <a:spLocks noGrp="1"/>
          </p:cNvSpPr>
          <p:nvPr/>
        </p:nvSpPr>
        <p:spPr>
          <a:xfrm>
            <a:off x="8477250" y="4171950"/>
            <a:ext cx="4953000" cy="49530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75F5C36-E4A8-4958-9822-CF3541A9F281}"/>
              </a:ext>
            </a:extLst>
          </p:cNvPr>
          <p:cNvSpPr>
            <a:spLocks noGrp="1"/>
          </p:cNvSpPr>
          <p:nvPr/>
        </p:nvSpPr>
        <p:spPr>
          <a:xfrm>
            <a:off x="9382125" y="5048250"/>
            <a:ext cx="2857500" cy="2857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A0F451-BF4C-4642-9885-6BF0C78FCD11}"/>
              </a:ext>
            </a:extLst>
          </p:cNvPr>
          <p:cNvSpPr>
            <a:spLocks noGrp="1"/>
          </p:cNvSpPr>
          <p:nvPr/>
        </p:nvSpPr>
        <p:spPr>
          <a:xfrm>
            <a:off x="0" y="5810250"/>
            <a:ext cx="12192000" cy="1047750"/>
          </a:xfrm>
          <a:prstGeom prst="rect">
            <a:avLst/>
          </a:prstGeom>
          <a:solidFill>
            <a:srgbClr val="223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F9D20BC-66D4-44AB-8858-CFC1C46CDB23}"/>
              </a:ext>
            </a:extLst>
          </p:cNvPr>
          <p:cNvSpPr>
            <a:spLocks noGrp="1"/>
          </p:cNvSpPr>
          <p:nvPr/>
        </p:nvSpPr>
        <p:spPr>
          <a:xfrm>
            <a:off x="57150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345A0BD-2DEA-4949-8AF3-D11DADF70738}"/>
              </a:ext>
            </a:extLst>
          </p:cNvPr>
          <p:cNvSpPr>
            <a:spLocks noGrp="1"/>
          </p:cNvSpPr>
          <p:nvPr/>
        </p:nvSpPr>
        <p:spPr>
          <a:xfrm>
            <a:off x="1123950" y="6296025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B8566D6-15EF-4103-AECF-D03A18718D30}"/>
              </a:ext>
            </a:extLst>
          </p:cNvPr>
          <p:cNvSpPr>
            <a:spLocks noGrp="1"/>
          </p:cNvSpPr>
          <p:nvPr/>
        </p:nvSpPr>
        <p:spPr>
          <a:xfrm>
            <a:off x="1676400" y="643890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C2762F1-A714-4940-BDDF-8D9797A0EAE7}"/>
              </a:ext>
            </a:extLst>
          </p:cNvPr>
          <p:cNvSpPr>
            <a:spLocks noGrp="1"/>
          </p:cNvSpPr>
          <p:nvPr/>
        </p:nvSpPr>
        <p:spPr>
          <a:xfrm>
            <a:off x="222885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07773C-7DC8-4141-B9B0-1A29C8E9DE33}"/>
              </a:ext>
            </a:extLst>
          </p:cNvPr>
          <p:cNvSpPr>
            <a:spLocks noGrp="1"/>
          </p:cNvSpPr>
          <p:nvPr/>
        </p:nvSpPr>
        <p:spPr>
          <a:xfrm>
            <a:off x="2781300" y="6296025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A27C2CE-13AD-4BF3-B17D-B36D3545ED12}"/>
              </a:ext>
            </a:extLst>
          </p:cNvPr>
          <p:cNvSpPr>
            <a:spLocks noGrp="1"/>
          </p:cNvSpPr>
          <p:nvPr/>
        </p:nvSpPr>
        <p:spPr>
          <a:xfrm>
            <a:off x="3333750" y="643890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6AC08FF-6090-4E6E-9743-200F85299F0F}"/>
              </a:ext>
            </a:extLst>
          </p:cNvPr>
          <p:cNvSpPr>
            <a:spLocks noGrp="1"/>
          </p:cNvSpPr>
          <p:nvPr/>
        </p:nvSpPr>
        <p:spPr>
          <a:xfrm>
            <a:off x="388620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10DBA7B-FD6D-4252-B9D2-FD095D62F7CA}"/>
              </a:ext>
            </a:extLst>
          </p:cNvPr>
          <p:cNvSpPr>
            <a:spLocks noGrp="1"/>
          </p:cNvSpPr>
          <p:nvPr/>
        </p:nvSpPr>
        <p:spPr>
          <a:xfrm>
            <a:off x="4438650" y="6296025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AB51050-4D27-4581-B2B8-CBFEFA5275D5}"/>
              </a:ext>
            </a:extLst>
          </p:cNvPr>
          <p:cNvSpPr>
            <a:spLocks noGrp="1"/>
          </p:cNvSpPr>
          <p:nvPr/>
        </p:nvSpPr>
        <p:spPr>
          <a:xfrm>
            <a:off x="4991100" y="643890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F9640B5-A4A1-43F7-BF95-9028666C3DFC}"/>
              </a:ext>
            </a:extLst>
          </p:cNvPr>
          <p:cNvSpPr>
            <a:spLocks noGrp="1"/>
          </p:cNvSpPr>
          <p:nvPr/>
        </p:nvSpPr>
        <p:spPr>
          <a:xfrm>
            <a:off x="554355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32B4420-0CE6-4BC9-BA61-7CCC978DDA64}"/>
              </a:ext>
            </a:extLst>
          </p:cNvPr>
          <p:cNvSpPr>
            <a:spLocks noGrp="1"/>
          </p:cNvSpPr>
          <p:nvPr/>
        </p:nvSpPr>
        <p:spPr>
          <a:xfrm>
            <a:off x="6096000" y="6296025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A631779-5C35-4C6B-9CE2-9C5EB1F20C59}"/>
              </a:ext>
            </a:extLst>
          </p:cNvPr>
          <p:cNvSpPr>
            <a:spLocks noGrp="1"/>
          </p:cNvSpPr>
          <p:nvPr/>
        </p:nvSpPr>
        <p:spPr>
          <a:xfrm>
            <a:off x="6648450" y="643890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741B40C-5217-420E-9EA7-3C672791448D}"/>
              </a:ext>
            </a:extLst>
          </p:cNvPr>
          <p:cNvSpPr>
            <a:spLocks noGrp="1"/>
          </p:cNvSpPr>
          <p:nvPr/>
        </p:nvSpPr>
        <p:spPr>
          <a:xfrm>
            <a:off x="720090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BF22C08-1C75-4E35-9E53-C387F75C6E6C}"/>
              </a:ext>
            </a:extLst>
          </p:cNvPr>
          <p:cNvSpPr>
            <a:spLocks noGrp="1"/>
          </p:cNvSpPr>
          <p:nvPr/>
        </p:nvSpPr>
        <p:spPr>
          <a:xfrm>
            <a:off x="7753350" y="6296025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B676DA0-875E-4E64-87C0-07ED012BCDD0}"/>
              </a:ext>
            </a:extLst>
          </p:cNvPr>
          <p:cNvSpPr>
            <a:spLocks noGrp="1"/>
          </p:cNvSpPr>
          <p:nvPr/>
        </p:nvSpPr>
        <p:spPr>
          <a:xfrm>
            <a:off x="8305800" y="643890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7480385-9C1E-440C-9E1B-ADD2A08115A6}"/>
              </a:ext>
            </a:extLst>
          </p:cNvPr>
          <p:cNvSpPr>
            <a:spLocks noGrp="1"/>
          </p:cNvSpPr>
          <p:nvPr/>
        </p:nvSpPr>
        <p:spPr>
          <a:xfrm>
            <a:off x="885825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DB0F7F1-DE4E-46C5-94B7-FCE46E59EB3E}"/>
              </a:ext>
            </a:extLst>
          </p:cNvPr>
          <p:cNvSpPr>
            <a:spLocks noGrp="1"/>
          </p:cNvSpPr>
          <p:nvPr/>
        </p:nvSpPr>
        <p:spPr>
          <a:xfrm>
            <a:off x="1504950" y="800100"/>
            <a:ext cx="2095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4B0388B-019C-4EEE-BE4E-D2DDCD9FAC81}"/>
              </a:ext>
            </a:extLst>
          </p:cNvPr>
          <p:cNvSpPr>
            <a:spLocks noGrp="1"/>
          </p:cNvSpPr>
          <p:nvPr/>
        </p:nvSpPr>
        <p:spPr>
          <a:xfrm>
            <a:off x="1543050" y="1524000"/>
            <a:ext cx="2857500" cy="47625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50F77AEB-06ED-4390-8C29-8ABC236C0689}"/>
              </a:ext>
            </a:extLst>
          </p:cNvPr>
          <p:cNvSpPr>
            <a:spLocks noGrp="1"/>
          </p:cNvSpPr>
          <p:nvPr/>
        </p:nvSpPr>
        <p:spPr>
          <a:xfrm>
            <a:off x="1123950" y="2238375"/>
            <a:ext cx="114300" cy="1143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B1E2773-2C7E-45C5-A30C-F86CB5F394DE}"/>
              </a:ext>
            </a:extLst>
          </p:cNvPr>
          <p:cNvSpPr>
            <a:spLocks noGrp="1"/>
          </p:cNvSpPr>
          <p:nvPr/>
        </p:nvSpPr>
        <p:spPr>
          <a:xfrm>
            <a:off x="1409700" y="2114550"/>
            <a:ext cx="7524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完成ESP32-S3R8低功耗触控智能手表样机设计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B1B842FC-4955-44D9-B5C9-29C5C2BFB806}"/>
              </a:ext>
            </a:extLst>
          </p:cNvPr>
          <p:cNvSpPr>
            <a:spLocks noGrp="1"/>
          </p:cNvSpPr>
          <p:nvPr/>
        </p:nvSpPr>
        <p:spPr>
          <a:xfrm>
            <a:off x="1123950" y="2867025"/>
            <a:ext cx="114300" cy="1143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310B0D7-FED6-4F90-B4C5-2700C20AC3C9}"/>
              </a:ext>
            </a:extLst>
          </p:cNvPr>
          <p:cNvSpPr>
            <a:spLocks noGrp="1"/>
          </p:cNvSpPr>
          <p:nvPr/>
        </p:nvSpPr>
        <p:spPr>
          <a:xfrm>
            <a:off x="1409700" y="2743200"/>
            <a:ext cx="7524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实现表盘、触摸交互、多媒体、小说、小游戏等本地功能</a:t>
            </a: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36CC58B4-1B59-465C-90A1-4FC567BC8E50}"/>
              </a:ext>
            </a:extLst>
          </p:cNvPr>
          <p:cNvSpPr>
            <a:spLocks noGrp="1"/>
          </p:cNvSpPr>
          <p:nvPr/>
        </p:nvSpPr>
        <p:spPr>
          <a:xfrm>
            <a:off x="1123950" y="3495675"/>
            <a:ext cx="114300" cy="1143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8A59F78-9EE3-434B-8C06-2A11E4D11E88}"/>
              </a:ext>
            </a:extLst>
          </p:cNvPr>
          <p:cNvSpPr>
            <a:spLocks noGrp="1"/>
          </p:cNvSpPr>
          <p:nvPr/>
        </p:nvSpPr>
        <p:spPr>
          <a:xfrm>
            <a:off x="1409700" y="3371850"/>
            <a:ext cx="7524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实现WiFi、天气、NTP、MQTT、本地/云端OTA等联网维护能力</a:t>
            </a: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DDBF9C80-78D1-4851-A168-05FCF6D6C8DB}"/>
              </a:ext>
            </a:extLst>
          </p:cNvPr>
          <p:cNvSpPr>
            <a:spLocks noGrp="1"/>
          </p:cNvSpPr>
          <p:nvPr/>
        </p:nvSpPr>
        <p:spPr>
          <a:xfrm>
            <a:off x="1123950" y="4124325"/>
            <a:ext cx="114300" cy="1143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C00D39D-788D-48DD-8771-E02CA1438BB2}"/>
              </a:ext>
            </a:extLst>
          </p:cNvPr>
          <p:cNvSpPr>
            <a:spLocks noGrp="1"/>
          </p:cNvSpPr>
          <p:nvPr/>
        </p:nvSpPr>
        <p:spPr>
          <a:xfrm>
            <a:off x="1409700" y="4000500"/>
            <a:ext cx="7524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通过FreeRTOS任务划分与异步消息队列完成业务和显示解耦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AD4B87C-CC31-4E7E-B4B9-7331D7E9F855}"/>
              </a:ext>
            </a:extLst>
          </p:cNvPr>
          <p:cNvSpPr>
            <a:spLocks noGrp="1"/>
          </p:cNvSpPr>
          <p:nvPr/>
        </p:nvSpPr>
        <p:spPr>
          <a:xfrm>
            <a:off x="1143000" y="5010150"/>
            <a:ext cx="7810500" cy="17145"/>
          </a:xfrm>
          <a:prstGeom prst="rect">
            <a:avLst/>
          </a:prstGeom>
          <a:solidFill>
            <a:srgbClr val="AAC0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E053ED6-FC32-4BD1-8F41-455E5CE63DD6}"/>
              </a:ext>
            </a:extLst>
          </p:cNvPr>
          <p:cNvSpPr>
            <a:spLocks noGrp="1"/>
          </p:cNvSpPr>
          <p:nvPr/>
        </p:nvSpPr>
        <p:spPr>
          <a:xfrm>
            <a:off x="1143000" y="5238750"/>
            <a:ext cx="7239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0">
                <a:solidFill>
                  <a:srgbClr val="E8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8F1FF"/>
                </a:solidFill>
                <a:latin typeface="Microsoft YaHei"/>
                <a:ea typeface="Microsoft YaHei"/>
                <a:cs typeface="Microsoft YaHei"/>
              </a:rPr>
              <a:t>后续将围绕显示同步、存储带宽、外设断电和结构小型化继续优化，使系统更接近可长期佩戴的工程样机。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23767ED-9202-4023-BB8E-3766C730898F}"/>
              </a:ext>
            </a:extLst>
          </p:cNvPr>
          <p:cNvSpPr>
            <a:spLocks noGrp="1"/>
          </p:cNvSpPr>
          <p:nvPr/>
        </p:nvSpPr>
        <p:spPr>
          <a:xfrm>
            <a:off x="7239000" y="6057900"/>
            <a:ext cx="3619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谢谢各位老师批评指正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175362408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762</Words>
  <Application>Microsoft Office PowerPoint</Application>
  <DocSecurity>0</DocSecurity>
  <PresentationFormat>宽屏</PresentationFormat>
  <Paragraphs>213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1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zd w</cp:lastModifiedBy>
  <cp:revision>3</cp:revision>
  <dcterms:created xsi:type="dcterms:W3CDTF">2026-05-27T18:48:14Z</dcterms:created>
  <dcterms:modified xsi:type="dcterms:W3CDTF">2026-05-28T05:15:40Z</dcterms:modified>
</cp:coreProperties>
</file>