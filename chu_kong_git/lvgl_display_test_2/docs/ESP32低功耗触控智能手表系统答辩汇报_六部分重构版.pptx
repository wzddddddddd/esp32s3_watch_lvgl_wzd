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60" r:id="rId5"/>
    <p:sldId id="262" r:id="rId6"/>
    <p:sldId id="263" r:id="rId7"/>
    <p:sldId id="265" r:id="rId8"/>
    <p:sldId id="266" r:id="rId9"/>
    <p:sldId id="267" r:id="rId10"/>
    <p:sldId id="269" r:id="rId11"/>
    <p:sldId id="270" r:id="rId12"/>
    <p:sldId id="271" r:id="rId13"/>
    <p:sldId id="272" r:id="rId14"/>
    <p:sldId id="273" r:id="rId15"/>
    <p:sldId id="275" r:id="rId16"/>
    <p:sldId id="276" r:id="rId17"/>
    <p:sldId id="277" r:id="rId18"/>
    <p:sldId id="278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56" d="100"/>
          <a:sy n="56" d="100"/>
        </p:scale>
        <p:origin x="8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A798F487-1032-4462-888A-59D61FE2BD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C0EDAF76-F258-4FD8-B6F6-F761B2C43443}"/>
              </a:ext>
            </a:extLst>
          </p:cNvPr>
          <p:cNvSpPr>
            <a:spLocks noGrp="1"/>
          </p:cNvSpPr>
          <p:nvPr/>
        </p:nvSpPr>
        <p:spPr>
          <a:xfrm>
            <a:off x="-3143250" y="-2571750"/>
            <a:ext cx="4572000" cy="45720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FE62E317-7D8E-44B6-B93E-50D65EFAEA34}"/>
              </a:ext>
            </a:extLst>
          </p:cNvPr>
          <p:cNvSpPr>
            <a:spLocks noGrp="1"/>
          </p:cNvSpPr>
          <p:nvPr/>
        </p:nvSpPr>
        <p:spPr>
          <a:xfrm>
            <a:off x="-2667000" y="-2095500"/>
            <a:ext cx="3429000" cy="34290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30556C49-F851-45A8-8DE4-648834C81B04}"/>
              </a:ext>
            </a:extLst>
          </p:cNvPr>
          <p:cNvSpPr>
            <a:spLocks noGrp="1"/>
          </p:cNvSpPr>
          <p:nvPr/>
        </p:nvSpPr>
        <p:spPr>
          <a:xfrm>
            <a:off x="8477250" y="4171950"/>
            <a:ext cx="4953000" cy="49530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BD06E555-807B-41D2-80CF-23D6587AB059}"/>
              </a:ext>
            </a:extLst>
          </p:cNvPr>
          <p:cNvSpPr>
            <a:spLocks noGrp="1"/>
          </p:cNvSpPr>
          <p:nvPr/>
        </p:nvSpPr>
        <p:spPr>
          <a:xfrm>
            <a:off x="9382125" y="5048250"/>
            <a:ext cx="2857500" cy="2857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FB4B57-F651-4471-BFB0-FA882A86FE5F}"/>
              </a:ext>
            </a:extLst>
          </p:cNvPr>
          <p:cNvSpPr>
            <a:spLocks noGrp="1"/>
          </p:cNvSpPr>
          <p:nvPr/>
        </p:nvSpPr>
        <p:spPr>
          <a:xfrm>
            <a:off x="0" y="5810250"/>
            <a:ext cx="12192000" cy="1047750"/>
          </a:xfrm>
          <a:prstGeom prst="rect">
            <a:avLst/>
          </a:prstGeom>
          <a:solidFill>
            <a:srgbClr val="223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9E1432-89B7-4FC1-A0BA-9FB479F0A55C}"/>
              </a:ext>
            </a:extLst>
          </p:cNvPr>
          <p:cNvSpPr>
            <a:spLocks noGrp="1"/>
          </p:cNvSpPr>
          <p:nvPr/>
        </p:nvSpPr>
        <p:spPr>
          <a:xfrm>
            <a:off x="57150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547D5D-572D-45A1-8EF2-CD4CE35DAC46}"/>
              </a:ext>
            </a:extLst>
          </p:cNvPr>
          <p:cNvSpPr>
            <a:spLocks noGrp="1"/>
          </p:cNvSpPr>
          <p:nvPr/>
        </p:nvSpPr>
        <p:spPr>
          <a:xfrm>
            <a:off x="112395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8D677E-FA06-4810-8C5F-A89A85D65D55}"/>
              </a:ext>
            </a:extLst>
          </p:cNvPr>
          <p:cNvSpPr>
            <a:spLocks noGrp="1"/>
          </p:cNvSpPr>
          <p:nvPr/>
        </p:nvSpPr>
        <p:spPr>
          <a:xfrm>
            <a:off x="167640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AFB14BE-2D18-486D-9DCF-5F596741A299}"/>
              </a:ext>
            </a:extLst>
          </p:cNvPr>
          <p:cNvSpPr>
            <a:spLocks noGrp="1"/>
          </p:cNvSpPr>
          <p:nvPr/>
        </p:nvSpPr>
        <p:spPr>
          <a:xfrm>
            <a:off x="222885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A17EB3-B43B-418E-A224-CF01F56F60AD}"/>
              </a:ext>
            </a:extLst>
          </p:cNvPr>
          <p:cNvSpPr>
            <a:spLocks noGrp="1"/>
          </p:cNvSpPr>
          <p:nvPr/>
        </p:nvSpPr>
        <p:spPr>
          <a:xfrm>
            <a:off x="278130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C730C50-7428-41B8-A527-BB3DC244F02A}"/>
              </a:ext>
            </a:extLst>
          </p:cNvPr>
          <p:cNvSpPr>
            <a:spLocks noGrp="1"/>
          </p:cNvSpPr>
          <p:nvPr/>
        </p:nvSpPr>
        <p:spPr>
          <a:xfrm>
            <a:off x="333375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9124BCE-8929-4049-B7EB-EE9FF2DEA1D0}"/>
              </a:ext>
            </a:extLst>
          </p:cNvPr>
          <p:cNvSpPr>
            <a:spLocks noGrp="1"/>
          </p:cNvSpPr>
          <p:nvPr/>
        </p:nvSpPr>
        <p:spPr>
          <a:xfrm>
            <a:off x="388620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E739558-A696-4D71-94F9-7BB60A37EFFC}"/>
              </a:ext>
            </a:extLst>
          </p:cNvPr>
          <p:cNvSpPr>
            <a:spLocks noGrp="1"/>
          </p:cNvSpPr>
          <p:nvPr/>
        </p:nvSpPr>
        <p:spPr>
          <a:xfrm>
            <a:off x="443865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771739E-5F92-4454-9D33-44DB846E16BF}"/>
              </a:ext>
            </a:extLst>
          </p:cNvPr>
          <p:cNvSpPr>
            <a:spLocks noGrp="1"/>
          </p:cNvSpPr>
          <p:nvPr/>
        </p:nvSpPr>
        <p:spPr>
          <a:xfrm>
            <a:off x="499110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F519B94-15F3-4D06-BCD0-EA3A82DB279F}"/>
              </a:ext>
            </a:extLst>
          </p:cNvPr>
          <p:cNvSpPr>
            <a:spLocks noGrp="1"/>
          </p:cNvSpPr>
          <p:nvPr/>
        </p:nvSpPr>
        <p:spPr>
          <a:xfrm>
            <a:off x="554355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7EAB4DD-C793-464B-B555-E5ABF879503D}"/>
              </a:ext>
            </a:extLst>
          </p:cNvPr>
          <p:cNvSpPr>
            <a:spLocks noGrp="1"/>
          </p:cNvSpPr>
          <p:nvPr/>
        </p:nvSpPr>
        <p:spPr>
          <a:xfrm>
            <a:off x="609600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D93163F-87F2-45FC-AB88-5D93BC1F3061}"/>
              </a:ext>
            </a:extLst>
          </p:cNvPr>
          <p:cNvSpPr>
            <a:spLocks noGrp="1"/>
          </p:cNvSpPr>
          <p:nvPr/>
        </p:nvSpPr>
        <p:spPr>
          <a:xfrm>
            <a:off x="664845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53157E8-BD0A-4433-8A9A-127C53995F2D}"/>
              </a:ext>
            </a:extLst>
          </p:cNvPr>
          <p:cNvSpPr>
            <a:spLocks noGrp="1"/>
          </p:cNvSpPr>
          <p:nvPr/>
        </p:nvSpPr>
        <p:spPr>
          <a:xfrm>
            <a:off x="720090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6839592-EE7E-40D6-8B1E-36AAE3AB2E8E}"/>
              </a:ext>
            </a:extLst>
          </p:cNvPr>
          <p:cNvSpPr>
            <a:spLocks noGrp="1"/>
          </p:cNvSpPr>
          <p:nvPr/>
        </p:nvSpPr>
        <p:spPr>
          <a:xfrm>
            <a:off x="775335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FD70C21-9625-4BE0-9A82-0F5AC882EC85}"/>
              </a:ext>
            </a:extLst>
          </p:cNvPr>
          <p:cNvSpPr>
            <a:spLocks noGrp="1"/>
          </p:cNvSpPr>
          <p:nvPr/>
        </p:nvSpPr>
        <p:spPr>
          <a:xfrm>
            <a:off x="830580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5E6AB0B-7DB9-45AD-8DFC-C2E7EC64F5E6}"/>
              </a:ext>
            </a:extLst>
          </p:cNvPr>
          <p:cNvSpPr>
            <a:spLocks noGrp="1"/>
          </p:cNvSpPr>
          <p:nvPr/>
        </p:nvSpPr>
        <p:spPr>
          <a:xfrm>
            <a:off x="885825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540A00C-2F1E-4AEE-8F75-8F07E8719C6C}"/>
              </a:ext>
            </a:extLst>
          </p:cNvPr>
          <p:cNvSpPr>
            <a:spLocks noGrp="1"/>
          </p:cNvSpPr>
          <p:nvPr/>
        </p:nvSpPr>
        <p:spPr>
          <a:xfrm>
            <a:off x="1409700" y="590550"/>
            <a:ext cx="495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1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HENAN POLYTECHNIC UNIVERSITY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4F2A004-291F-406F-85F3-17D21988F7E3}"/>
              </a:ext>
            </a:extLst>
          </p:cNvPr>
          <p:cNvSpPr>
            <a:spLocks noGrp="1"/>
          </p:cNvSpPr>
          <p:nvPr/>
        </p:nvSpPr>
        <p:spPr>
          <a:xfrm>
            <a:off x="1428750" y="1390650"/>
            <a:ext cx="5524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基于ESP32的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A131716-77E0-4612-9321-075385E193A8}"/>
              </a:ext>
            </a:extLst>
          </p:cNvPr>
          <p:cNvSpPr>
            <a:spLocks noGrp="1"/>
          </p:cNvSpPr>
          <p:nvPr/>
        </p:nvSpPr>
        <p:spPr>
          <a:xfrm>
            <a:off x="1409700" y="1924050"/>
            <a:ext cx="9334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低功耗触控智能手表系统设计与实现</a:t>
            </a:r>
            <a:endParaRPr sz="36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3D230CD-B7B9-4D39-A5E4-484716BBDBAC}"/>
              </a:ext>
            </a:extLst>
          </p:cNvPr>
          <p:cNvSpPr>
            <a:spLocks noGrp="1"/>
          </p:cNvSpPr>
          <p:nvPr/>
        </p:nvSpPr>
        <p:spPr>
          <a:xfrm>
            <a:off x="1447800" y="2895600"/>
            <a:ext cx="4000500" cy="38100"/>
          </a:xfrm>
          <a:prstGeom prst="rect">
            <a:avLst/>
          </a:prstGeom>
          <a:solidFill>
            <a:srgbClr val="DDE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D527747-6586-4F30-BEA2-C6CA82BA8687}"/>
              </a:ext>
            </a:extLst>
          </p:cNvPr>
          <p:cNvSpPr>
            <a:spLocks noGrp="1"/>
          </p:cNvSpPr>
          <p:nvPr/>
        </p:nvSpPr>
        <p:spPr>
          <a:xfrm>
            <a:off x="1447800" y="3219450"/>
            <a:ext cx="3429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950" b="1">
                <a:solidFill>
                  <a:srgbClr val="E8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dirty="0" err="1">
                <a:solidFill>
                  <a:srgbClr val="E8F1FF"/>
                </a:solidFill>
                <a:latin typeface="Microsoft YaHei"/>
                <a:ea typeface="Microsoft YaHei"/>
                <a:cs typeface="Microsoft YaHei"/>
              </a:rPr>
              <a:t>毕业设计答辩汇报</a:t>
            </a:r>
            <a:endParaRPr sz="1950" b="1" dirty="0">
              <a:solidFill>
                <a:srgbClr val="E8F1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52F882D-6597-4ED1-B6AC-A283231A4A46}"/>
              </a:ext>
            </a:extLst>
          </p:cNvPr>
          <p:cNvSpPr>
            <a:spLocks noGrp="1"/>
          </p:cNvSpPr>
          <p:nvPr/>
        </p:nvSpPr>
        <p:spPr>
          <a:xfrm>
            <a:off x="1485900" y="4095750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答辩人：吴</a:t>
            </a:r>
            <a:r>
              <a:rPr lang="zh-CN" altLang="en-US" sz="18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钟锭</a:t>
            </a:r>
            <a:endParaRPr sz="187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1F5336E-6CC3-45DF-A21C-B437E575557E}"/>
              </a:ext>
            </a:extLst>
          </p:cNvPr>
          <p:cNvSpPr>
            <a:spLocks noGrp="1"/>
          </p:cNvSpPr>
          <p:nvPr/>
        </p:nvSpPr>
        <p:spPr>
          <a:xfrm>
            <a:off x="1485900" y="4572000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指导教师：乔美英</a:t>
            </a:r>
            <a:endParaRPr sz="187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919E13D-BB00-4F88-AD7F-89E9F37D4309}"/>
              </a:ext>
            </a:extLst>
          </p:cNvPr>
          <p:cNvSpPr>
            <a:spLocks noGrp="1"/>
          </p:cNvSpPr>
          <p:nvPr/>
        </p:nvSpPr>
        <p:spPr>
          <a:xfrm>
            <a:off x="1409700" y="6076950"/>
            <a:ext cx="723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EA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AF3FF"/>
                </a:solidFill>
                <a:latin typeface="Microsoft YaHei"/>
                <a:ea typeface="Microsoft YaHei"/>
                <a:cs typeface="Microsoft YaHei"/>
              </a:rPr>
              <a:t>ESP32-S3R8 / FreeRTOS / LVGL / 低功耗 / OTA</a:t>
            </a:r>
          </a:p>
        </p:txBody>
      </p:sp>
    </p:spTree>
    <p:extLst>
      <p:ext uri="{BB962C8B-B14F-4D97-AF65-F5344CB8AC3E}">
        <p14:creationId xmlns:p14="http://schemas.microsoft.com/office/powerpoint/2010/main" val="1128761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8EB70249-40D9-40A9-9F48-5AF70F5829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D5B134AE-BBB3-4508-8D54-7B7827D6F47D}"/>
              </a:ext>
            </a:extLst>
          </p:cNvPr>
          <p:cNvSpPr>
            <a:spLocks noGrp="1"/>
          </p:cNvSpPr>
          <p:nvPr/>
        </p:nvSpPr>
        <p:spPr>
          <a:xfrm>
            <a:off x="2238375" y="-2476500"/>
            <a:ext cx="7715250" cy="41910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DF67010-E14B-400C-9CC5-2E74250B83B3}"/>
              </a:ext>
            </a:extLst>
          </p:cNvPr>
          <p:cNvSpPr>
            <a:spLocks noGrp="1"/>
          </p:cNvSpPr>
          <p:nvPr/>
        </p:nvSpPr>
        <p:spPr>
          <a:xfrm>
            <a:off x="5429250" y="419100"/>
            <a:ext cx="1333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9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19E1F61-57A2-463B-8E56-44563CBCAEB2}"/>
              </a:ext>
            </a:extLst>
          </p:cNvPr>
          <p:cNvSpPr>
            <a:spLocks noGrp="1"/>
          </p:cNvSpPr>
          <p:nvPr/>
        </p:nvSpPr>
        <p:spPr>
          <a:xfrm>
            <a:off x="5219700" y="838200"/>
            <a:ext cx="1752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23F65E9E-8A2D-40AC-8D24-47F247259890}"/>
              </a:ext>
            </a:extLst>
          </p:cNvPr>
          <p:cNvSpPr>
            <a:spLocks noGrp="1"/>
          </p:cNvSpPr>
          <p:nvPr/>
        </p:nvSpPr>
        <p:spPr>
          <a:xfrm>
            <a:off x="2000250" y="2038350"/>
            <a:ext cx="552450" cy="5524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A4C20F8-C72A-4DCC-937F-A172B977C0BF}"/>
              </a:ext>
            </a:extLst>
          </p:cNvPr>
          <p:cNvSpPr>
            <a:spLocks noGrp="1"/>
          </p:cNvSpPr>
          <p:nvPr/>
        </p:nvSpPr>
        <p:spPr>
          <a:xfrm>
            <a:off x="2124075" y="2114550"/>
            <a:ext cx="304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783D472-DB4C-42D8-A902-EAF1663723B9}"/>
              </a:ext>
            </a:extLst>
          </p:cNvPr>
          <p:cNvSpPr>
            <a:spLocks noGrp="1"/>
          </p:cNvSpPr>
          <p:nvPr/>
        </p:nvSpPr>
        <p:spPr>
          <a:xfrm>
            <a:off x="2781300" y="202882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绪论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C0781CF-567C-4E0F-B5DB-781BF8DE5AB5}"/>
              </a:ext>
            </a:extLst>
          </p:cNvPr>
          <p:cNvSpPr>
            <a:spLocks noGrp="1"/>
          </p:cNvSpPr>
          <p:nvPr/>
        </p:nvSpPr>
        <p:spPr>
          <a:xfrm>
            <a:off x="2800350" y="2409825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endParaRPr sz="1275" b="0" dirty="0">
              <a:solidFill>
                <a:srgbClr val="DDE8F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CC844478-A3C9-46C9-8B76-5AC1AA309135}"/>
              </a:ext>
            </a:extLst>
          </p:cNvPr>
          <p:cNvSpPr>
            <a:spLocks noGrp="1"/>
          </p:cNvSpPr>
          <p:nvPr/>
        </p:nvSpPr>
        <p:spPr>
          <a:xfrm>
            <a:off x="2000250" y="3200400"/>
            <a:ext cx="552450" cy="5524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4CE983F-3EE1-419C-826A-AA69EAEFE6E6}"/>
              </a:ext>
            </a:extLst>
          </p:cNvPr>
          <p:cNvSpPr>
            <a:spLocks noGrp="1"/>
          </p:cNvSpPr>
          <p:nvPr/>
        </p:nvSpPr>
        <p:spPr>
          <a:xfrm>
            <a:off x="2124075" y="3276600"/>
            <a:ext cx="304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7FF1961-A369-4097-8881-AAE6077DFF76}"/>
              </a:ext>
            </a:extLst>
          </p:cNvPr>
          <p:cNvSpPr>
            <a:spLocks noGrp="1"/>
          </p:cNvSpPr>
          <p:nvPr/>
        </p:nvSpPr>
        <p:spPr>
          <a:xfrm>
            <a:off x="2781300" y="319087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总体设计</a:t>
            </a:r>
            <a:endParaRPr sz="217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4FD9EB96-27EA-4F8E-AB3A-6111DC8DF182}"/>
              </a:ext>
            </a:extLst>
          </p:cNvPr>
          <p:cNvSpPr>
            <a:spLocks noGrp="1"/>
          </p:cNvSpPr>
          <p:nvPr/>
        </p:nvSpPr>
        <p:spPr>
          <a:xfrm>
            <a:off x="2000250" y="4362450"/>
            <a:ext cx="552450" cy="5524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21E5212-24F3-4DD7-BA0A-ACE07A6D324C}"/>
              </a:ext>
            </a:extLst>
          </p:cNvPr>
          <p:cNvSpPr>
            <a:spLocks noGrp="1"/>
          </p:cNvSpPr>
          <p:nvPr/>
        </p:nvSpPr>
        <p:spPr>
          <a:xfrm>
            <a:off x="2124075" y="4438650"/>
            <a:ext cx="304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C44B410-A97C-40C8-A8F8-AFF3C8306C31}"/>
              </a:ext>
            </a:extLst>
          </p:cNvPr>
          <p:cNvSpPr>
            <a:spLocks noGrp="1"/>
          </p:cNvSpPr>
          <p:nvPr/>
        </p:nvSpPr>
        <p:spPr>
          <a:xfrm>
            <a:off x="2781300" y="435292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硬件设计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8ECF9C8C-C1C0-4DBE-B6F0-33E526CEECD3}"/>
              </a:ext>
            </a:extLst>
          </p:cNvPr>
          <p:cNvSpPr>
            <a:spLocks noGrp="1"/>
          </p:cNvSpPr>
          <p:nvPr/>
        </p:nvSpPr>
        <p:spPr>
          <a:xfrm>
            <a:off x="6858000" y="2038350"/>
            <a:ext cx="552450" cy="5524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826A90B-2E24-43CB-BB27-477E1D22C0AB}"/>
              </a:ext>
            </a:extLst>
          </p:cNvPr>
          <p:cNvSpPr>
            <a:spLocks noGrp="1"/>
          </p:cNvSpPr>
          <p:nvPr/>
        </p:nvSpPr>
        <p:spPr>
          <a:xfrm>
            <a:off x="6981825" y="2114550"/>
            <a:ext cx="304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1A05D02-3BE0-4F0E-AB19-64F5DBBFBCD1}"/>
              </a:ext>
            </a:extLst>
          </p:cNvPr>
          <p:cNvSpPr>
            <a:spLocks noGrp="1"/>
          </p:cNvSpPr>
          <p:nvPr/>
        </p:nvSpPr>
        <p:spPr>
          <a:xfrm>
            <a:off x="7639050" y="202882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软件设计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A87EC7E-CEF8-40E8-8E23-2CFA996366F1}"/>
              </a:ext>
            </a:extLst>
          </p:cNvPr>
          <p:cNvSpPr>
            <a:spLocks noGrp="1"/>
          </p:cNvSpPr>
          <p:nvPr/>
        </p:nvSpPr>
        <p:spPr>
          <a:xfrm>
            <a:off x="7658100" y="2409825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endParaRPr sz="1275" b="0" dirty="0">
              <a:solidFill>
                <a:srgbClr val="DDE8F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875B87A0-5282-44DD-9B96-7B083DED6CF0}"/>
              </a:ext>
            </a:extLst>
          </p:cNvPr>
          <p:cNvSpPr>
            <a:spLocks noGrp="1"/>
          </p:cNvSpPr>
          <p:nvPr/>
        </p:nvSpPr>
        <p:spPr>
          <a:xfrm>
            <a:off x="6858000" y="3200400"/>
            <a:ext cx="552450" cy="5524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7A3B7E7-C287-4249-95FC-2BA00F29DF32}"/>
              </a:ext>
            </a:extLst>
          </p:cNvPr>
          <p:cNvSpPr>
            <a:spLocks noGrp="1"/>
          </p:cNvSpPr>
          <p:nvPr/>
        </p:nvSpPr>
        <p:spPr>
          <a:xfrm>
            <a:off x="6981825" y="3276600"/>
            <a:ext cx="304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F435660-39A3-47D6-BAF6-4091930267B8}"/>
              </a:ext>
            </a:extLst>
          </p:cNvPr>
          <p:cNvSpPr>
            <a:spLocks noGrp="1"/>
          </p:cNvSpPr>
          <p:nvPr/>
        </p:nvSpPr>
        <p:spPr>
          <a:xfrm>
            <a:off x="7639050" y="319087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系统调试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A09AD07E-98DF-4846-983F-969B19D8CE81}"/>
              </a:ext>
            </a:extLst>
          </p:cNvPr>
          <p:cNvSpPr>
            <a:spLocks noGrp="1"/>
          </p:cNvSpPr>
          <p:nvPr/>
        </p:nvSpPr>
        <p:spPr>
          <a:xfrm>
            <a:off x="6858000" y="4362450"/>
            <a:ext cx="552450" cy="5524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B86E0A2-8899-4AA1-8FC0-90755FBD8681}"/>
              </a:ext>
            </a:extLst>
          </p:cNvPr>
          <p:cNvSpPr>
            <a:spLocks noGrp="1"/>
          </p:cNvSpPr>
          <p:nvPr/>
        </p:nvSpPr>
        <p:spPr>
          <a:xfrm>
            <a:off x="6981825" y="4438650"/>
            <a:ext cx="304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2C08142-8786-43E6-B2F7-4C3943452993}"/>
              </a:ext>
            </a:extLst>
          </p:cNvPr>
          <p:cNvSpPr>
            <a:spLocks noGrp="1"/>
          </p:cNvSpPr>
          <p:nvPr/>
        </p:nvSpPr>
        <p:spPr>
          <a:xfrm>
            <a:off x="7639050" y="435292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1537370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225AED3E-B149-49FD-9735-F4566D4A5B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52F375F8-44B2-4880-B60B-731C0B57EC73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B775E867-893A-4F13-805F-C010397D3222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6EFF142-D763-4403-9502-DBCEEE40C4E6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FFD954-CBF8-4E75-B13A-E4F669133BD6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2F7FC4-E80C-45E2-9DC2-D487E97D62E4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A010AB4-02EA-4831-8C1A-05734CB1E85C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4E6CBC-B095-457C-949C-0ED11BA66055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  <a:r>
              <a:rPr sz="25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lang="zh-CN" altLang="en-US" sz="25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常见</a:t>
            </a:r>
            <a:r>
              <a:rPr sz="2550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智能手表路线</a:t>
            </a:r>
            <a:endParaRPr sz="2550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BB99AFB-DC48-43AD-91A7-94BBD181EA92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F4E444B-2A2E-47A3-AF9B-C792FB6CADAE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3286125" cy="27622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CDF3DCE-76D5-4362-8D0A-AEC14E067448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95250" cy="276225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0F9192E-CEE6-4A01-BF01-206CF137300D}"/>
              </a:ext>
            </a:extLst>
          </p:cNvPr>
          <p:cNvSpPr>
            <a:spLocks noGrp="1"/>
          </p:cNvSpPr>
          <p:nvPr/>
        </p:nvSpPr>
        <p:spPr>
          <a:xfrm>
            <a:off x="933450" y="1924050"/>
            <a:ext cx="27908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 err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高端品牌路线</a:t>
            </a:r>
            <a:endParaRPr sz="1800" b="1" dirty="0">
              <a:solidFill>
                <a:srgbClr val="38548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DBE09AA-BA23-4981-B119-BCBA03F86264}"/>
              </a:ext>
            </a:extLst>
          </p:cNvPr>
          <p:cNvSpPr>
            <a:spLocks noGrp="1"/>
          </p:cNvSpPr>
          <p:nvPr/>
        </p:nvSpPr>
        <p:spPr>
          <a:xfrm>
            <a:off x="933450" y="2381250"/>
            <a:ext cx="2790825" cy="1981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采用高集成芯片、成熟操作系统和完整生态，交互体验与佩戴体验更好，但研发投入、物料成本和整机售价都较高</a:t>
            </a:r>
            <a:r>
              <a:rPr sz="142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4DA9BCE-E185-4B40-9880-CD72EBC38341}"/>
              </a:ext>
            </a:extLst>
          </p:cNvPr>
          <p:cNvSpPr>
            <a:spLocks noGrp="1"/>
          </p:cNvSpPr>
          <p:nvPr/>
        </p:nvSpPr>
        <p:spPr>
          <a:xfrm>
            <a:off x="4457700" y="1752600"/>
            <a:ext cx="3286125" cy="27622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987DC91-B97D-4E83-9B8B-95138C1A82DA}"/>
              </a:ext>
            </a:extLst>
          </p:cNvPr>
          <p:cNvSpPr>
            <a:spLocks noGrp="1"/>
          </p:cNvSpPr>
          <p:nvPr/>
        </p:nvSpPr>
        <p:spPr>
          <a:xfrm>
            <a:off x="4457700" y="1752600"/>
            <a:ext cx="95250" cy="2762250"/>
          </a:xfrm>
          <a:prstGeom prst="rect">
            <a:avLst/>
          </a:prstGeom>
          <a:solidFill>
            <a:srgbClr val="22A7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08B978-BD13-432B-906D-57EFBC6CC536}"/>
              </a:ext>
            </a:extLst>
          </p:cNvPr>
          <p:cNvSpPr>
            <a:spLocks noGrp="1"/>
          </p:cNvSpPr>
          <p:nvPr/>
        </p:nvSpPr>
        <p:spPr>
          <a:xfrm>
            <a:off x="4705350" y="1924050"/>
            <a:ext cx="27908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1" dirty="0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国内常用</a:t>
            </a:r>
            <a:r>
              <a:rPr sz="1800" b="1" dirty="0" err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低成本路线</a:t>
            </a:r>
            <a:endParaRPr sz="1800" b="1" dirty="0">
              <a:solidFill>
                <a:srgbClr val="22A7C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27B3D92-8B07-49CB-AE51-2081DD58DA67}"/>
              </a:ext>
            </a:extLst>
          </p:cNvPr>
          <p:cNvSpPr>
            <a:spLocks noGrp="1"/>
          </p:cNvSpPr>
          <p:nvPr/>
        </p:nvSpPr>
        <p:spPr>
          <a:xfrm>
            <a:off x="4705350" y="2381250"/>
            <a:ext cx="2790825" cy="1981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杰理、珠海鸿芯等厂商通常提供手表芯片和完整Demo</a:t>
            </a:r>
            <a:r>
              <a:rPr sz="142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2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SDK，厂家通过宏定义与局部修改即可快速形成量产产品</a:t>
            </a:r>
            <a:r>
              <a:rPr sz="142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08D668A-8728-41F3-9CD0-F6B138175C30}"/>
              </a:ext>
            </a:extLst>
          </p:cNvPr>
          <p:cNvSpPr>
            <a:spLocks noGrp="1"/>
          </p:cNvSpPr>
          <p:nvPr/>
        </p:nvSpPr>
        <p:spPr>
          <a:xfrm>
            <a:off x="8229600" y="1752600"/>
            <a:ext cx="3286125" cy="27622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B251C06-65D8-421A-BA13-57377124AB9A}"/>
              </a:ext>
            </a:extLst>
          </p:cNvPr>
          <p:cNvSpPr>
            <a:spLocks noGrp="1"/>
          </p:cNvSpPr>
          <p:nvPr/>
        </p:nvSpPr>
        <p:spPr>
          <a:xfrm>
            <a:off x="8229600" y="1752600"/>
            <a:ext cx="95250" cy="2762250"/>
          </a:xfrm>
          <a:prstGeom prst="rect">
            <a:avLst/>
          </a:prstGeom>
          <a:solidFill>
            <a:srgbClr val="20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3A01899-8E5A-4F1D-87DA-BA82FF8B42B8}"/>
              </a:ext>
            </a:extLst>
          </p:cNvPr>
          <p:cNvSpPr>
            <a:spLocks noGrp="1"/>
          </p:cNvSpPr>
          <p:nvPr/>
        </p:nvSpPr>
        <p:spPr>
          <a:xfrm>
            <a:off x="8477250" y="1924050"/>
            <a:ext cx="27908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本课题路线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89FBBBF-3276-4AFD-BD56-7AD924DD517D}"/>
              </a:ext>
            </a:extLst>
          </p:cNvPr>
          <p:cNvSpPr>
            <a:spLocks noGrp="1"/>
          </p:cNvSpPr>
          <p:nvPr/>
        </p:nvSpPr>
        <p:spPr>
          <a:xfrm>
            <a:off x="8477250" y="2381250"/>
            <a:ext cx="2790825" cy="1981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采用ESP32-S3R8、FreeRTOS和LVGL自建软硬件架构，在成本可控的前提下保留更开放的二次开发空间。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B12E998-FA3A-454D-84E6-0FCBAE94B57C}"/>
              </a:ext>
            </a:extLst>
          </p:cNvPr>
          <p:cNvSpPr>
            <a:spLocks noGrp="1"/>
          </p:cNvSpPr>
          <p:nvPr/>
        </p:nvSpPr>
        <p:spPr>
          <a:xfrm>
            <a:off x="1123950" y="5048250"/>
            <a:ext cx="9944100" cy="5334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FAD0A82-254F-4833-9A4B-71F1DC73AE87}"/>
              </a:ext>
            </a:extLst>
          </p:cNvPr>
          <p:cNvSpPr>
            <a:spLocks noGrp="1"/>
          </p:cNvSpPr>
          <p:nvPr/>
        </p:nvSpPr>
        <p:spPr>
          <a:xfrm>
            <a:off x="1390650" y="518160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核心问题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7433F1C-FB1C-434F-B792-04A813707E3A}"/>
              </a:ext>
            </a:extLst>
          </p:cNvPr>
          <p:cNvSpPr>
            <a:spLocks noGrp="1"/>
          </p:cNvSpPr>
          <p:nvPr/>
        </p:nvSpPr>
        <p:spPr>
          <a:xfrm>
            <a:off x="2667000" y="5162550"/>
            <a:ext cx="813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现成SDK开发快但容易同质化；本设计更关注底层可理解、功能可扩展、流程可验证</a:t>
            </a:r>
            <a:r>
              <a:rPr sz="1650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2880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72D470FC-0DAB-47E9-BECD-59359FE115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AA31B06-7F3C-43CD-9DBF-C7DC882F32FC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3585871-B035-45B6-BA64-5D21D23C5F91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A49898-BEC1-407A-AB4E-FF20DC33967E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A2C4F41-66B9-486C-AB5F-A6892BC8996A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5DD9266-35D0-4CD7-A87E-5E35037F5AF2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AEF24F4-18FB-4957-8B49-D76CC6E7B1F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EA6DEDA-3AF6-4342-AB8F-751A5F4C87FF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课题目标：做一套可扩展的低成本手表原型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F126EA0-7E3F-4EF7-8792-A5306D2F1491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189934C-D89E-4D35-AC4F-1F30F284CE4A}"/>
              </a:ext>
            </a:extLst>
          </p:cNvPr>
          <p:cNvSpPr>
            <a:spLocks noGrp="1"/>
          </p:cNvSpPr>
          <p:nvPr/>
        </p:nvSpPr>
        <p:spPr>
          <a:xfrm>
            <a:off x="990600" y="1657350"/>
            <a:ext cx="6762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31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dirty="0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ESP32-S3R8 + </a:t>
            </a:r>
            <a:r>
              <a:rPr sz="3150" b="1" dirty="0" err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FreeRTOS</a:t>
            </a:r>
            <a:r>
              <a:rPr sz="3150" b="1" dirty="0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 + LVGL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0069E24-AB70-47CC-9B4A-8A6AAD30FDDE}"/>
              </a:ext>
            </a:extLst>
          </p:cNvPr>
          <p:cNvSpPr>
            <a:spLocks noGrp="1"/>
          </p:cNvSpPr>
          <p:nvPr/>
        </p:nvSpPr>
        <p:spPr>
          <a:xfrm>
            <a:off x="1009650" y="2324100"/>
            <a:ext cx="4457700" cy="47625"/>
          </a:xfrm>
          <a:prstGeom prst="rect">
            <a:avLst/>
          </a:prstGeom>
          <a:solidFill>
            <a:srgbClr val="22A7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67D409E-B990-4A60-A806-2ED5D1229FDD}"/>
              </a:ext>
            </a:extLst>
          </p:cNvPr>
          <p:cNvSpPr>
            <a:spLocks noGrp="1"/>
          </p:cNvSpPr>
          <p:nvPr/>
        </p:nvSpPr>
        <p:spPr>
          <a:xfrm>
            <a:off x="1066800" y="29051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B35DC99-C131-43DE-97E0-E2003551B5CA}"/>
              </a:ext>
            </a:extLst>
          </p:cNvPr>
          <p:cNvSpPr>
            <a:spLocks noGrp="1"/>
          </p:cNvSpPr>
          <p:nvPr/>
        </p:nvSpPr>
        <p:spPr>
          <a:xfrm>
            <a:off x="1276350" y="2819400"/>
            <a:ext cx="79819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完成触摸交互、表盘显示、图片/视频/小说等多媒体功能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4535022-8017-4582-A607-4B748042ACC2}"/>
              </a:ext>
            </a:extLst>
          </p:cNvPr>
          <p:cNvSpPr>
            <a:spLocks noGrp="1"/>
          </p:cNvSpPr>
          <p:nvPr/>
        </p:nvSpPr>
        <p:spPr>
          <a:xfrm>
            <a:off x="1066800" y="34385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F9F422D-D9FB-43EE-B107-6D6A0187B84A}"/>
              </a:ext>
            </a:extLst>
          </p:cNvPr>
          <p:cNvSpPr>
            <a:spLocks noGrp="1"/>
          </p:cNvSpPr>
          <p:nvPr/>
        </p:nvSpPr>
        <p:spPr>
          <a:xfrm>
            <a:off x="1276350" y="3352800"/>
            <a:ext cx="79819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实现WiFi、天气获取、NTP校时、MQTT与本地/云端OTA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BB003558-2432-4D44-B29F-8ECC79F4F98F}"/>
              </a:ext>
            </a:extLst>
          </p:cNvPr>
          <p:cNvSpPr>
            <a:spLocks noGrp="1"/>
          </p:cNvSpPr>
          <p:nvPr/>
        </p:nvSpPr>
        <p:spPr>
          <a:xfrm>
            <a:off x="1066800" y="39719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B4B3780-318B-4EC9-AFB1-6EA4D0A602FD}"/>
              </a:ext>
            </a:extLst>
          </p:cNvPr>
          <p:cNvSpPr>
            <a:spLocks noGrp="1"/>
          </p:cNvSpPr>
          <p:nvPr/>
        </p:nvSpPr>
        <p:spPr>
          <a:xfrm>
            <a:off x="1276350" y="3886200"/>
            <a:ext cx="79819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通过LightSleep与DeepSleep验证低功耗待机路径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5D2F27D0-7BF7-4EB5-BC6F-87A96D1D489D}"/>
              </a:ext>
            </a:extLst>
          </p:cNvPr>
          <p:cNvSpPr>
            <a:spLocks noGrp="1"/>
          </p:cNvSpPr>
          <p:nvPr/>
        </p:nvSpPr>
        <p:spPr>
          <a:xfrm>
            <a:off x="1066800" y="45053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9ED180F-D3A3-4AB7-B2F0-825B15A434B0}"/>
              </a:ext>
            </a:extLst>
          </p:cNvPr>
          <p:cNvSpPr>
            <a:spLocks noGrp="1"/>
          </p:cNvSpPr>
          <p:nvPr/>
        </p:nvSpPr>
        <p:spPr>
          <a:xfrm>
            <a:off x="1276350" y="4419600"/>
            <a:ext cx="79819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用分层架构与异步消息队列降低业务与UI耦合</a:t>
            </a:r>
          </a:p>
        </p:txBody>
      </p:sp>
    </p:spTree>
    <p:extLst>
      <p:ext uri="{BB962C8B-B14F-4D97-AF65-F5344CB8AC3E}">
        <p14:creationId xmlns:p14="http://schemas.microsoft.com/office/powerpoint/2010/main" val="579215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413B3BD5-D54A-4923-86C7-E5DCDE9E3B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41A1666B-7978-4541-A13D-C9FA8787C399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7CF4F463-F11A-4709-A95E-9D1FFE7638CC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A5590CC-AB64-4375-A44D-7FD90047298F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4948DEF-BD4E-4095-90B4-69F97DF8447B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91DAF22-B3F0-4B5E-B7C5-C39C76FD4A52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A0F9135-AAF9-419E-A50C-0AD12AED746E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34F7AA3-6BB4-476F-A591-628F0E510FBF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总体方案：核心器件与功能边界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5908A0-1A2E-4D0F-B58D-AE02D078C2F6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E919B3D-DCDB-4E5F-9E71-A43F85B51462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1866900" cy="2362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77F3009-E765-44BD-9622-5F19849FD569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1866900" cy="495300"/>
          </a:xfrm>
          <a:prstGeom prst="rect">
            <a:avLst/>
          </a:prstGeom>
          <a:solidFill>
            <a:srgbClr val="38548C"/>
          </a:solidFill>
          <a:ln w="9525">
            <a:solidFill>
              <a:srgbClr val="38548C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FDA359C-8765-46F1-94BE-2EA783B7603B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1638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主控平台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402BAA-CAB4-430D-9B49-B067B416118E}"/>
              </a:ext>
            </a:extLst>
          </p:cNvPr>
          <p:cNvSpPr>
            <a:spLocks noGrp="1"/>
          </p:cNvSpPr>
          <p:nvPr/>
        </p:nvSpPr>
        <p:spPr>
          <a:xfrm>
            <a:off x="819150" y="2590800"/>
            <a:ext cx="15621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ESP32-S3R8</a:t>
            </a: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双核240MHz</a:t>
            </a: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8MB PSRAM</a:t>
            </a:r>
            <a:endParaRPr lang="en-US" sz="1650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W25Q128 Flash</a:t>
            </a: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endParaRPr sz="1650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DE4A8B2-8B9F-497D-A7CA-90490EB4B6B5}"/>
              </a:ext>
            </a:extLst>
          </p:cNvPr>
          <p:cNvSpPr>
            <a:spLocks noGrp="1"/>
          </p:cNvSpPr>
          <p:nvPr/>
        </p:nvSpPr>
        <p:spPr>
          <a:xfrm>
            <a:off x="2933700" y="1752600"/>
            <a:ext cx="1866900" cy="2362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0C6E5C6-B249-4F28-BFC8-B043A51A4AA2}"/>
              </a:ext>
            </a:extLst>
          </p:cNvPr>
          <p:cNvSpPr>
            <a:spLocks noGrp="1"/>
          </p:cNvSpPr>
          <p:nvPr/>
        </p:nvSpPr>
        <p:spPr>
          <a:xfrm>
            <a:off x="2933700" y="1752600"/>
            <a:ext cx="1866900" cy="495300"/>
          </a:xfrm>
          <a:prstGeom prst="rect">
            <a:avLst/>
          </a:prstGeom>
          <a:solidFill>
            <a:srgbClr val="22A7C8"/>
          </a:solidFill>
          <a:ln w="9525">
            <a:solidFill>
              <a:srgbClr val="22A7C8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CF195A1-4A9D-4278-B1B3-C687DAA0E5CF}"/>
              </a:ext>
            </a:extLst>
          </p:cNvPr>
          <p:cNvSpPr>
            <a:spLocks noGrp="1"/>
          </p:cNvSpPr>
          <p:nvPr/>
        </p:nvSpPr>
        <p:spPr>
          <a:xfrm>
            <a:off x="3048000" y="1885950"/>
            <a:ext cx="1638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显示交互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0237C55-6283-4D7D-BCD6-C98AF133C604}"/>
              </a:ext>
            </a:extLst>
          </p:cNvPr>
          <p:cNvSpPr>
            <a:spLocks noGrp="1"/>
          </p:cNvSpPr>
          <p:nvPr/>
        </p:nvSpPr>
        <p:spPr>
          <a:xfrm>
            <a:off x="3086100" y="2590800"/>
            <a:ext cx="16764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1.83英寸触控屏</a:t>
            </a: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ST7789P3显示</a:t>
            </a: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CST816T触摸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A42C176-CE14-47A1-BECF-6C4F2B685C4C}"/>
              </a:ext>
            </a:extLst>
          </p:cNvPr>
          <p:cNvSpPr>
            <a:spLocks noGrp="1"/>
          </p:cNvSpPr>
          <p:nvPr/>
        </p:nvSpPr>
        <p:spPr>
          <a:xfrm>
            <a:off x="5200650" y="1752600"/>
            <a:ext cx="1866900" cy="2362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5A2EF10-73A7-4D92-9519-F8A1E34202F3}"/>
              </a:ext>
            </a:extLst>
          </p:cNvPr>
          <p:cNvSpPr>
            <a:spLocks noGrp="1"/>
          </p:cNvSpPr>
          <p:nvPr/>
        </p:nvSpPr>
        <p:spPr>
          <a:xfrm>
            <a:off x="5200650" y="1752600"/>
            <a:ext cx="1866900" cy="495300"/>
          </a:xfrm>
          <a:prstGeom prst="rect">
            <a:avLst/>
          </a:prstGeom>
          <a:solidFill>
            <a:srgbClr val="20A66A"/>
          </a:solidFill>
          <a:ln w="9525">
            <a:solidFill>
              <a:srgbClr val="20A66A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2149A3A-DF75-4A28-958F-D5F9CB654A2C}"/>
              </a:ext>
            </a:extLst>
          </p:cNvPr>
          <p:cNvSpPr>
            <a:spLocks noGrp="1"/>
          </p:cNvSpPr>
          <p:nvPr/>
        </p:nvSpPr>
        <p:spPr>
          <a:xfrm>
            <a:off x="5314950" y="1885950"/>
            <a:ext cx="1638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存储</a:t>
            </a:r>
            <a:r>
              <a:rPr lang="zh-CN" altLang="en-US" sz="16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1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时间</a:t>
            </a:r>
            <a:endParaRPr sz="165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926CCC8-72D7-49AF-96BE-0ECDD0375693}"/>
              </a:ext>
            </a:extLst>
          </p:cNvPr>
          <p:cNvSpPr>
            <a:spLocks noGrp="1"/>
          </p:cNvSpPr>
          <p:nvPr/>
        </p:nvSpPr>
        <p:spPr>
          <a:xfrm>
            <a:off x="5353050" y="2590800"/>
            <a:ext cx="15621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Micro </a:t>
            </a:r>
            <a:r>
              <a:rPr sz="1650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SD卡</a:t>
            </a:r>
            <a:endParaRPr sz="1650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SD3078 RTC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352EA2D-106D-4F92-B057-4C640D6D4E99}"/>
              </a:ext>
            </a:extLst>
          </p:cNvPr>
          <p:cNvSpPr>
            <a:spLocks noGrp="1"/>
          </p:cNvSpPr>
          <p:nvPr/>
        </p:nvSpPr>
        <p:spPr>
          <a:xfrm>
            <a:off x="7467600" y="1752600"/>
            <a:ext cx="1866900" cy="2362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C1E1302-5DE4-4C28-A1F9-5C6BCCCBD8F7}"/>
              </a:ext>
            </a:extLst>
          </p:cNvPr>
          <p:cNvSpPr>
            <a:spLocks noGrp="1"/>
          </p:cNvSpPr>
          <p:nvPr/>
        </p:nvSpPr>
        <p:spPr>
          <a:xfrm>
            <a:off x="7467600" y="1752600"/>
            <a:ext cx="1866900" cy="495300"/>
          </a:xfrm>
          <a:prstGeom prst="rect">
            <a:avLst/>
          </a:prstGeom>
          <a:solidFill>
            <a:srgbClr val="F2A21B"/>
          </a:solidFill>
          <a:ln w="9525">
            <a:solidFill>
              <a:srgbClr val="F2A21B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BA47646-E9FB-4CD0-8EF7-9F26D1541D5C}"/>
              </a:ext>
            </a:extLst>
          </p:cNvPr>
          <p:cNvSpPr>
            <a:spLocks noGrp="1"/>
          </p:cNvSpPr>
          <p:nvPr/>
        </p:nvSpPr>
        <p:spPr>
          <a:xfrm>
            <a:off x="7581900" y="1885950"/>
            <a:ext cx="1638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软件支撑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7438235-0C9F-4C85-B2FD-70AB47E68443}"/>
              </a:ext>
            </a:extLst>
          </p:cNvPr>
          <p:cNvSpPr>
            <a:spLocks noGrp="1"/>
          </p:cNvSpPr>
          <p:nvPr/>
        </p:nvSpPr>
        <p:spPr>
          <a:xfrm>
            <a:off x="7524750" y="2590800"/>
            <a:ext cx="16573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FreeRTOS任务</a:t>
            </a:r>
            <a:endParaRPr sz="1650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LVGL界面</a:t>
            </a:r>
            <a:endParaRPr sz="1650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GUI Guider</a:t>
            </a:r>
            <a:r>
              <a:rPr lang="zh-CN" altLang="en-US"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辅</a:t>
            </a: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助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591C3B9-D2A2-45F7-A05A-9CE011389C3C}"/>
              </a:ext>
            </a:extLst>
          </p:cNvPr>
          <p:cNvSpPr>
            <a:spLocks noGrp="1"/>
          </p:cNvSpPr>
          <p:nvPr/>
        </p:nvSpPr>
        <p:spPr>
          <a:xfrm>
            <a:off x="9734550" y="1752600"/>
            <a:ext cx="1866900" cy="2362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B944AD4-73B6-43C6-A861-A64C56C1C910}"/>
              </a:ext>
            </a:extLst>
          </p:cNvPr>
          <p:cNvSpPr>
            <a:spLocks noGrp="1"/>
          </p:cNvSpPr>
          <p:nvPr/>
        </p:nvSpPr>
        <p:spPr>
          <a:xfrm>
            <a:off x="9734550" y="1752600"/>
            <a:ext cx="1866900" cy="495300"/>
          </a:xfrm>
          <a:prstGeom prst="rect">
            <a:avLst/>
          </a:prstGeom>
          <a:solidFill>
            <a:srgbClr val="E35D5B"/>
          </a:solidFill>
          <a:ln w="9525">
            <a:solidFill>
              <a:srgbClr val="E35D5B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669249C-92E0-413D-BD62-F5152B20D832}"/>
              </a:ext>
            </a:extLst>
          </p:cNvPr>
          <p:cNvSpPr>
            <a:spLocks noGrp="1"/>
          </p:cNvSpPr>
          <p:nvPr/>
        </p:nvSpPr>
        <p:spPr>
          <a:xfrm>
            <a:off x="9848850" y="1885950"/>
            <a:ext cx="1638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联网</a:t>
            </a:r>
            <a:r>
              <a:rPr lang="zh-CN" altLang="en-US" sz="16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1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维护</a:t>
            </a:r>
            <a:endParaRPr sz="165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878E91B-5C13-438B-A867-85420B8C4830}"/>
              </a:ext>
            </a:extLst>
          </p:cNvPr>
          <p:cNvSpPr>
            <a:spLocks noGrp="1"/>
          </p:cNvSpPr>
          <p:nvPr/>
        </p:nvSpPr>
        <p:spPr>
          <a:xfrm>
            <a:off x="9886950" y="2590800"/>
            <a:ext cx="15621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WiFi连接</a:t>
            </a:r>
            <a:endParaRPr sz="1650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天气</a:t>
            </a: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/NTP/MQTT</a:t>
            </a: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本地与云端OTA</a:t>
            </a:r>
            <a:endParaRPr sz="1650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8CB1928-1C90-4544-BACA-55D0A3880941}"/>
              </a:ext>
            </a:extLst>
          </p:cNvPr>
          <p:cNvSpPr>
            <a:spLocks noGrp="1"/>
          </p:cNvSpPr>
          <p:nvPr/>
        </p:nvSpPr>
        <p:spPr>
          <a:xfrm>
            <a:off x="1104900" y="4819650"/>
            <a:ext cx="9906000" cy="7810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8690027-AE39-4653-8DAB-27574D103FF6}"/>
              </a:ext>
            </a:extLst>
          </p:cNvPr>
          <p:cNvSpPr>
            <a:spLocks noGrp="1"/>
          </p:cNvSpPr>
          <p:nvPr/>
        </p:nvSpPr>
        <p:spPr>
          <a:xfrm>
            <a:off x="1352550" y="49530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总体边界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B4AF622-A128-401D-BFE6-0A82CD863F67}"/>
              </a:ext>
            </a:extLst>
          </p:cNvPr>
          <p:cNvSpPr>
            <a:spLocks noGrp="1"/>
          </p:cNvSpPr>
          <p:nvPr/>
        </p:nvSpPr>
        <p:spPr>
          <a:xfrm>
            <a:off x="2686050" y="4933950"/>
            <a:ext cx="781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硬件提供显示、触摸、存储、时钟、网络和电源能力；软件完成任务调度、界面刷新、数据读取、网络协同与低功耗控制</a:t>
            </a:r>
            <a:r>
              <a:rPr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614016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EF5854FB-E3B6-474D-A651-716C6399E8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D3EA9F9B-4B6A-407B-AD6F-454127C1E424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75641CA-4540-46FB-9B06-2ECF11B6181F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2E026FC-69D7-4C2D-BB5F-4DE306F5C47A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1B7009-D9D1-4138-AC31-D129E2B7DBEF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BF0685F-A5A6-4132-A3EC-0CA7DEB7EFA8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5AB7E45-8AE6-4387-85DD-5B736128534C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9F3590B-3F54-4D56-A4F9-BB11039AF655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总体架构：硬件支撑、任务协同与显示刷新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B047A75-AD0B-440E-83D8-621E490FE3E3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96234B6-9B81-4704-922E-C1474D2B0F40}"/>
              </a:ext>
            </a:extLst>
          </p:cNvPr>
          <p:cNvSpPr>
            <a:spLocks noGrp="1"/>
          </p:cNvSpPr>
          <p:nvPr/>
        </p:nvSpPr>
        <p:spPr>
          <a:xfrm>
            <a:off x="990600" y="1581150"/>
            <a:ext cx="10191750" cy="8191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A6F28B-0D92-4912-94E0-832787BDF658}"/>
              </a:ext>
            </a:extLst>
          </p:cNvPr>
          <p:cNvSpPr>
            <a:spLocks noGrp="1"/>
          </p:cNvSpPr>
          <p:nvPr/>
        </p:nvSpPr>
        <p:spPr>
          <a:xfrm>
            <a:off x="2800350" y="2800350"/>
            <a:ext cx="6572250" cy="533400"/>
          </a:xfrm>
          <a:prstGeom prst="rect">
            <a:avLst/>
          </a:prstGeom>
          <a:solidFill>
            <a:srgbClr val="E9F5FB"/>
          </a:solidFill>
          <a:ln w="11430">
            <a:solidFill>
              <a:srgbClr val="22A7C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5806CDA-EEE6-4EEA-BCCC-EECB8795FC0A}"/>
              </a:ext>
            </a:extLst>
          </p:cNvPr>
          <p:cNvSpPr>
            <a:spLocks noGrp="1"/>
          </p:cNvSpPr>
          <p:nvPr/>
        </p:nvSpPr>
        <p:spPr>
          <a:xfrm>
            <a:off x="990600" y="3676650"/>
            <a:ext cx="10191750" cy="8763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8BC8C14-D755-458B-A929-A71A09B49A9A}"/>
              </a:ext>
            </a:extLst>
          </p:cNvPr>
          <p:cNvSpPr>
            <a:spLocks noGrp="1"/>
          </p:cNvSpPr>
          <p:nvPr/>
        </p:nvSpPr>
        <p:spPr>
          <a:xfrm>
            <a:off x="990600" y="4972050"/>
            <a:ext cx="10191750" cy="7048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4A89DAC-8FE4-43E1-9EC1-6B8E4EAFBA30}"/>
              </a:ext>
            </a:extLst>
          </p:cNvPr>
          <p:cNvSpPr>
            <a:spLocks noGrp="1"/>
          </p:cNvSpPr>
          <p:nvPr/>
        </p:nvSpPr>
        <p:spPr>
          <a:xfrm>
            <a:off x="1314450" y="1809750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dirty="0" err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显示层</a:t>
            </a:r>
            <a:endParaRPr sz="2100" b="1" dirty="0">
              <a:solidFill>
                <a:srgbClr val="20A6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BD09EC7-83D1-49F8-915B-3C5F49C8DE7F}"/>
              </a:ext>
            </a:extLst>
          </p:cNvPr>
          <p:cNvSpPr>
            <a:spLocks noGrp="1"/>
          </p:cNvSpPr>
          <p:nvPr/>
        </p:nvSpPr>
        <p:spPr>
          <a:xfrm>
            <a:off x="2800350" y="1790700"/>
            <a:ext cx="7524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LVGL统一显示刷新线程：读取消息、页面刷新、控件重绘、触控事件分发与屏幕输出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F8ACF73-162F-4C99-8382-089EBBAC6669}"/>
              </a:ext>
            </a:extLst>
          </p:cNvPr>
          <p:cNvSpPr>
            <a:spLocks noGrp="1"/>
          </p:cNvSpPr>
          <p:nvPr/>
        </p:nvSpPr>
        <p:spPr>
          <a:xfrm>
            <a:off x="3943350" y="289560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875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异步消息队列枢纽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B8520D5-B6EF-4FF1-967B-3478D8AEA5E2}"/>
              </a:ext>
            </a:extLst>
          </p:cNvPr>
          <p:cNvSpPr>
            <a:spLocks noGrp="1"/>
          </p:cNvSpPr>
          <p:nvPr/>
        </p:nvSpPr>
        <p:spPr>
          <a:xfrm>
            <a:off x="6438900" y="2933700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业务状态同步 / UI刷新请求 / 应用任务间转发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E208CC2-522C-42B4-813F-73910EB5E9FF}"/>
              </a:ext>
            </a:extLst>
          </p:cNvPr>
          <p:cNvSpPr>
            <a:spLocks noGrp="1"/>
          </p:cNvSpPr>
          <p:nvPr/>
        </p:nvSpPr>
        <p:spPr>
          <a:xfrm>
            <a:off x="1314450" y="3962400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0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307B23B-4125-429E-B338-0D450A95B580}"/>
              </a:ext>
            </a:extLst>
          </p:cNvPr>
          <p:cNvSpPr>
            <a:spLocks noGrp="1"/>
          </p:cNvSpPr>
          <p:nvPr/>
        </p:nvSpPr>
        <p:spPr>
          <a:xfrm>
            <a:off x="2800350" y="3905250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系统服务、存储、网络、OTA、多媒体解码、游戏逻辑等任务独立运行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BC84EA9-1081-471D-8D91-646019CA40F5}"/>
              </a:ext>
            </a:extLst>
          </p:cNvPr>
          <p:cNvSpPr>
            <a:spLocks noGrp="1"/>
          </p:cNvSpPr>
          <p:nvPr/>
        </p:nvSpPr>
        <p:spPr>
          <a:xfrm>
            <a:off x="1314450" y="5162550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硬件层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6ED6C85-06D6-4466-8499-A07B04399BAF}"/>
              </a:ext>
            </a:extLst>
          </p:cNvPr>
          <p:cNvSpPr>
            <a:spLocks noGrp="1"/>
          </p:cNvSpPr>
          <p:nvPr/>
        </p:nvSpPr>
        <p:spPr>
          <a:xfrm>
            <a:off x="2800350" y="5143500"/>
            <a:ext cx="7524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LCD、触摸、SD卡、Flash、RTC、WiFi和电源硬件经SPI、I2C、GPIO与驱动封装后供上层调用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E12A889-367E-451A-9B39-8F3B94A3E12F}"/>
              </a:ext>
            </a:extLst>
          </p:cNvPr>
          <p:cNvSpPr>
            <a:spLocks noGrp="1"/>
          </p:cNvSpPr>
          <p:nvPr/>
        </p:nvSpPr>
        <p:spPr>
          <a:xfrm>
            <a:off x="6076950" y="4552950"/>
            <a:ext cx="38100" cy="419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90D29F7-6BD0-4C3E-8770-63D946831400}"/>
              </a:ext>
            </a:extLst>
          </p:cNvPr>
          <p:cNvSpPr>
            <a:spLocks noGrp="1"/>
          </p:cNvSpPr>
          <p:nvPr/>
        </p:nvSpPr>
        <p:spPr>
          <a:xfrm>
            <a:off x="5924550" y="44577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↑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5B3CA56-23BE-410F-8243-F65D94FDFC43}"/>
              </a:ext>
            </a:extLst>
          </p:cNvPr>
          <p:cNvSpPr>
            <a:spLocks noGrp="1"/>
          </p:cNvSpPr>
          <p:nvPr/>
        </p:nvSpPr>
        <p:spPr>
          <a:xfrm>
            <a:off x="6210300" y="46672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封装函数支撑应用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7C38DB5-33F0-4C9F-B811-5B9FEC333E1E}"/>
              </a:ext>
            </a:extLst>
          </p:cNvPr>
          <p:cNvSpPr>
            <a:spLocks noGrp="1"/>
          </p:cNvSpPr>
          <p:nvPr/>
        </p:nvSpPr>
        <p:spPr>
          <a:xfrm>
            <a:off x="6076950" y="3333750"/>
            <a:ext cx="38100" cy="3429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64436A9-087E-451B-A3D7-5F3A84FF80BA}"/>
              </a:ext>
            </a:extLst>
          </p:cNvPr>
          <p:cNvSpPr>
            <a:spLocks noGrp="1"/>
          </p:cNvSpPr>
          <p:nvPr/>
        </p:nvSpPr>
        <p:spPr>
          <a:xfrm>
            <a:off x="5924550" y="32385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↑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84836CD-6AC4-442A-91AB-C8EBAA9C4C67}"/>
              </a:ext>
            </a:extLst>
          </p:cNvPr>
          <p:cNvSpPr>
            <a:spLocks noGrp="1"/>
          </p:cNvSpPr>
          <p:nvPr/>
        </p:nvSpPr>
        <p:spPr>
          <a:xfrm>
            <a:off x="6210300" y="34480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队列转发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27C14F8-6B22-4B2F-B9A4-2379BF83A4D5}"/>
              </a:ext>
            </a:extLst>
          </p:cNvPr>
          <p:cNvSpPr>
            <a:spLocks noGrp="1"/>
          </p:cNvSpPr>
          <p:nvPr/>
        </p:nvSpPr>
        <p:spPr>
          <a:xfrm>
            <a:off x="6076950" y="2400300"/>
            <a:ext cx="38100" cy="40005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2DCD4B9-1997-41A0-8827-5C146F3791CF}"/>
              </a:ext>
            </a:extLst>
          </p:cNvPr>
          <p:cNvSpPr>
            <a:spLocks noGrp="1"/>
          </p:cNvSpPr>
          <p:nvPr/>
        </p:nvSpPr>
        <p:spPr>
          <a:xfrm>
            <a:off x="5924550" y="230505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↑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F5B3A60-C971-488D-9EC1-6764DA179F86}"/>
              </a:ext>
            </a:extLst>
          </p:cNvPr>
          <p:cNvSpPr>
            <a:spLocks noGrp="1"/>
          </p:cNvSpPr>
          <p:nvPr/>
        </p:nvSpPr>
        <p:spPr>
          <a:xfrm>
            <a:off x="6210300" y="25146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显示刷新</a:t>
            </a:r>
          </a:p>
        </p:txBody>
      </p:sp>
    </p:spTree>
    <p:extLst>
      <p:ext uri="{BB962C8B-B14F-4D97-AF65-F5344CB8AC3E}">
        <p14:creationId xmlns:p14="http://schemas.microsoft.com/office/powerpoint/2010/main" val="1835359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FACB6690-E53F-4770-9406-A1B1B37A79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A3E27F48-C8A3-4AF2-8B72-6CB663ADCFBF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7741ACB4-A52E-40A4-B0FF-D374AD4A72B8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1AE1286-FC1F-4011-BCF4-C297C0831BE3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9CB0D99-478B-4D68-9764-42A275FDF258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FB4D87B-D803-4BAA-AC2B-AFAC73A87DF9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5B93D91-8613-4ADF-A399-4418CA11BBA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3CE56B4-C28D-4441-A86D-7A67973B7DC0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最小系统：ESP32-S3R8芯片级设计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8366D5A-DA2B-4712-9A9C-E3CF9DA8D652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78DDEE4-A2CD-45E5-AACF-35F0BC7C4A6E}"/>
              </a:ext>
            </a:extLst>
          </p:cNvPr>
          <p:cNvSpPr>
            <a:spLocks noGrp="1"/>
          </p:cNvSpPr>
          <p:nvPr/>
        </p:nvSpPr>
        <p:spPr>
          <a:xfrm>
            <a:off x="838200" y="1752600"/>
            <a:ext cx="4857750" cy="13525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4CE3718-2255-4119-93D5-228E7BFF788C}"/>
              </a:ext>
            </a:extLst>
          </p:cNvPr>
          <p:cNvSpPr>
            <a:spLocks noGrp="1"/>
          </p:cNvSpPr>
          <p:nvPr/>
        </p:nvSpPr>
        <p:spPr>
          <a:xfrm>
            <a:off x="838200" y="1752600"/>
            <a:ext cx="95250" cy="12192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1C25DD1-D7BE-44CC-8E15-5C7BF5F098A7}"/>
              </a:ext>
            </a:extLst>
          </p:cNvPr>
          <p:cNvSpPr>
            <a:spLocks noGrp="1"/>
          </p:cNvSpPr>
          <p:nvPr/>
        </p:nvSpPr>
        <p:spPr>
          <a:xfrm>
            <a:off x="1085850" y="1924050"/>
            <a:ext cx="4362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ESP32-S3R8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B0EA0E3-97EE-44E4-92F8-976D4005E959}"/>
              </a:ext>
            </a:extLst>
          </p:cNvPr>
          <p:cNvSpPr>
            <a:spLocks noGrp="1"/>
          </p:cNvSpPr>
          <p:nvPr/>
        </p:nvSpPr>
        <p:spPr>
          <a:xfrm>
            <a:off x="1085850" y="2381250"/>
            <a:ext cx="4362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双核32位处理器，最高240MHz；片内合封8MB </a:t>
            </a:r>
            <a:r>
              <a:rPr sz="142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PSRAM，用于图形缓存、多媒体缓冲和任务运行空间</a:t>
            </a:r>
            <a:r>
              <a:rPr sz="142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F388566-74D2-41BB-982D-8797D0148F93}"/>
              </a:ext>
            </a:extLst>
          </p:cNvPr>
          <p:cNvSpPr>
            <a:spLocks noGrp="1"/>
          </p:cNvSpPr>
          <p:nvPr/>
        </p:nvSpPr>
        <p:spPr>
          <a:xfrm>
            <a:off x="6457950" y="1752600"/>
            <a:ext cx="4857750" cy="1219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039A611-8972-45D7-AB76-6079CF5487AD}"/>
              </a:ext>
            </a:extLst>
          </p:cNvPr>
          <p:cNvSpPr>
            <a:spLocks noGrp="1"/>
          </p:cNvSpPr>
          <p:nvPr/>
        </p:nvSpPr>
        <p:spPr>
          <a:xfrm>
            <a:off x="6457950" y="1752600"/>
            <a:ext cx="95250" cy="1219200"/>
          </a:xfrm>
          <a:prstGeom prst="rect">
            <a:avLst/>
          </a:prstGeom>
          <a:solidFill>
            <a:srgbClr val="20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6C6C80C-45A3-412B-9CDE-34D3E58FC473}"/>
              </a:ext>
            </a:extLst>
          </p:cNvPr>
          <p:cNvSpPr>
            <a:spLocks noGrp="1"/>
          </p:cNvSpPr>
          <p:nvPr/>
        </p:nvSpPr>
        <p:spPr>
          <a:xfrm>
            <a:off x="6705600" y="1924050"/>
            <a:ext cx="4362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W25Q128 Flash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F72B4A8-0A63-45D7-A1AD-5577EA908D14}"/>
              </a:ext>
            </a:extLst>
          </p:cNvPr>
          <p:cNvSpPr>
            <a:spLocks noGrp="1"/>
          </p:cNvSpPr>
          <p:nvPr/>
        </p:nvSpPr>
        <p:spPr>
          <a:xfrm>
            <a:off x="6705600" y="2381250"/>
            <a:ext cx="4362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外扩16MB串行Flash，用于程序固件、图像资源、配置参数和升级备份等非易失性存储。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551505E-A27D-411D-A40F-31271C9FD1DA}"/>
              </a:ext>
            </a:extLst>
          </p:cNvPr>
          <p:cNvSpPr>
            <a:spLocks noGrp="1"/>
          </p:cNvSpPr>
          <p:nvPr/>
        </p:nvSpPr>
        <p:spPr>
          <a:xfrm>
            <a:off x="838200" y="3429000"/>
            <a:ext cx="4857750" cy="1219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5076EB1-8BE2-485C-96EF-EC0FD91C57D0}"/>
              </a:ext>
            </a:extLst>
          </p:cNvPr>
          <p:cNvSpPr>
            <a:spLocks noGrp="1"/>
          </p:cNvSpPr>
          <p:nvPr/>
        </p:nvSpPr>
        <p:spPr>
          <a:xfrm>
            <a:off x="838200" y="3429000"/>
            <a:ext cx="95250" cy="1219200"/>
          </a:xfrm>
          <a:prstGeom prst="rect">
            <a:avLst/>
          </a:prstGeom>
          <a:solidFill>
            <a:srgbClr val="22A7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E2EB36B-E473-48CE-8324-E32162F22F20}"/>
              </a:ext>
            </a:extLst>
          </p:cNvPr>
          <p:cNvSpPr>
            <a:spLocks noGrp="1"/>
          </p:cNvSpPr>
          <p:nvPr/>
        </p:nvSpPr>
        <p:spPr>
          <a:xfrm>
            <a:off x="1085850" y="3600450"/>
            <a:ext cx="4362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40MHz晶振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FF8E5A7-BB9E-46E4-AC3B-EE5F5C2745B5}"/>
              </a:ext>
            </a:extLst>
          </p:cNvPr>
          <p:cNvSpPr>
            <a:spLocks noGrp="1"/>
          </p:cNvSpPr>
          <p:nvPr/>
        </p:nvSpPr>
        <p:spPr>
          <a:xfrm>
            <a:off x="1085850" y="4057650"/>
            <a:ext cx="4362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为主控提供稳定系统时钟，同时配合复位、启动配置和下载控制电路完成可靠启动。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680D9FE-042A-4CE3-9E13-EF72AECDD734}"/>
              </a:ext>
            </a:extLst>
          </p:cNvPr>
          <p:cNvSpPr>
            <a:spLocks noGrp="1"/>
          </p:cNvSpPr>
          <p:nvPr/>
        </p:nvSpPr>
        <p:spPr>
          <a:xfrm>
            <a:off x="6457950" y="3429000"/>
            <a:ext cx="4857750" cy="1219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D7566F1-6B3E-4A30-A172-6DF81767D0C0}"/>
              </a:ext>
            </a:extLst>
          </p:cNvPr>
          <p:cNvSpPr>
            <a:spLocks noGrp="1"/>
          </p:cNvSpPr>
          <p:nvPr/>
        </p:nvSpPr>
        <p:spPr>
          <a:xfrm>
            <a:off x="6457950" y="3429000"/>
            <a:ext cx="95250" cy="1219200"/>
          </a:xfrm>
          <a:prstGeom prst="rect">
            <a:avLst/>
          </a:prstGeom>
          <a:solidFill>
            <a:srgbClr val="F2A2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FBB3E46-1030-4FEB-9D58-1A868C718794}"/>
              </a:ext>
            </a:extLst>
          </p:cNvPr>
          <p:cNvSpPr>
            <a:spLocks noGrp="1"/>
          </p:cNvSpPr>
          <p:nvPr/>
        </p:nvSpPr>
        <p:spPr>
          <a:xfrm>
            <a:off x="6705600" y="3600450"/>
            <a:ext cx="4362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rPr>
              <a:t>射频与天线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1984576-5A6E-4F15-9D23-E2DB02F25FC2}"/>
              </a:ext>
            </a:extLst>
          </p:cNvPr>
          <p:cNvSpPr>
            <a:spLocks noGrp="1"/>
          </p:cNvSpPr>
          <p:nvPr/>
        </p:nvSpPr>
        <p:spPr>
          <a:xfrm>
            <a:off x="6705600" y="4057650"/>
            <a:ext cx="4362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2.4GHz陶瓷天线与匹配网络用于WiFi链路，布线和阻抗控制影响无线稳定性。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184721D-E485-459B-9055-63603568C300}"/>
              </a:ext>
            </a:extLst>
          </p:cNvPr>
          <p:cNvSpPr>
            <a:spLocks noGrp="1"/>
          </p:cNvSpPr>
          <p:nvPr/>
        </p:nvSpPr>
        <p:spPr>
          <a:xfrm>
            <a:off x="1428750" y="5334000"/>
            <a:ext cx="9334500" cy="4000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1383BA7-7103-41FE-AE21-F5CB27236312}"/>
              </a:ext>
            </a:extLst>
          </p:cNvPr>
          <p:cNvSpPr>
            <a:spLocks noGrp="1"/>
          </p:cNvSpPr>
          <p:nvPr/>
        </p:nvSpPr>
        <p:spPr>
          <a:xfrm>
            <a:off x="1676400" y="5410200"/>
            <a:ext cx="8858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设计重点：芯片级布板提高空间灵活性，同时需要重点保证电源完整性、时钟稳定性、射频匹配和高速总线信号质量。</a:t>
            </a:r>
          </a:p>
        </p:txBody>
      </p:sp>
    </p:spTree>
    <p:extLst>
      <p:ext uri="{BB962C8B-B14F-4D97-AF65-F5344CB8AC3E}">
        <p14:creationId xmlns:p14="http://schemas.microsoft.com/office/powerpoint/2010/main" val="1048882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51D84747-F7CB-441A-BA65-926438B5C7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D0766E5-6CBE-489B-926F-65E2C25A8AC2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B162B07F-5CAE-4628-B2BC-3ACDD8E31482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138F5BB-CC38-4301-9867-DDE71CB8982A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C16CF4-120C-478D-9765-BBEDF1783616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AB512AF-5C86-4EB1-BBCA-129828F5CB9A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1B54C3-BF6A-4948-A8B6-6DFD6C425EC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5F614D7-E231-42D8-B2B7-D318B921FCE6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显示触摸、时间与存储接口设计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27D90FF-FFEC-4C17-AC84-33A00A4F5684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0B06555-3C08-4BD4-AFBA-8E58B4317D6D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3333750" cy="2952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06C24AA-5FBA-4F15-9C4C-8A14E25C41F5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95250" cy="295275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719E666-7AB8-4F18-8320-CD97AC8CDAD5}"/>
              </a:ext>
            </a:extLst>
          </p:cNvPr>
          <p:cNvSpPr>
            <a:spLocks noGrp="1"/>
          </p:cNvSpPr>
          <p:nvPr/>
        </p:nvSpPr>
        <p:spPr>
          <a:xfrm>
            <a:off x="990600" y="1866900"/>
            <a:ext cx="2838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显示触摸模组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4F50D1C-6D4F-4986-974B-A4DA170E869F}"/>
              </a:ext>
            </a:extLst>
          </p:cNvPr>
          <p:cNvSpPr>
            <a:spLocks noGrp="1"/>
          </p:cNvSpPr>
          <p:nvPr/>
        </p:nvSpPr>
        <p:spPr>
          <a:xfrm>
            <a:off x="990600" y="2324100"/>
            <a:ext cx="2838450" cy="2171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1.83英寸240×284一体化模组；显示端采用ST7789P3，通过SPI与DMA搬运提高刷新效率；触摸端采用CST816T，通过I2C与中断实现坐标读取和唤醒。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C204E7-0470-47E0-931F-6708189B0308}"/>
              </a:ext>
            </a:extLst>
          </p:cNvPr>
          <p:cNvSpPr>
            <a:spLocks noGrp="1"/>
          </p:cNvSpPr>
          <p:nvPr/>
        </p:nvSpPr>
        <p:spPr>
          <a:xfrm>
            <a:off x="4438650" y="1695450"/>
            <a:ext cx="3333750" cy="2952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52D5957-A06B-4A36-8E8F-0B5C75E91C3B}"/>
              </a:ext>
            </a:extLst>
          </p:cNvPr>
          <p:cNvSpPr>
            <a:spLocks noGrp="1"/>
          </p:cNvSpPr>
          <p:nvPr/>
        </p:nvSpPr>
        <p:spPr>
          <a:xfrm>
            <a:off x="4438650" y="1695450"/>
            <a:ext cx="95250" cy="2952750"/>
          </a:xfrm>
          <a:prstGeom prst="rect">
            <a:avLst/>
          </a:prstGeom>
          <a:solidFill>
            <a:srgbClr val="20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5D6FCA-0918-40A2-BEF2-E28CB3D3F0D4}"/>
              </a:ext>
            </a:extLst>
          </p:cNvPr>
          <p:cNvSpPr>
            <a:spLocks noGrp="1"/>
          </p:cNvSpPr>
          <p:nvPr/>
        </p:nvSpPr>
        <p:spPr>
          <a:xfrm>
            <a:off x="4686300" y="1866900"/>
            <a:ext cx="2838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时间与存储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41B47AC-A287-4329-9A33-FED0418A0DDC}"/>
              </a:ext>
            </a:extLst>
          </p:cNvPr>
          <p:cNvSpPr>
            <a:spLocks noGrp="1"/>
          </p:cNvSpPr>
          <p:nvPr/>
        </p:nvSpPr>
        <p:spPr>
          <a:xfrm>
            <a:off x="4686300" y="2324100"/>
            <a:ext cx="2838450" cy="2171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SD3078独立RTC承担断网守时、时间同步和事件记录；Micro SD卡作为图片、视频、小说和本地OTA固件的大容量外部存储。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6C4C517-D9A1-4362-9E67-EB9CDCC57505}"/>
              </a:ext>
            </a:extLst>
          </p:cNvPr>
          <p:cNvSpPr>
            <a:spLocks noGrp="1"/>
          </p:cNvSpPr>
          <p:nvPr/>
        </p:nvSpPr>
        <p:spPr>
          <a:xfrm>
            <a:off x="8134350" y="1695450"/>
            <a:ext cx="3333750" cy="2952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18B6C30-7739-44F9-A48A-40993C965BC3}"/>
              </a:ext>
            </a:extLst>
          </p:cNvPr>
          <p:cNvSpPr>
            <a:spLocks noGrp="1"/>
          </p:cNvSpPr>
          <p:nvPr/>
        </p:nvSpPr>
        <p:spPr>
          <a:xfrm>
            <a:off x="8134350" y="1695450"/>
            <a:ext cx="95250" cy="2952750"/>
          </a:xfrm>
          <a:prstGeom prst="rect">
            <a:avLst/>
          </a:prstGeom>
          <a:solidFill>
            <a:srgbClr val="22A7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FF49086-8EC8-4512-851F-CCE2E5A334E2}"/>
              </a:ext>
            </a:extLst>
          </p:cNvPr>
          <p:cNvSpPr>
            <a:spLocks noGrp="1"/>
          </p:cNvSpPr>
          <p:nvPr/>
        </p:nvSpPr>
        <p:spPr>
          <a:xfrm>
            <a:off x="8382000" y="1866900"/>
            <a:ext cx="2838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下载调试接口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AD70918-6E67-4781-A46F-28AB086D03D2}"/>
              </a:ext>
            </a:extLst>
          </p:cNvPr>
          <p:cNvSpPr>
            <a:spLocks noGrp="1"/>
          </p:cNvSpPr>
          <p:nvPr/>
        </p:nvSpPr>
        <p:spPr>
          <a:xfrm>
            <a:off x="8382000" y="2324100"/>
            <a:ext cx="2838450" cy="2171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Type-C接口统一承担供电、固件下载和调试通信；复位与启动配置电路配合完成程序烧录和异常恢复。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288B98E-35C6-4224-997A-83F90B6ADADE}"/>
              </a:ext>
            </a:extLst>
          </p:cNvPr>
          <p:cNvSpPr>
            <a:spLocks noGrp="1"/>
          </p:cNvSpPr>
          <p:nvPr/>
        </p:nvSpPr>
        <p:spPr>
          <a:xfrm>
            <a:off x="1295400" y="5181600"/>
            <a:ext cx="9601200" cy="4381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5A4559E-076A-4661-B754-C57BD9CCE669}"/>
              </a:ext>
            </a:extLst>
          </p:cNvPr>
          <p:cNvSpPr>
            <a:spLocks noGrp="1"/>
          </p:cNvSpPr>
          <p:nvPr/>
        </p:nvSpPr>
        <p:spPr>
          <a:xfrm>
            <a:off x="1524000" y="5276850"/>
            <a:ext cx="9144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硬件链路：SPI负责高吞吐显示和存储，I2C负责触摸与RTC等低速外设，GPIO负责复位、背光、卡检测和休眠唤醒。</a:t>
            </a:r>
          </a:p>
        </p:txBody>
      </p:sp>
    </p:spTree>
    <p:extLst>
      <p:ext uri="{BB962C8B-B14F-4D97-AF65-F5344CB8AC3E}">
        <p14:creationId xmlns:p14="http://schemas.microsoft.com/office/powerpoint/2010/main" val="1482296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276CB337-F413-4C77-90D9-53F1BFD11C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F1D56F82-DB87-450F-9A0E-B0376A4BB3C4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48A06B3B-6633-433A-84CC-B717E75AF86E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0DCA838-F284-4296-B258-663B27CFF2E9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8B3BEEA-9653-463A-A892-FD5BD0F35C03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8E4FD69-1FE0-482E-A17C-34273CCE3706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23B7A07-0AB2-4B8A-B4A7-C33C6874B00A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684F465-10D9-4C5B-AC71-911EBA0A5615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电源路径：充电、稳压与休眠唤醒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1EBDEA2-5084-4B42-8F92-605B23ECC213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C18621-E1B1-4F0C-885D-F6035F308A53}"/>
              </a:ext>
            </a:extLst>
          </p:cNvPr>
          <p:cNvSpPr>
            <a:spLocks noGrp="1"/>
          </p:cNvSpPr>
          <p:nvPr/>
        </p:nvSpPr>
        <p:spPr>
          <a:xfrm>
            <a:off x="952500" y="1714500"/>
            <a:ext cx="2286000" cy="15240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D78818D-571F-4527-934E-2B83441614DF}"/>
              </a:ext>
            </a:extLst>
          </p:cNvPr>
          <p:cNvSpPr>
            <a:spLocks noGrp="1"/>
          </p:cNvSpPr>
          <p:nvPr/>
        </p:nvSpPr>
        <p:spPr>
          <a:xfrm>
            <a:off x="1047750" y="1924050"/>
            <a:ext cx="2095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3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3.0-4.2V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9BE06FF-D0A5-42BF-A58E-301FBF0B050C}"/>
              </a:ext>
            </a:extLst>
          </p:cNvPr>
          <p:cNvSpPr>
            <a:spLocks noGrp="1"/>
          </p:cNvSpPr>
          <p:nvPr/>
        </p:nvSpPr>
        <p:spPr>
          <a:xfrm>
            <a:off x="1066800" y="2457450"/>
            <a:ext cx="2057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锂电池输入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807B878-7967-4043-89E7-EBDF0A5F466D}"/>
              </a:ext>
            </a:extLst>
          </p:cNvPr>
          <p:cNvSpPr>
            <a:spLocks noGrp="1"/>
          </p:cNvSpPr>
          <p:nvPr/>
        </p:nvSpPr>
        <p:spPr>
          <a:xfrm>
            <a:off x="1123950" y="2819400"/>
            <a:ext cx="1943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单节锂电池随电量变化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39456B-5D58-4FDB-A34C-C8A9AA83F7A5}"/>
              </a:ext>
            </a:extLst>
          </p:cNvPr>
          <p:cNvSpPr>
            <a:spLocks noGrp="1"/>
          </p:cNvSpPr>
          <p:nvPr/>
        </p:nvSpPr>
        <p:spPr>
          <a:xfrm>
            <a:off x="3619500" y="1714500"/>
            <a:ext cx="2286000" cy="15240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6CC5443-87B3-4B7D-B988-B48D383A8C79}"/>
              </a:ext>
            </a:extLst>
          </p:cNvPr>
          <p:cNvSpPr>
            <a:spLocks noGrp="1"/>
          </p:cNvSpPr>
          <p:nvPr/>
        </p:nvSpPr>
        <p:spPr>
          <a:xfrm>
            <a:off x="3714750" y="1924050"/>
            <a:ext cx="2095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325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3.3V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0863D5C-893A-4620-941E-97B14EE23BFD}"/>
              </a:ext>
            </a:extLst>
          </p:cNvPr>
          <p:cNvSpPr>
            <a:spLocks noGrp="1"/>
          </p:cNvSpPr>
          <p:nvPr/>
        </p:nvSpPr>
        <p:spPr>
          <a:xfrm>
            <a:off x="3733800" y="2457450"/>
            <a:ext cx="2057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系统供电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B465415-811D-4B73-A541-F95EBBC48692}"/>
              </a:ext>
            </a:extLst>
          </p:cNvPr>
          <p:cNvSpPr>
            <a:spLocks noGrp="1"/>
          </p:cNvSpPr>
          <p:nvPr/>
        </p:nvSpPr>
        <p:spPr>
          <a:xfrm>
            <a:off x="3790950" y="2819400"/>
            <a:ext cx="1943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ME6217低压差稳压输出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2889CE4-D611-4658-8FA3-27E5617CF131}"/>
              </a:ext>
            </a:extLst>
          </p:cNvPr>
          <p:cNvSpPr>
            <a:spLocks noGrp="1"/>
          </p:cNvSpPr>
          <p:nvPr/>
        </p:nvSpPr>
        <p:spPr>
          <a:xfrm>
            <a:off x="6286500" y="1714500"/>
            <a:ext cx="2286000" cy="15240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F548C08-34B0-4B16-B886-1C3DEB188180}"/>
              </a:ext>
            </a:extLst>
          </p:cNvPr>
          <p:cNvSpPr>
            <a:spLocks noGrp="1"/>
          </p:cNvSpPr>
          <p:nvPr/>
        </p:nvSpPr>
        <p:spPr>
          <a:xfrm>
            <a:off x="6381750" y="1924050"/>
            <a:ext cx="2095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325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rPr>
              <a:t>5V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6A656C1-CD13-49BA-9342-A5B3A320CC03}"/>
              </a:ext>
            </a:extLst>
          </p:cNvPr>
          <p:cNvSpPr>
            <a:spLocks noGrp="1"/>
          </p:cNvSpPr>
          <p:nvPr/>
        </p:nvSpPr>
        <p:spPr>
          <a:xfrm>
            <a:off x="6400800" y="2457450"/>
            <a:ext cx="2057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Type-C充电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23BA64E-91C9-4E02-B5B1-264F869ED564}"/>
              </a:ext>
            </a:extLst>
          </p:cNvPr>
          <p:cNvSpPr>
            <a:spLocks noGrp="1"/>
          </p:cNvSpPr>
          <p:nvPr/>
        </p:nvSpPr>
        <p:spPr>
          <a:xfrm>
            <a:off x="6457950" y="2819400"/>
            <a:ext cx="1943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充电状态硬件指示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FF5870A-0876-41AD-B1CC-D0B156800352}"/>
              </a:ext>
            </a:extLst>
          </p:cNvPr>
          <p:cNvSpPr>
            <a:spLocks noGrp="1"/>
          </p:cNvSpPr>
          <p:nvPr/>
        </p:nvSpPr>
        <p:spPr>
          <a:xfrm>
            <a:off x="8953500" y="1714500"/>
            <a:ext cx="2286000" cy="15240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7AB8C0F-A94B-4FD0-A9D0-B83D36139B01}"/>
              </a:ext>
            </a:extLst>
          </p:cNvPr>
          <p:cNvSpPr>
            <a:spLocks noGrp="1"/>
          </p:cNvSpPr>
          <p:nvPr/>
        </p:nvSpPr>
        <p:spPr>
          <a:xfrm>
            <a:off x="9048750" y="1924050"/>
            <a:ext cx="2095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325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GPIO7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604E775-B748-45F9-A450-B8B7DC523AE7}"/>
              </a:ext>
            </a:extLst>
          </p:cNvPr>
          <p:cNvSpPr>
            <a:spLocks noGrp="1"/>
          </p:cNvSpPr>
          <p:nvPr/>
        </p:nvSpPr>
        <p:spPr>
          <a:xfrm>
            <a:off x="9067800" y="2457450"/>
            <a:ext cx="2057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深休眠唤醒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0D7A46D-EC68-4282-9924-863DAE8DDA99}"/>
              </a:ext>
            </a:extLst>
          </p:cNvPr>
          <p:cNvSpPr>
            <a:spLocks noGrp="1"/>
          </p:cNvSpPr>
          <p:nvPr/>
        </p:nvSpPr>
        <p:spPr>
          <a:xfrm>
            <a:off x="9124950" y="2819400"/>
            <a:ext cx="1943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实体按键防误触唤醒</a:t>
            </a: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5F88918D-259A-45C2-810E-165BEDC82E88}"/>
              </a:ext>
            </a:extLst>
          </p:cNvPr>
          <p:cNvSpPr>
            <a:spLocks noGrp="1"/>
          </p:cNvSpPr>
          <p:nvPr/>
        </p:nvSpPr>
        <p:spPr>
          <a:xfrm>
            <a:off x="1428750" y="399097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764A14F-C612-4BB2-9092-64E1DEE26A8F}"/>
              </a:ext>
            </a:extLst>
          </p:cNvPr>
          <p:cNvSpPr>
            <a:spLocks noGrp="1"/>
          </p:cNvSpPr>
          <p:nvPr/>
        </p:nvSpPr>
        <p:spPr>
          <a:xfrm>
            <a:off x="1638300" y="3905250"/>
            <a:ext cx="8648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输入与输出端配置滤波和去耦电容，降低纹波与瞬态干扰</a:t>
            </a: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18E20E88-F8BB-4FD3-AEB4-9CC40B2C49F7}"/>
              </a:ext>
            </a:extLst>
          </p:cNvPr>
          <p:cNvSpPr>
            <a:spLocks noGrp="1"/>
          </p:cNvSpPr>
          <p:nvPr/>
        </p:nvSpPr>
        <p:spPr>
          <a:xfrm>
            <a:off x="1428750" y="452437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EA3CB1E-0F3D-46F4-A086-F777F70F0B01}"/>
              </a:ext>
            </a:extLst>
          </p:cNvPr>
          <p:cNvSpPr>
            <a:spLocks noGrp="1"/>
          </p:cNvSpPr>
          <p:nvPr/>
        </p:nvSpPr>
        <p:spPr>
          <a:xfrm>
            <a:off x="1638300" y="4438650"/>
            <a:ext cx="8648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充电芯片提供过流、过压和温度保护，提高电池安全性</a:t>
            </a: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83A80F1B-29A8-4004-A25E-3D479D7D4D3E}"/>
              </a:ext>
            </a:extLst>
          </p:cNvPr>
          <p:cNvSpPr>
            <a:spLocks noGrp="1"/>
          </p:cNvSpPr>
          <p:nvPr/>
        </p:nvSpPr>
        <p:spPr>
          <a:xfrm>
            <a:off x="1428750" y="505777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9895F10-FF6F-4919-9DCA-7E8EAD5EFAF9}"/>
              </a:ext>
            </a:extLst>
          </p:cNvPr>
          <p:cNvSpPr>
            <a:spLocks noGrp="1"/>
          </p:cNvSpPr>
          <p:nvPr/>
        </p:nvSpPr>
        <p:spPr>
          <a:xfrm>
            <a:off x="1638300" y="4972050"/>
            <a:ext cx="8648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LightSleep保留快速唤醒能力，DeepSleep关闭更多资源以降低待机功耗</a:t>
            </a:r>
          </a:p>
        </p:txBody>
      </p:sp>
    </p:spTree>
    <p:extLst>
      <p:ext uri="{BB962C8B-B14F-4D97-AF65-F5344CB8AC3E}">
        <p14:creationId xmlns:p14="http://schemas.microsoft.com/office/powerpoint/2010/main" val="1089473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C763DAE6-4A95-49DF-B4AA-DDA5290EF0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FF0A233-ABF5-4CC0-AE8F-A3512ECFAEF9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46B2907D-1145-420D-B377-4E8702F583F1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DD36350-0955-4B62-A73C-22F1C82430A0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91160C-AC36-40DF-9BCB-73D7F9E76D8E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61B2094-95A1-4C40-B227-94A501BBBC7C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B8062A-028F-4457-9D65-5CFCD437C40C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DBFC24C-2671-4D79-82EF-ECBB40E7BB09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软件架构：从底层驱动到界面刷新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CC4650A-1361-4DFC-BBEB-D65F20049B4F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78A9B7-6BE2-49C3-946C-6333D1C9CB05}"/>
              </a:ext>
            </a:extLst>
          </p:cNvPr>
          <p:cNvSpPr>
            <a:spLocks noGrp="1"/>
          </p:cNvSpPr>
          <p:nvPr/>
        </p:nvSpPr>
        <p:spPr>
          <a:xfrm>
            <a:off x="1200150" y="1638300"/>
            <a:ext cx="9791700" cy="7239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B345F9A-52C6-4A0E-B322-F00CDDD26E9D}"/>
              </a:ext>
            </a:extLst>
          </p:cNvPr>
          <p:cNvSpPr>
            <a:spLocks noGrp="1"/>
          </p:cNvSpPr>
          <p:nvPr/>
        </p:nvSpPr>
        <p:spPr>
          <a:xfrm>
            <a:off x="1200150" y="1638300"/>
            <a:ext cx="114300" cy="7239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817AAE3-FB32-43B5-A05D-A2A121179D55}"/>
              </a:ext>
            </a:extLst>
          </p:cNvPr>
          <p:cNvSpPr>
            <a:spLocks noGrp="1"/>
          </p:cNvSpPr>
          <p:nvPr/>
        </p:nvSpPr>
        <p:spPr>
          <a:xfrm>
            <a:off x="1524000" y="1847850"/>
            <a:ext cx="17621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硬件层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7F395F3-8B0F-4F7B-9040-58772DF065BA}"/>
              </a:ext>
            </a:extLst>
          </p:cNvPr>
          <p:cNvSpPr>
            <a:spLocks noGrp="1"/>
          </p:cNvSpPr>
          <p:nvPr/>
        </p:nvSpPr>
        <p:spPr>
          <a:xfrm>
            <a:off x="3429000" y="1752600"/>
            <a:ext cx="6953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ST7789、CST816T、SD卡、Flash、RTC、WiFi、电源</a:t>
            </a:r>
          </a:p>
          <a:p>
            <a:pPr algn="ctr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通过SPI/I2C/GPIO等驱动封装为上层接口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F75A325-4B07-4FFC-9513-B3C4564E4C73}"/>
              </a:ext>
            </a:extLst>
          </p:cNvPr>
          <p:cNvSpPr>
            <a:spLocks noGrp="1"/>
          </p:cNvSpPr>
          <p:nvPr/>
        </p:nvSpPr>
        <p:spPr>
          <a:xfrm>
            <a:off x="6076950" y="2362200"/>
            <a:ext cx="38100" cy="2667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12FF1BF-D768-4CFD-B6C0-4FDA06944480}"/>
              </a:ext>
            </a:extLst>
          </p:cNvPr>
          <p:cNvSpPr>
            <a:spLocks noGrp="1"/>
          </p:cNvSpPr>
          <p:nvPr/>
        </p:nvSpPr>
        <p:spPr>
          <a:xfrm>
            <a:off x="5924550" y="23622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A624B0-5A34-4531-B752-9E92A2592EF5}"/>
              </a:ext>
            </a:extLst>
          </p:cNvPr>
          <p:cNvSpPr>
            <a:spLocks noGrp="1"/>
          </p:cNvSpPr>
          <p:nvPr/>
        </p:nvSpPr>
        <p:spPr>
          <a:xfrm>
            <a:off x="1200150" y="2628900"/>
            <a:ext cx="9791700" cy="7239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2CECB0A-0B5D-4072-8B45-9CADCBFF0934}"/>
              </a:ext>
            </a:extLst>
          </p:cNvPr>
          <p:cNvSpPr>
            <a:spLocks noGrp="1"/>
          </p:cNvSpPr>
          <p:nvPr/>
        </p:nvSpPr>
        <p:spPr>
          <a:xfrm>
            <a:off x="1200150" y="2628900"/>
            <a:ext cx="114300" cy="723900"/>
          </a:xfrm>
          <a:prstGeom prst="rect">
            <a:avLst/>
          </a:prstGeom>
          <a:solidFill>
            <a:srgbClr val="F2A2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7621430-65F3-4EB7-AF99-C415A6DAC379}"/>
              </a:ext>
            </a:extLst>
          </p:cNvPr>
          <p:cNvSpPr>
            <a:spLocks noGrp="1"/>
          </p:cNvSpPr>
          <p:nvPr/>
        </p:nvSpPr>
        <p:spPr>
          <a:xfrm>
            <a:off x="1524000" y="2838450"/>
            <a:ext cx="17621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3155AAE-2922-463F-8CB4-AAAA07E101EB}"/>
              </a:ext>
            </a:extLst>
          </p:cNvPr>
          <p:cNvSpPr>
            <a:spLocks noGrp="1"/>
          </p:cNvSpPr>
          <p:nvPr/>
        </p:nvSpPr>
        <p:spPr>
          <a:xfrm>
            <a:off x="3429000" y="2743200"/>
            <a:ext cx="6953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时间、天气、存储、多媒体、OTA、游戏、功耗控制</a:t>
            </a:r>
          </a:p>
          <a:p>
            <a:pPr algn="ctr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由FreeRTOS拆分为相互独立的任务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2181255-567D-4B75-91DD-64A7C990F9F1}"/>
              </a:ext>
            </a:extLst>
          </p:cNvPr>
          <p:cNvSpPr>
            <a:spLocks noGrp="1"/>
          </p:cNvSpPr>
          <p:nvPr/>
        </p:nvSpPr>
        <p:spPr>
          <a:xfrm>
            <a:off x="6076950" y="3352800"/>
            <a:ext cx="38100" cy="2667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2A356CA-6141-40FC-9737-B42B3D70A424}"/>
              </a:ext>
            </a:extLst>
          </p:cNvPr>
          <p:cNvSpPr>
            <a:spLocks noGrp="1"/>
          </p:cNvSpPr>
          <p:nvPr/>
        </p:nvSpPr>
        <p:spPr>
          <a:xfrm>
            <a:off x="5924550" y="33528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9B09A64-7E8B-4114-83A0-412A8BDD6AAE}"/>
              </a:ext>
            </a:extLst>
          </p:cNvPr>
          <p:cNvSpPr>
            <a:spLocks noGrp="1"/>
          </p:cNvSpPr>
          <p:nvPr/>
        </p:nvSpPr>
        <p:spPr>
          <a:xfrm>
            <a:off x="1200150" y="3619500"/>
            <a:ext cx="9791700" cy="7239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190BDFA-D399-4A10-9AFA-4DAE2470E430}"/>
              </a:ext>
            </a:extLst>
          </p:cNvPr>
          <p:cNvSpPr>
            <a:spLocks noGrp="1"/>
          </p:cNvSpPr>
          <p:nvPr/>
        </p:nvSpPr>
        <p:spPr>
          <a:xfrm>
            <a:off x="1200150" y="3619500"/>
            <a:ext cx="114300" cy="723900"/>
          </a:xfrm>
          <a:prstGeom prst="rect">
            <a:avLst/>
          </a:prstGeom>
          <a:solidFill>
            <a:srgbClr val="22A7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949F9E3-A0A8-470D-BBC2-740F0C64CC9E}"/>
              </a:ext>
            </a:extLst>
          </p:cNvPr>
          <p:cNvSpPr>
            <a:spLocks noGrp="1"/>
          </p:cNvSpPr>
          <p:nvPr/>
        </p:nvSpPr>
        <p:spPr>
          <a:xfrm>
            <a:off x="1524000" y="3829050"/>
            <a:ext cx="17621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异步消息队列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46BDF63-C14F-4851-9FDA-82B6BA33EDC4}"/>
              </a:ext>
            </a:extLst>
          </p:cNvPr>
          <p:cNvSpPr>
            <a:spLocks noGrp="1"/>
          </p:cNvSpPr>
          <p:nvPr/>
        </p:nvSpPr>
        <p:spPr>
          <a:xfrm>
            <a:off x="3429000" y="3733800"/>
            <a:ext cx="6953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业务状态、页面请求、进度信息、任务间协作</a:t>
            </a:r>
          </a:p>
          <a:p>
            <a:pPr algn="ctr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统一进入队列，避免多任务直接操作UI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3E2C26B-25A2-4B88-BA59-BF97C80FB3EA}"/>
              </a:ext>
            </a:extLst>
          </p:cNvPr>
          <p:cNvSpPr>
            <a:spLocks noGrp="1"/>
          </p:cNvSpPr>
          <p:nvPr/>
        </p:nvSpPr>
        <p:spPr>
          <a:xfrm>
            <a:off x="6076950" y="4343400"/>
            <a:ext cx="38100" cy="2667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E2197C8-4E08-458A-A8FB-AE6BEF38A207}"/>
              </a:ext>
            </a:extLst>
          </p:cNvPr>
          <p:cNvSpPr>
            <a:spLocks noGrp="1"/>
          </p:cNvSpPr>
          <p:nvPr/>
        </p:nvSpPr>
        <p:spPr>
          <a:xfrm>
            <a:off x="5924550" y="43434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8703CED-916E-45E1-8987-E505BD0F5285}"/>
              </a:ext>
            </a:extLst>
          </p:cNvPr>
          <p:cNvSpPr>
            <a:spLocks noGrp="1"/>
          </p:cNvSpPr>
          <p:nvPr/>
        </p:nvSpPr>
        <p:spPr>
          <a:xfrm>
            <a:off x="1200150" y="4610100"/>
            <a:ext cx="9791700" cy="7239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CA32471-75A3-4F0D-9F01-F8472954D8AC}"/>
              </a:ext>
            </a:extLst>
          </p:cNvPr>
          <p:cNvSpPr>
            <a:spLocks noGrp="1"/>
          </p:cNvSpPr>
          <p:nvPr/>
        </p:nvSpPr>
        <p:spPr>
          <a:xfrm>
            <a:off x="1200150" y="4610100"/>
            <a:ext cx="114300" cy="723900"/>
          </a:xfrm>
          <a:prstGeom prst="rect">
            <a:avLst/>
          </a:prstGeom>
          <a:solidFill>
            <a:srgbClr val="20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4575FB9-88EE-4BD7-86C1-619A227DCFE5}"/>
              </a:ext>
            </a:extLst>
          </p:cNvPr>
          <p:cNvSpPr>
            <a:spLocks noGrp="1"/>
          </p:cNvSpPr>
          <p:nvPr/>
        </p:nvSpPr>
        <p:spPr>
          <a:xfrm>
            <a:off x="1524000" y="4819650"/>
            <a:ext cx="17621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显示层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765BF79-C97D-4606-8B4E-554E85270B3F}"/>
              </a:ext>
            </a:extLst>
          </p:cNvPr>
          <p:cNvSpPr>
            <a:spLocks noGrp="1"/>
          </p:cNvSpPr>
          <p:nvPr/>
        </p:nvSpPr>
        <p:spPr>
          <a:xfrm>
            <a:off x="3429000" y="4724400"/>
            <a:ext cx="6953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LVGL显示线程消费队列消息</a:t>
            </a:r>
          </a:p>
          <a:p>
            <a:pPr algn="ctr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完成页面刷新、事件分发、控件重绘和屏幕输出</a:t>
            </a:r>
          </a:p>
        </p:txBody>
      </p:sp>
    </p:spTree>
    <p:extLst>
      <p:ext uri="{BB962C8B-B14F-4D97-AF65-F5344CB8AC3E}">
        <p14:creationId xmlns:p14="http://schemas.microsoft.com/office/powerpoint/2010/main" val="952775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>
            <a:extLst>
              <a:ext uri="{FF2B5EF4-FFF2-40B4-BE49-F238E27FC236}">
                <a16:creationId xmlns:a16="http://schemas.microsoft.com/office/drawing/2014/main" id="{7B41DDA5-AE38-4418-8F15-B6C5C15185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CDD867B3-8963-4243-87FA-D34285F024B0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F7D06376-163B-4E0D-9B5E-82D01202B2D8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0B8002-2C57-47FE-9966-5668D3516AC3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AB97882-AEBF-4E07-BD18-AFE1D8B0E59B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CADC7E2-9E32-4DA1-A962-D28D799966C1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86304F-8981-47A5-AAFD-D79261827B47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7E7E210-17E2-4089-9031-804CDF076708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SD卡与多媒体流程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75EB63A-1444-41B4-870F-44F85B29045A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30B1BA0-83D0-4A0E-BF36-3A538BE8BFBB}"/>
              </a:ext>
            </a:extLst>
          </p:cNvPr>
          <p:cNvSpPr>
            <a:spLocks noGrp="1"/>
          </p:cNvSpPr>
          <p:nvPr/>
        </p:nvSpPr>
        <p:spPr>
          <a:xfrm>
            <a:off x="876300" y="1752600"/>
            <a:ext cx="20002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38548C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F80CA1C-7AFC-45AB-A387-3761D08AF1DC}"/>
              </a:ext>
            </a:extLst>
          </p:cNvPr>
          <p:cNvSpPr>
            <a:spLocks noGrp="1"/>
          </p:cNvSpPr>
          <p:nvPr/>
        </p:nvSpPr>
        <p:spPr>
          <a:xfrm>
            <a:off x="971550" y="1857375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初始化SD接口</a:t>
            </a:r>
            <a:endParaRPr sz="1575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挂载FatFS</a:t>
            </a:r>
            <a:endParaRPr sz="1575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207766A-140B-4DFB-861A-DB3D08523B30}"/>
              </a:ext>
            </a:extLst>
          </p:cNvPr>
          <p:cNvSpPr>
            <a:spLocks noGrp="1"/>
          </p:cNvSpPr>
          <p:nvPr/>
        </p:nvSpPr>
        <p:spPr>
          <a:xfrm>
            <a:off x="3543300" y="1752600"/>
            <a:ext cx="20002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2A7C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F0FB49C-3174-40A9-A4C0-572298931DD7}"/>
              </a:ext>
            </a:extLst>
          </p:cNvPr>
          <p:cNvSpPr>
            <a:spLocks noGrp="1"/>
          </p:cNvSpPr>
          <p:nvPr/>
        </p:nvSpPr>
        <p:spPr>
          <a:xfrm>
            <a:off x="3638550" y="1857375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扫描/sdcard</a:t>
            </a:r>
          </a:p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建立文件缓存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6B5D7D3-5072-49A0-9F63-81D692446EB6}"/>
              </a:ext>
            </a:extLst>
          </p:cNvPr>
          <p:cNvSpPr>
            <a:spLocks noGrp="1"/>
          </p:cNvSpPr>
          <p:nvPr/>
        </p:nvSpPr>
        <p:spPr>
          <a:xfrm>
            <a:off x="6210300" y="1752600"/>
            <a:ext cx="20002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0A66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CF93636-03B1-4B40-9E5A-B71FFF0198D1}"/>
              </a:ext>
            </a:extLst>
          </p:cNvPr>
          <p:cNvSpPr>
            <a:spLocks noGrp="1"/>
          </p:cNvSpPr>
          <p:nvPr/>
        </p:nvSpPr>
        <p:spPr>
          <a:xfrm>
            <a:off x="6305550" y="1857375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用户选择</a:t>
            </a:r>
          </a:p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资源类型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9F3308F-99E8-41B6-A56C-63653663360F}"/>
              </a:ext>
            </a:extLst>
          </p:cNvPr>
          <p:cNvSpPr>
            <a:spLocks noGrp="1"/>
          </p:cNvSpPr>
          <p:nvPr/>
        </p:nvSpPr>
        <p:spPr>
          <a:xfrm>
            <a:off x="2876550" y="2028825"/>
            <a:ext cx="6667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9E9A7F3-A5E2-4943-B5A2-6053664618F9}"/>
              </a:ext>
            </a:extLst>
          </p:cNvPr>
          <p:cNvSpPr>
            <a:spLocks noGrp="1"/>
          </p:cNvSpPr>
          <p:nvPr/>
        </p:nvSpPr>
        <p:spPr>
          <a:xfrm>
            <a:off x="3333750" y="1857375"/>
            <a:ext cx="38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C714686-5B66-4BC8-AC43-3D00FB7AB0B8}"/>
              </a:ext>
            </a:extLst>
          </p:cNvPr>
          <p:cNvSpPr>
            <a:spLocks noGrp="1"/>
          </p:cNvSpPr>
          <p:nvPr/>
        </p:nvSpPr>
        <p:spPr>
          <a:xfrm>
            <a:off x="5543550" y="2028825"/>
            <a:ext cx="6667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A2752B9-CBCC-46D6-A0AC-6E7A87006BB9}"/>
              </a:ext>
            </a:extLst>
          </p:cNvPr>
          <p:cNvSpPr>
            <a:spLocks noGrp="1"/>
          </p:cNvSpPr>
          <p:nvPr/>
        </p:nvSpPr>
        <p:spPr>
          <a:xfrm>
            <a:off x="6000750" y="1857375"/>
            <a:ext cx="38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E6BB37A-1BFB-43C8-9732-41A443665ED8}"/>
              </a:ext>
            </a:extLst>
          </p:cNvPr>
          <p:cNvSpPr>
            <a:spLocks noGrp="1"/>
          </p:cNvSpPr>
          <p:nvPr/>
        </p:nvSpPr>
        <p:spPr>
          <a:xfrm>
            <a:off x="1104900" y="3200400"/>
            <a:ext cx="2000250" cy="742950"/>
          </a:xfrm>
          <a:prstGeom prst="rect">
            <a:avLst/>
          </a:prstGeom>
          <a:solidFill>
            <a:srgbClr val="F3F8FD"/>
          </a:solidFill>
          <a:ln w="12383">
            <a:solidFill>
              <a:srgbClr val="38548C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5632B0C-F5FC-4C91-A12C-76711792D788}"/>
              </a:ext>
            </a:extLst>
          </p:cNvPr>
          <p:cNvSpPr>
            <a:spLocks noGrp="1"/>
          </p:cNvSpPr>
          <p:nvPr/>
        </p:nvSpPr>
        <p:spPr>
          <a:xfrm>
            <a:off x="1181100" y="3295650"/>
            <a:ext cx="18478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图片文件</a:t>
            </a:r>
          </a:p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分块读取与解码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C760195-6231-4D92-AAE1-641ACBC2B709}"/>
              </a:ext>
            </a:extLst>
          </p:cNvPr>
          <p:cNvSpPr>
            <a:spLocks noGrp="1"/>
          </p:cNvSpPr>
          <p:nvPr/>
        </p:nvSpPr>
        <p:spPr>
          <a:xfrm>
            <a:off x="4000500" y="3200400"/>
            <a:ext cx="2000250" cy="742950"/>
          </a:xfrm>
          <a:prstGeom prst="rect">
            <a:avLst/>
          </a:prstGeom>
          <a:solidFill>
            <a:srgbClr val="F3F8FD"/>
          </a:solidFill>
          <a:ln w="12383">
            <a:solidFill>
              <a:srgbClr val="F2A21B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0CE49D3-4DE3-41F0-90B2-E17C7A664E9F}"/>
              </a:ext>
            </a:extLst>
          </p:cNvPr>
          <p:cNvSpPr>
            <a:spLocks noGrp="1"/>
          </p:cNvSpPr>
          <p:nvPr/>
        </p:nvSpPr>
        <p:spPr>
          <a:xfrm>
            <a:off x="4076700" y="3295650"/>
            <a:ext cx="18478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视频文件</a:t>
            </a:r>
          </a:p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读帧/解码/缓存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D00C7C7-766E-4C25-9DE6-1BB4BE79F153}"/>
              </a:ext>
            </a:extLst>
          </p:cNvPr>
          <p:cNvSpPr>
            <a:spLocks noGrp="1"/>
          </p:cNvSpPr>
          <p:nvPr/>
        </p:nvSpPr>
        <p:spPr>
          <a:xfrm>
            <a:off x="6896100" y="3200400"/>
            <a:ext cx="2000250" cy="742950"/>
          </a:xfrm>
          <a:prstGeom prst="rect">
            <a:avLst/>
          </a:prstGeom>
          <a:solidFill>
            <a:srgbClr val="F3F8FD"/>
          </a:solidFill>
          <a:ln w="12383">
            <a:solidFill>
              <a:srgbClr val="20A66A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6E5F459-2563-42DE-A5E8-6BF77C8FA2B6}"/>
              </a:ext>
            </a:extLst>
          </p:cNvPr>
          <p:cNvSpPr>
            <a:spLocks noGrp="1"/>
          </p:cNvSpPr>
          <p:nvPr/>
        </p:nvSpPr>
        <p:spPr>
          <a:xfrm>
            <a:off x="6972300" y="3295650"/>
            <a:ext cx="18478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TXT小说</a:t>
            </a:r>
          </a:p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分页与断点记录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E61A463-46CE-495A-A768-1A3CE6AAAF9F}"/>
              </a:ext>
            </a:extLst>
          </p:cNvPr>
          <p:cNvSpPr>
            <a:spLocks noGrp="1"/>
          </p:cNvSpPr>
          <p:nvPr/>
        </p:nvSpPr>
        <p:spPr>
          <a:xfrm>
            <a:off x="7191375" y="2343150"/>
            <a:ext cx="38100" cy="43815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BF6136C-2D2E-48C9-AAA4-5A64F27F5D7C}"/>
              </a:ext>
            </a:extLst>
          </p:cNvPr>
          <p:cNvSpPr>
            <a:spLocks noGrp="1"/>
          </p:cNvSpPr>
          <p:nvPr/>
        </p:nvSpPr>
        <p:spPr>
          <a:xfrm>
            <a:off x="7038975" y="25146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251985F-B551-4D1E-A92C-8EAF46EA564A}"/>
              </a:ext>
            </a:extLst>
          </p:cNvPr>
          <p:cNvSpPr>
            <a:spLocks noGrp="1"/>
          </p:cNvSpPr>
          <p:nvPr/>
        </p:nvSpPr>
        <p:spPr>
          <a:xfrm>
            <a:off x="7324725" y="24574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按类型分流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D8C8B17-A150-4BCB-9985-0674BC76CDE5}"/>
              </a:ext>
            </a:extLst>
          </p:cNvPr>
          <p:cNvSpPr>
            <a:spLocks noGrp="1"/>
          </p:cNvSpPr>
          <p:nvPr/>
        </p:nvSpPr>
        <p:spPr>
          <a:xfrm>
            <a:off x="2095500" y="2781300"/>
            <a:ext cx="5810250" cy="28575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F5D9BDF-2B02-4897-906C-C5079A2BD6EA}"/>
              </a:ext>
            </a:extLst>
          </p:cNvPr>
          <p:cNvSpPr>
            <a:spLocks noGrp="1"/>
          </p:cNvSpPr>
          <p:nvPr/>
        </p:nvSpPr>
        <p:spPr>
          <a:xfrm>
            <a:off x="2076450" y="2781300"/>
            <a:ext cx="38100" cy="419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80C425A-3CDC-4371-8146-098BF5186139}"/>
              </a:ext>
            </a:extLst>
          </p:cNvPr>
          <p:cNvSpPr>
            <a:spLocks noGrp="1"/>
          </p:cNvSpPr>
          <p:nvPr/>
        </p:nvSpPr>
        <p:spPr>
          <a:xfrm>
            <a:off x="1924050" y="29337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E61DA07-B9C4-4231-A35A-ED9C67562FB9}"/>
              </a:ext>
            </a:extLst>
          </p:cNvPr>
          <p:cNvSpPr>
            <a:spLocks noGrp="1"/>
          </p:cNvSpPr>
          <p:nvPr/>
        </p:nvSpPr>
        <p:spPr>
          <a:xfrm>
            <a:off x="4981575" y="2781300"/>
            <a:ext cx="38100" cy="419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FF64B55-BA26-4B79-8C1F-F33AFF974BD7}"/>
              </a:ext>
            </a:extLst>
          </p:cNvPr>
          <p:cNvSpPr>
            <a:spLocks noGrp="1"/>
          </p:cNvSpPr>
          <p:nvPr/>
        </p:nvSpPr>
        <p:spPr>
          <a:xfrm>
            <a:off x="4829175" y="29337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0B43AE8-BF25-4D10-86AA-84BACB0F1257}"/>
              </a:ext>
            </a:extLst>
          </p:cNvPr>
          <p:cNvSpPr>
            <a:spLocks noGrp="1"/>
          </p:cNvSpPr>
          <p:nvPr/>
        </p:nvSpPr>
        <p:spPr>
          <a:xfrm>
            <a:off x="7886700" y="2781300"/>
            <a:ext cx="38100" cy="419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49B6815-839C-4BC4-AA18-DCD2306BE93B}"/>
              </a:ext>
            </a:extLst>
          </p:cNvPr>
          <p:cNvSpPr>
            <a:spLocks noGrp="1"/>
          </p:cNvSpPr>
          <p:nvPr/>
        </p:nvSpPr>
        <p:spPr>
          <a:xfrm>
            <a:off x="7734300" y="29337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29C2582-7DA4-4ACD-9DBB-219A36A7404E}"/>
              </a:ext>
            </a:extLst>
          </p:cNvPr>
          <p:cNvSpPr>
            <a:spLocks noGrp="1"/>
          </p:cNvSpPr>
          <p:nvPr/>
        </p:nvSpPr>
        <p:spPr>
          <a:xfrm>
            <a:off x="3352800" y="4743449"/>
            <a:ext cx="3333750" cy="771525"/>
          </a:xfrm>
          <a:prstGeom prst="rect">
            <a:avLst/>
          </a:prstGeom>
          <a:solidFill>
            <a:srgbClr val="EAF7FC"/>
          </a:solidFill>
          <a:ln w="14288">
            <a:solidFill>
              <a:srgbClr val="22A7C8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A5D96A0-BF24-4BEC-AB73-D9AF3ED95846}"/>
              </a:ext>
            </a:extLst>
          </p:cNvPr>
          <p:cNvSpPr>
            <a:spLocks noGrp="1"/>
          </p:cNvSpPr>
          <p:nvPr/>
        </p:nvSpPr>
        <p:spPr>
          <a:xfrm>
            <a:off x="3448050" y="4848225"/>
            <a:ext cx="3143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发送消息到显示层</a:t>
            </a:r>
          </a:p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刷新图片/视频/文本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1D900D9-FA80-4025-9BBE-E1885F359003}"/>
              </a:ext>
            </a:extLst>
          </p:cNvPr>
          <p:cNvSpPr>
            <a:spLocks noGrp="1"/>
          </p:cNvSpPr>
          <p:nvPr/>
        </p:nvSpPr>
        <p:spPr>
          <a:xfrm>
            <a:off x="2076450" y="3943350"/>
            <a:ext cx="38100" cy="40005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54FFF0D-0794-4FB7-8355-21996824E335}"/>
              </a:ext>
            </a:extLst>
          </p:cNvPr>
          <p:cNvSpPr>
            <a:spLocks noGrp="1"/>
          </p:cNvSpPr>
          <p:nvPr/>
        </p:nvSpPr>
        <p:spPr>
          <a:xfrm>
            <a:off x="1924050" y="40767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2788C19-2164-4DE1-83DC-5713F703D114}"/>
              </a:ext>
            </a:extLst>
          </p:cNvPr>
          <p:cNvSpPr>
            <a:spLocks noGrp="1"/>
          </p:cNvSpPr>
          <p:nvPr/>
        </p:nvSpPr>
        <p:spPr>
          <a:xfrm>
            <a:off x="4981575" y="3943350"/>
            <a:ext cx="38100" cy="40005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F5F5A8F-AF3D-4973-BF33-65D0FFEB6ABB}"/>
              </a:ext>
            </a:extLst>
          </p:cNvPr>
          <p:cNvSpPr>
            <a:spLocks noGrp="1"/>
          </p:cNvSpPr>
          <p:nvPr/>
        </p:nvSpPr>
        <p:spPr>
          <a:xfrm>
            <a:off x="4829175" y="40767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1BD0B7E-BD7B-4976-9AE4-93FAE3FBF0C1}"/>
              </a:ext>
            </a:extLst>
          </p:cNvPr>
          <p:cNvSpPr>
            <a:spLocks noGrp="1"/>
          </p:cNvSpPr>
          <p:nvPr/>
        </p:nvSpPr>
        <p:spPr>
          <a:xfrm>
            <a:off x="7886700" y="3943350"/>
            <a:ext cx="38100" cy="40005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AA28577-EAE3-45B8-B545-4FA31955965B}"/>
              </a:ext>
            </a:extLst>
          </p:cNvPr>
          <p:cNvSpPr>
            <a:spLocks noGrp="1"/>
          </p:cNvSpPr>
          <p:nvPr/>
        </p:nvSpPr>
        <p:spPr>
          <a:xfrm>
            <a:off x="7734300" y="40767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1F00EA5-5637-467A-B03D-04B27D216C0A}"/>
              </a:ext>
            </a:extLst>
          </p:cNvPr>
          <p:cNvSpPr>
            <a:spLocks noGrp="1"/>
          </p:cNvSpPr>
          <p:nvPr/>
        </p:nvSpPr>
        <p:spPr>
          <a:xfrm>
            <a:off x="2095500" y="4343400"/>
            <a:ext cx="5810250" cy="28575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8733A0C-B195-46BC-96D2-40D48F3B5816}"/>
              </a:ext>
            </a:extLst>
          </p:cNvPr>
          <p:cNvSpPr>
            <a:spLocks noGrp="1"/>
          </p:cNvSpPr>
          <p:nvPr/>
        </p:nvSpPr>
        <p:spPr>
          <a:xfrm>
            <a:off x="5000625" y="4343400"/>
            <a:ext cx="38100" cy="40005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E4383FC-ADF2-4A45-8FC6-BA287AB7501F}"/>
              </a:ext>
            </a:extLst>
          </p:cNvPr>
          <p:cNvSpPr>
            <a:spLocks noGrp="1"/>
          </p:cNvSpPr>
          <p:nvPr/>
        </p:nvSpPr>
        <p:spPr>
          <a:xfrm>
            <a:off x="4848225" y="447675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5296F33-58E7-4FA3-914B-44296DFAF458}"/>
              </a:ext>
            </a:extLst>
          </p:cNvPr>
          <p:cNvSpPr>
            <a:spLocks noGrp="1"/>
          </p:cNvSpPr>
          <p:nvPr/>
        </p:nvSpPr>
        <p:spPr>
          <a:xfrm>
            <a:off x="9239250" y="1657350"/>
            <a:ext cx="1714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讲解重点</a:t>
            </a: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BC3A34E7-0F8D-4393-835E-847BA022D055}"/>
              </a:ext>
            </a:extLst>
          </p:cNvPr>
          <p:cNvSpPr>
            <a:spLocks noGrp="1"/>
          </p:cNvSpPr>
          <p:nvPr/>
        </p:nvSpPr>
        <p:spPr>
          <a:xfrm>
            <a:off x="9239250" y="22955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5FAF52E-D3C7-426B-AAED-151F099C05D2}"/>
              </a:ext>
            </a:extLst>
          </p:cNvPr>
          <p:cNvSpPr>
            <a:spLocks noGrp="1"/>
          </p:cNvSpPr>
          <p:nvPr/>
        </p:nvSpPr>
        <p:spPr>
          <a:xfrm>
            <a:off x="9448800" y="2209800"/>
            <a:ext cx="20764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启动阶段初始化SD接口并挂载FatFS</a:t>
            </a: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35B5F220-8D14-4F5C-9A4C-DAD8493E76A7}"/>
              </a:ext>
            </a:extLst>
          </p:cNvPr>
          <p:cNvSpPr>
            <a:spLocks noGrp="1"/>
          </p:cNvSpPr>
          <p:nvPr/>
        </p:nvSpPr>
        <p:spPr>
          <a:xfrm>
            <a:off x="9239250" y="29051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0DEB88F6-FCE7-4FD2-8856-C4D8B03B3EF4}"/>
              </a:ext>
            </a:extLst>
          </p:cNvPr>
          <p:cNvSpPr>
            <a:spLocks noGrp="1"/>
          </p:cNvSpPr>
          <p:nvPr/>
        </p:nvSpPr>
        <p:spPr>
          <a:xfrm>
            <a:off x="9448800" y="2819400"/>
            <a:ext cx="20764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扫描/sdcard资源，建立图片、视频、小说文件列表缓存</a:t>
            </a: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B34280D2-D59D-4592-857F-0FFA9DA85444}"/>
              </a:ext>
            </a:extLst>
          </p:cNvPr>
          <p:cNvSpPr>
            <a:spLocks noGrp="1"/>
          </p:cNvSpPr>
          <p:nvPr/>
        </p:nvSpPr>
        <p:spPr>
          <a:xfrm>
            <a:off x="9239250" y="35147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0741EA2-BAAB-42A2-9080-B6764F363377}"/>
              </a:ext>
            </a:extLst>
          </p:cNvPr>
          <p:cNvSpPr>
            <a:spLocks noGrp="1"/>
          </p:cNvSpPr>
          <p:nvPr/>
        </p:nvSpPr>
        <p:spPr>
          <a:xfrm>
            <a:off x="9448800" y="3429000"/>
            <a:ext cx="20764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图片分块读取解码，减少内存占用</a:t>
            </a:r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CE8C3BC4-1D1B-43B0-A1F3-4B7ED87FC85D}"/>
              </a:ext>
            </a:extLst>
          </p:cNvPr>
          <p:cNvSpPr>
            <a:spLocks noGrp="1"/>
          </p:cNvSpPr>
          <p:nvPr/>
        </p:nvSpPr>
        <p:spPr>
          <a:xfrm>
            <a:off x="9239250" y="41243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6358B7F7-9FC4-4040-832B-D94173C9D046}"/>
              </a:ext>
            </a:extLst>
          </p:cNvPr>
          <p:cNvSpPr>
            <a:spLocks noGrp="1"/>
          </p:cNvSpPr>
          <p:nvPr/>
        </p:nvSpPr>
        <p:spPr>
          <a:xfrm>
            <a:off x="9448800" y="4038600"/>
            <a:ext cx="20764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视频帧和小说翻页通过消息通知显示层刷新</a:t>
            </a:r>
          </a:p>
        </p:txBody>
      </p:sp>
    </p:spTree>
    <p:extLst>
      <p:ext uri="{BB962C8B-B14F-4D97-AF65-F5344CB8AC3E}">
        <p14:creationId xmlns:p14="http://schemas.microsoft.com/office/powerpoint/2010/main" val="1267966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>
            <a:extLst>
              <a:ext uri="{FF2B5EF4-FFF2-40B4-BE49-F238E27FC236}">
                <a16:creationId xmlns:a16="http://schemas.microsoft.com/office/drawing/2014/main" id="{FC59BD0B-5A9B-473D-BC78-CD32BF7CDE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0AF8283C-1B15-4A6B-A461-6CEBA8C8E027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D1DCF40-3303-44CE-A5C4-3B4C303FB1DE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2D8CAF4-3BB2-4AB2-AE3E-604CA1D7DE01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757CE7F-66DA-41CD-BA3A-C47386479C46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A2F5455-EB2A-49CC-A890-B48C1BA87E5B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47FC6C-C418-4EC4-9E43-0F271976FCF8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6332233-E5B4-42BB-9CF1-6E8E9248D2CC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时间同步流程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6C2005-3E9B-4F94-A684-6C952BCF4917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4DCEF6E-E4C1-426D-A152-758256CF493C}"/>
              </a:ext>
            </a:extLst>
          </p:cNvPr>
          <p:cNvSpPr>
            <a:spLocks noGrp="1"/>
          </p:cNvSpPr>
          <p:nvPr/>
        </p:nvSpPr>
        <p:spPr>
          <a:xfrm>
            <a:off x="914400" y="1695450"/>
            <a:ext cx="21907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38548C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3B5E19-5577-4157-86F0-F07B261D607D}"/>
              </a:ext>
            </a:extLst>
          </p:cNvPr>
          <p:cNvSpPr>
            <a:spLocks noGrp="1"/>
          </p:cNvSpPr>
          <p:nvPr/>
        </p:nvSpPr>
        <p:spPr>
          <a:xfrm>
            <a:off x="1009650" y="1800225"/>
            <a:ext cx="2000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系统启动</a:t>
            </a:r>
          </a:p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读取SD3078 RTC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1BE0882-B643-4116-9FBC-67D3D1078B82}"/>
              </a:ext>
            </a:extLst>
          </p:cNvPr>
          <p:cNvSpPr>
            <a:spLocks noGrp="1"/>
          </p:cNvSpPr>
          <p:nvPr/>
        </p:nvSpPr>
        <p:spPr>
          <a:xfrm>
            <a:off x="3886200" y="1695450"/>
            <a:ext cx="21907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2A7C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73B85EC-5BC0-4B9A-826D-9EC66D5129B2}"/>
              </a:ext>
            </a:extLst>
          </p:cNvPr>
          <p:cNvSpPr>
            <a:spLocks noGrp="1"/>
          </p:cNvSpPr>
          <p:nvPr/>
        </p:nvSpPr>
        <p:spPr>
          <a:xfrm>
            <a:off x="3981450" y="1800225"/>
            <a:ext cx="2000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校正ESP32</a:t>
            </a:r>
          </a:p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本地系统时钟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274E69A-977E-452D-BF50-EA5B62072AA1}"/>
              </a:ext>
            </a:extLst>
          </p:cNvPr>
          <p:cNvSpPr>
            <a:spLocks noGrp="1"/>
          </p:cNvSpPr>
          <p:nvPr/>
        </p:nvSpPr>
        <p:spPr>
          <a:xfrm>
            <a:off x="6858000" y="1695450"/>
            <a:ext cx="21907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0A66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3B5BDEB-9238-42E1-9AE2-AA25889385EE}"/>
              </a:ext>
            </a:extLst>
          </p:cNvPr>
          <p:cNvSpPr>
            <a:spLocks noGrp="1"/>
          </p:cNvSpPr>
          <p:nvPr/>
        </p:nvSpPr>
        <p:spPr>
          <a:xfrm>
            <a:off x="6953250" y="1800225"/>
            <a:ext cx="2000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写入时间缓存</a:t>
            </a:r>
          </a:p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供界面读取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B10F435-C13B-4A02-8F83-431D2AD80225}"/>
              </a:ext>
            </a:extLst>
          </p:cNvPr>
          <p:cNvSpPr>
            <a:spLocks noGrp="1"/>
          </p:cNvSpPr>
          <p:nvPr/>
        </p:nvSpPr>
        <p:spPr>
          <a:xfrm>
            <a:off x="3105150" y="1971675"/>
            <a:ext cx="7810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67BB661-DCFB-4735-8B2A-84A1BD27676B}"/>
              </a:ext>
            </a:extLst>
          </p:cNvPr>
          <p:cNvSpPr>
            <a:spLocks noGrp="1"/>
          </p:cNvSpPr>
          <p:nvPr/>
        </p:nvSpPr>
        <p:spPr>
          <a:xfrm>
            <a:off x="3676650" y="1800225"/>
            <a:ext cx="38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B2A625E-3660-4258-BB76-064A0B4A4A72}"/>
              </a:ext>
            </a:extLst>
          </p:cNvPr>
          <p:cNvSpPr>
            <a:spLocks noGrp="1"/>
          </p:cNvSpPr>
          <p:nvPr/>
        </p:nvSpPr>
        <p:spPr>
          <a:xfrm>
            <a:off x="6076950" y="1971675"/>
            <a:ext cx="7810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75F89D3-6841-416C-83A4-760D81550ECE}"/>
              </a:ext>
            </a:extLst>
          </p:cNvPr>
          <p:cNvSpPr>
            <a:spLocks noGrp="1"/>
          </p:cNvSpPr>
          <p:nvPr/>
        </p:nvSpPr>
        <p:spPr>
          <a:xfrm>
            <a:off x="6648450" y="1800225"/>
            <a:ext cx="38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0E72A2A-690D-4B21-A03F-AEA1D7A2F7C0}"/>
              </a:ext>
            </a:extLst>
          </p:cNvPr>
          <p:cNvSpPr>
            <a:spLocks noGrp="1"/>
          </p:cNvSpPr>
          <p:nvPr/>
        </p:nvSpPr>
        <p:spPr>
          <a:xfrm>
            <a:off x="952500" y="3200400"/>
            <a:ext cx="2190750" cy="704850"/>
          </a:xfrm>
          <a:prstGeom prst="rect">
            <a:avLst/>
          </a:prstGeom>
          <a:solidFill>
            <a:srgbClr val="F3F8FD"/>
          </a:solidFill>
          <a:ln w="12383">
            <a:solidFill>
              <a:srgbClr val="38548C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DD8193F-0034-4705-9653-BA1FDB467671}"/>
              </a:ext>
            </a:extLst>
          </p:cNvPr>
          <p:cNvSpPr>
            <a:spLocks noGrp="1"/>
          </p:cNvSpPr>
          <p:nvPr/>
        </p:nvSpPr>
        <p:spPr>
          <a:xfrm>
            <a:off x="1028700" y="3295650"/>
            <a:ext cx="20383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网络校时</a:t>
            </a:r>
          </a:p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SNTP获取标准时间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7566717-76F2-4EE6-87B3-7054F42EB0F8}"/>
              </a:ext>
            </a:extLst>
          </p:cNvPr>
          <p:cNvSpPr>
            <a:spLocks noGrp="1"/>
          </p:cNvSpPr>
          <p:nvPr/>
        </p:nvSpPr>
        <p:spPr>
          <a:xfrm>
            <a:off x="3905250" y="3200400"/>
            <a:ext cx="2190750" cy="704850"/>
          </a:xfrm>
          <a:prstGeom prst="rect">
            <a:avLst/>
          </a:prstGeom>
          <a:solidFill>
            <a:srgbClr val="F3F8FD"/>
          </a:solidFill>
          <a:ln w="12383">
            <a:solidFill>
              <a:srgbClr val="20A66A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202FABA-48A7-4369-A2B9-D5C4CB0362E3}"/>
              </a:ext>
            </a:extLst>
          </p:cNvPr>
          <p:cNvSpPr>
            <a:spLocks noGrp="1"/>
          </p:cNvSpPr>
          <p:nvPr/>
        </p:nvSpPr>
        <p:spPr>
          <a:xfrm>
            <a:off x="3981450" y="3295650"/>
            <a:ext cx="20383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本地守时</a:t>
            </a:r>
          </a:p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RTC定时校准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4478D11-0B77-48FE-9999-7E42BD3777E2}"/>
              </a:ext>
            </a:extLst>
          </p:cNvPr>
          <p:cNvSpPr>
            <a:spLocks noGrp="1"/>
          </p:cNvSpPr>
          <p:nvPr/>
        </p:nvSpPr>
        <p:spPr>
          <a:xfrm>
            <a:off x="6858000" y="3200400"/>
            <a:ext cx="2190750" cy="704850"/>
          </a:xfrm>
          <a:prstGeom prst="rect">
            <a:avLst/>
          </a:prstGeom>
          <a:solidFill>
            <a:srgbClr val="F3F8FD"/>
          </a:solidFill>
          <a:ln w="12383">
            <a:solidFill>
              <a:srgbClr val="F2A21B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38579AC-410C-4D48-9518-6A9328C1E9E1}"/>
              </a:ext>
            </a:extLst>
          </p:cNvPr>
          <p:cNvSpPr>
            <a:spLocks noGrp="1"/>
          </p:cNvSpPr>
          <p:nvPr/>
        </p:nvSpPr>
        <p:spPr>
          <a:xfrm>
            <a:off x="6934200" y="3295650"/>
            <a:ext cx="20383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手动改时</a:t>
            </a:r>
          </a:p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写入系统与RTC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08CC5E1-FFBA-4CA8-9C32-20AADAF07D90}"/>
              </a:ext>
            </a:extLst>
          </p:cNvPr>
          <p:cNvSpPr>
            <a:spLocks noGrp="1"/>
          </p:cNvSpPr>
          <p:nvPr/>
        </p:nvSpPr>
        <p:spPr>
          <a:xfrm>
            <a:off x="7934325" y="2286000"/>
            <a:ext cx="38100" cy="4953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D46D989-1E97-4BBD-B37F-1D581C3489F8}"/>
              </a:ext>
            </a:extLst>
          </p:cNvPr>
          <p:cNvSpPr>
            <a:spLocks noGrp="1"/>
          </p:cNvSpPr>
          <p:nvPr/>
        </p:nvSpPr>
        <p:spPr>
          <a:xfrm>
            <a:off x="7781925" y="25146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346304F-0133-45A8-BCF6-E810F212109E}"/>
              </a:ext>
            </a:extLst>
          </p:cNvPr>
          <p:cNvSpPr>
            <a:spLocks noGrp="1"/>
          </p:cNvSpPr>
          <p:nvPr/>
        </p:nvSpPr>
        <p:spPr>
          <a:xfrm>
            <a:off x="8067675" y="24003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时间来源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25F5C36-BCAF-4BB5-A37E-6256535DC697}"/>
              </a:ext>
            </a:extLst>
          </p:cNvPr>
          <p:cNvSpPr>
            <a:spLocks noGrp="1"/>
          </p:cNvSpPr>
          <p:nvPr/>
        </p:nvSpPr>
        <p:spPr>
          <a:xfrm>
            <a:off x="2047875" y="2781300"/>
            <a:ext cx="5905500" cy="28575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A52CAB8-C08A-4960-A22A-7433BA229C4C}"/>
              </a:ext>
            </a:extLst>
          </p:cNvPr>
          <p:cNvSpPr>
            <a:spLocks noGrp="1"/>
          </p:cNvSpPr>
          <p:nvPr/>
        </p:nvSpPr>
        <p:spPr>
          <a:xfrm>
            <a:off x="2028825" y="2781300"/>
            <a:ext cx="38100" cy="419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EB055BD-73F9-4DD1-80FF-9FBB55E0E761}"/>
              </a:ext>
            </a:extLst>
          </p:cNvPr>
          <p:cNvSpPr>
            <a:spLocks noGrp="1"/>
          </p:cNvSpPr>
          <p:nvPr/>
        </p:nvSpPr>
        <p:spPr>
          <a:xfrm>
            <a:off x="1876425" y="29337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F6EFE3C-3749-4354-B094-B6D9E3509BFC}"/>
              </a:ext>
            </a:extLst>
          </p:cNvPr>
          <p:cNvSpPr>
            <a:spLocks noGrp="1"/>
          </p:cNvSpPr>
          <p:nvPr/>
        </p:nvSpPr>
        <p:spPr>
          <a:xfrm>
            <a:off x="4981575" y="2781300"/>
            <a:ext cx="38100" cy="419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C5D5EFF-6472-47FB-BD83-5D5A9BBDF94C}"/>
              </a:ext>
            </a:extLst>
          </p:cNvPr>
          <p:cNvSpPr>
            <a:spLocks noGrp="1"/>
          </p:cNvSpPr>
          <p:nvPr/>
        </p:nvSpPr>
        <p:spPr>
          <a:xfrm>
            <a:off x="4829175" y="29337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6BB7F7C-449D-40F9-9DA3-8914F32D6AF0}"/>
              </a:ext>
            </a:extLst>
          </p:cNvPr>
          <p:cNvSpPr>
            <a:spLocks noGrp="1"/>
          </p:cNvSpPr>
          <p:nvPr/>
        </p:nvSpPr>
        <p:spPr>
          <a:xfrm>
            <a:off x="7934325" y="2781300"/>
            <a:ext cx="38100" cy="419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CD0B9D3-CAFA-4D66-8F17-203DAEE91453}"/>
              </a:ext>
            </a:extLst>
          </p:cNvPr>
          <p:cNvSpPr>
            <a:spLocks noGrp="1"/>
          </p:cNvSpPr>
          <p:nvPr/>
        </p:nvSpPr>
        <p:spPr>
          <a:xfrm>
            <a:off x="7781925" y="29337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B243261-6F41-4915-BEE1-549BBF683571}"/>
              </a:ext>
            </a:extLst>
          </p:cNvPr>
          <p:cNvSpPr>
            <a:spLocks noGrp="1"/>
          </p:cNvSpPr>
          <p:nvPr/>
        </p:nvSpPr>
        <p:spPr>
          <a:xfrm>
            <a:off x="3105150" y="4781550"/>
            <a:ext cx="3810000" cy="552450"/>
          </a:xfrm>
          <a:prstGeom prst="rect">
            <a:avLst/>
          </a:prstGeom>
          <a:solidFill>
            <a:srgbClr val="EAF7FC"/>
          </a:solidFill>
          <a:ln w="14288">
            <a:solidFill>
              <a:srgbClr val="22A7C8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C6DB11A-1D3A-4B5A-85A2-6229ACF7D433}"/>
              </a:ext>
            </a:extLst>
          </p:cNvPr>
          <p:cNvSpPr>
            <a:spLocks noGrp="1"/>
          </p:cNvSpPr>
          <p:nvPr/>
        </p:nvSpPr>
        <p:spPr>
          <a:xfrm>
            <a:off x="3200400" y="4886325"/>
            <a:ext cx="361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统一刷新LVGL时间显示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16DF879-9D5C-4196-9BD5-D875864BD165}"/>
              </a:ext>
            </a:extLst>
          </p:cNvPr>
          <p:cNvSpPr>
            <a:spLocks noGrp="1"/>
          </p:cNvSpPr>
          <p:nvPr/>
        </p:nvSpPr>
        <p:spPr>
          <a:xfrm>
            <a:off x="2028825" y="3905250"/>
            <a:ext cx="38100" cy="43815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D42F298-1618-404A-B8F0-E08D37E07F0B}"/>
              </a:ext>
            </a:extLst>
          </p:cNvPr>
          <p:cNvSpPr>
            <a:spLocks noGrp="1"/>
          </p:cNvSpPr>
          <p:nvPr/>
        </p:nvSpPr>
        <p:spPr>
          <a:xfrm>
            <a:off x="1876425" y="40767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B09886C-2980-4DF6-9D27-41F954C4517B}"/>
              </a:ext>
            </a:extLst>
          </p:cNvPr>
          <p:cNvSpPr>
            <a:spLocks noGrp="1"/>
          </p:cNvSpPr>
          <p:nvPr/>
        </p:nvSpPr>
        <p:spPr>
          <a:xfrm>
            <a:off x="4981575" y="3905250"/>
            <a:ext cx="38100" cy="43815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6D9F6C2-9F97-4E19-98E5-3100048A8A57}"/>
              </a:ext>
            </a:extLst>
          </p:cNvPr>
          <p:cNvSpPr>
            <a:spLocks noGrp="1"/>
          </p:cNvSpPr>
          <p:nvPr/>
        </p:nvSpPr>
        <p:spPr>
          <a:xfrm>
            <a:off x="4829175" y="40767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79A14FD-D904-492C-A05C-E6C3007B0DDD}"/>
              </a:ext>
            </a:extLst>
          </p:cNvPr>
          <p:cNvSpPr>
            <a:spLocks noGrp="1"/>
          </p:cNvSpPr>
          <p:nvPr/>
        </p:nvSpPr>
        <p:spPr>
          <a:xfrm>
            <a:off x="7934325" y="3905250"/>
            <a:ext cx="38100" cy="43815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2D2F132-4089-4D48-A324-AF0F3C3E5367}"/>
              </a:ext>
            </a:extLst>
          </p:cNvPr>
          <p:cNvSpPr>
            <a:spLocks noGrp="1"/>
          </p:cNvSpPr>
          <p:nvPr/>
        </p:nvSpPr>
        <p:spPr>
          <a:xfrm>
            <a:off x="7781925" y="40767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B28487D-E4A7-4835-9BC6-B3F4493219B0}"/>
              </a:ext>
            </a:extLst>
          </p:cNvPr>
          <p:cNvSpPr>
            <a:spLocks noGrp="1"/>
          </p:cNvSpPr>
          <p:nvPr/>
        </p:nvSpPr>
        <p:spPr>
          <a:xfrm>
            <a:off x="2047875" y="4343400"/>
            <a:ext cx="5905500" cy="28575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51FE8DD-E03B-4FAD-8DDE-33E50C01ECA8}"/>
              </a:ext>
            </a:extLst>
          </p:cNvPr>
          <p:cNvSpPr>
            <a:spLocks noGrp="1"/>
          </p:cNvSpPr>
          <p:nvPr/>
        </p:nvSpPr>
        <p:spPr>
          <a:xfrm>
            <a:off x="4991100" y="4343400"/>
            <a:ext cx="38100" cy="43815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374FB91-04DB-4052-BF47-ADF2076ED88A}"/>
              </a:ext>
            </a:extLst>
          </p:cNvPr>
          <p:cNvSpPr>
            <a:spLocks noGrp="1"/>
          </p:cNvSpPr>
          <p:nvPr/>
        </p:nvSpPr>
        <p:spPr>
          <a:xfrm>
            <a:off x="4838700" y="451485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7EC9019-46FD-4DA9-B91A-0E3B18EBDA8B}"/>
              </a:ext>
            </a:extLst>
          </p:cNvPr>
          <p:cNvSpPr>
            <a:spLocks noGrp="1"/>
          </p:cNvSpPr>
          <p:nvPr/>
        </p:nvSpPr>
        <p:spPr>
          <a:xfrm>
            <a:off x="9391650" y="16573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三条时间来源</a:t>
            </a: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3FA37DB3-1466-495B-A5FC-2A83DC42095B}"/>
              </a:ext>
            </a:extLst>
          </p:cNvPr>
          <p:cNvSpPr>
            <a:spLocks noGrp="1"/>
          </p:cNvSpPr>
          <p:nvPr/>
        </p:nvSpPr>
        <p:spPr>
          <a:xfrm>
            <a:off x="9391650" y="23336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FD48ECB-BD00-41ED-82B0-2A7A2BE1F2AE}"/>
              </a:ext>
            </a:extLst>
          </p:cNvPr>
          <p:cNvSpPr>
            <a:spLocks noGrp="1"/>
          </p:cNvSpPr>
          <p:nvPr/>
        </p:nvSpPr>
        <p:spPr>
          <a:xfrm>
            <a:off x="9601200" y="2247900"/>
            <a:ext cx="19812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上电读取RTC校准系统时钟</a:t>
            </a: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ECEFAD0C-4638-48CA-ADE9-59826937543C}"/>
              </a:ext>
            </a:extLst>
          </p:cNvPr>
          <p:cNvSpPr>
            <a:spLocks noGrp="1"/>
          </p:cNvSpPr>
          <p:nvPr/>
        </p:nvSpPr>
        <p:spPr>
          <a:xfrm>
            <a:off x="9391650" y="292417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27D3CA6F-80B1-4C55-AD28-4715DA292F6B}"/>
              </a:ext>
            </a:extLst>
          </p:cNvPr>
          <p:cNvSpPr>
            <a:spLocks noGrp="1"/>
          </p:cNvSpPr>
          <p:nvPr/>
        </p:nvSpPr>
        <p:spPr>
          <a:xfrm>
            <a:off x="9601200" y="2838450"/>
            <a:ext cx="19812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联网后SNTP校时并写回RTC</a:t>
            </a: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A80324F8-BBCA-4575-8D06-0DA4C4526EFC}"/>
              </a:ext>
            </a:extLst>
          </p:cNvPr>
          <p:cNvSpPr>
            <a:spLocks noGrp="1"/>
          </p:cNvSpPr>
          <p:nvPr/>
        </p:nvSpPr>
        <p:spPr>
          <a:xfrm>
            <a:off x="9391650" y="35147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6A208BC-328C-4F7B-87B8-2EE90795FEDF}"/>
              </a:ext>
            </a:extLst>
          </p:cNvPr>
          <p:cNvSpPr>
            <a:spLocks noGrp="1"/>
          </p:cNvSpPr>
          <p:nvPr/>
        </p:nvSpPr>
        <p:spPr>
          <a:xfrm>
            <a:off x="9601200" y="3429000"/>
            <a:ext cx="19812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无网依靠RTC守时并刷新缓存</a:t>
            </a:r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90F68094-C100-4700-86BC-93B10B158BB1}"/>
              </a:ext>
            </a:extLst>
          </p:cNvPr>
          <p:cNvSpPr>
            <a:spLocks noGrp="1"/>
          </p:cNvSpPr>
          <p:nvPr/>
        </p:nvSpPr>
        <p:spPr>
          <a:xfrm>
            <a:off x="9391650" y="410527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9397BEB2-CF7B-4EE9-979B-1D94A380678B}"/>
              </a:ext>
            </a:extLst>
          </p:cNvPr>
          <p:cNvSpPr>
            <a:spLocks noGrp="1"/>
          </p:cNvSpPr>
          <p:nvPr/>
        </p:nvSpPr>
        <p:spPr>
          <a:xfrm>
            <a:off x="9601200" y="4019550"/>
            <a:ext cx="19812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手动改时同步写入系统与RTC</a:t>
            </a:r>
          </a:p>
        </p:txBody>
      </p:sp>
    </p:spTree>
    <p:extLst>
      <p:ext uri="{BB962C8B-B14F-4D97-AF65-F5344CB8AC3E}">
        <p14:creationId xmlns:p14="http://schemas.microsoft.com/office/powerpoint/2010/main" val="812073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897787E4-2AFA-4939-8685-F1839A379B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CBBB25B0-BAF0-4A19-A137-C569BA57845F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012F1552-6312-4E55-8074-4B2504614D80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84A630-A501-4FB2-B4E0-D86157A2732D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ED958EB-A996-44FF-A295-31FD0079EC41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50EB67-9CF4-48F4-8BCA-D6894DB9B36B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708D13-731B-40EB-AEBD-0E64D676ECC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CBDA4C-A9D1-40DD-9594-AE272EEADCBC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OTA升级流程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2649183-265D-4610-99CA-8D6AE22044BF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FFAF2B4-86AB-42E7-9725-E7CACF210940}"/>
              </a:ext>
            </a:extLst>
          </p:cNvPr>
          <p:cNvSpPr>
            <a:spLocks noGrp="1"/>
          </p:cNvSpPr>
          <p:nvPr/>
        </p:nvSpPr>
        <p:spPr>
          <a:xfrm>
            <a:off x="762000" y="1695450"/>
            <a:ext cx="20002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38548C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57B838-5FB4-4F06-A365-22A8373E2BC0}"/>
              </a:ext>
            </a:extLst>
          </p:cNvPr>
          <p:cNvSpPr>
            <a:spLocks noGrp="1"/>
          </p:cNvSpPr>
          <p:nvPr/>
        </p:nvSpPr>
        <p:spPr>
          <a:xfrm>
            <a:off x="857250" y="1800225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进入OTA模块</a:t>
            </a:r>
          </a:p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读取分区信息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0184382-A6CA-486A-8088-1B186F61CB93}"/>
              </a:ext>
            </a:extLst>
          </p:cNvPr>
          <p:cNvSpPr>
            <a:spLocks noGrp="1"/>
          </p:cNvSpPr>
          <p:nvPr/>
        </p:nvSpPr>
        <p:spPr>
          <a:xfrm>
            <a:off x="3429000" y="1695450"/>
            <a:ext cx="20002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2A7C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D23A4F3-5A41-460D-904A-FC73A6493569}"/>
              </a:ext>
            </a:extLst>
          </p:cNvPr>
          <p:cNvSpPr>
            <a:spLocks noGrp="1"/>
          </p:cNvSpPr>
          <p:nvPr/>
        </p:nvSpPr>
        <p:spPr>
          <a:xfrm>
            <a:off x="3524250" y="1800225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选择升级方式</a:t>
            </a:r>
          </a:p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云端或本地SD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4B11F3E-723B-4FF2-9390-2324F940141F}"/>
              </a:ext>
            </a:extLst>
          </p:cNvPr>
          <p:cNvSpPr>
            <a:spLocks noGrp="1"/>
          </p:cNvSpPr>
          <p:nvPr/>
        </p:nvSpPr>
        <p:spPr>
          <a:xfrm>
            <a:off x="2762250" y="1971675"/>
            <a:ext cx="6667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0D8B4A8-86EE-4F8A-8E89-7252233C108A}"/>
              </a:ext>
            </a:extLst>
          </p:cNvPr>
          <p:cNvSpPr>
            <a:spLocks noGrp="1"/>
          </p:cNvSpPr>
          <p:nvPr/>
        </p:nvSpPr>
        <p:spPr>
          <a:xfrm>
            <a:off x="3219450" y="1800225"/>
            <a:ext cx="38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8D9B9CD-5F27-44A1-BE70-817BC076D23E}"/>
              </a:ext>
            </a:extLst>
          </p:cNvPr>
          <p:cNvSpPr>
            <a:spLocks noGrp="1"/>
          </p:cNvSpPr>
          <p:nvPr/>
        </p:nvSpPr>
        <p:spPr>
          <a:xfrm>
            <a:off x="1809750" y="3162300"/>
            <a:ext cx="2190750" cy="742950"/>
          </a:xfrm>
          <a:prstGeom prst="rect">
            <a:avLst/>
          </a:prstGeom>
          <a:solidFill>
            <a:srgbClr val="F3F8FD"/>
          </a:solidFill>
          <a:ln w="12383">
            <a:solidFill>
              <a:srgbClr val="38548C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273741C-DD28-42F7-9C79-209C20A5F219}"/>
              </a:ext>
            </a:extLst>
          </p:cNvPr>
          <p:cNvSpPr>
            <a:spLocks noGrp="1"/>
          </p:cNvSpPr>
          <p:nvPr/>
        </p:nvSpPr>
        <p:spPr>
          <a:xfrm>
            <a:off x="1885950" y="3257550"/>
            <a:ext cx="20383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云端OTA</a:t>
            </a:r>
          </a:p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连接平台并下载镜像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199974-A64C-4C5A-8B7E-1D7E1AE3AFCA}"/>
              </a:ext>
            </a:extLst>
          </p:cNvPr>
          <p:cNvSpPr>
            <a:spLocks noGrp="1"/>
          </p:cNvSpPr>
          <p:nvPr/>
        </p:nvSpPr>
        <p:spPr>
          <a:xfrm>
            <a:off x="5048250" y="3162300"/>
            <a:ext cx="2190750" cy="742950"/>
          </a:xfrm>
          <a:prstGeom prst="rect">
            <a:avLst/>
          </a:prstGeom>
          <a:solidFill>
            <a:srgbClr val="F3F8FD"/>
          </a:solidFill>
          <a:ln w="12383">
            <a:solidFill>
              <a:srgbClr val="20A66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4FE5D0E-A502-4CDF-A3D3-3192C639EDAA}"/>
              </a:ext>
            </a:extLst>
          </p:cNvPr>
          <p:cNvSpPr>
            <a:spLocks noGrp="1"/>
          </p:cNvSpPr>
          <p:nvPr/>
        </p:nvSpPr>
        <p:spPr>
          <a:xfrm>
            <a:off x="5124450" y="3257550"/>
            <a:ext cx="20383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本地OTA</a:t>
            </a:r>
          </a:p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扫描SD卡.bin文件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F9596CF-71EA-4C2D-9695-82C5EEA70AD3}"/>
              </a:ext>
            </a:extLst>
          </p:cNvPr>
          <p:cNvSpPr>
            <a:spLocks noGrp="1"/>
          </p:cNvSpPr>
          <p:nvPr/>
        </p:nvSpPr>
        <p:spPr>
          <a:xfrm>
            <a:off x="4410075" y="2286000"/>
            <a:ext cx="38100" cy="4572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BECD90-546F-4775-8697-7C3ED1B190D1}"/>
              </a:ext>
            </a:extLst>
          </p:cNvPr>
          <p:cNvSpPr>
            <a:spLocks noGrp="1"/>
          </p:cNvSpPr>
          <p:nvPr/>
        </p:nvSpPr>
        <p:spPr>
          <a:xfrm>
            <a:off x="4257675" y="24765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2DC2907-6991-46FD-8846-18AED66E83BD}"/>
              </a:ext>
            </a:extLst>
          </p:cNvPr>
          <p:cNvSpPr>
            <a:spLocks noGrp="1"/>
          </p:cNvSpPr>
          <p:nvPr/>
        </p:nvSpPr>
        <p:spPr>
          <a:xfrm>
            <a:off x="4543425" y="24003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分流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94BFCA4-3FFA-4351-AC6F-6CC11D9B146C}"/>
              </a:ext>
            </a:extLst>
          </p:cNvPr>
          <p:cNvSpPr>
            <a:spLocks noGrp="1"/>
          </p:cNvSpPr>
          <p:nvPr/>
        </p:nvSpPr>
        <p:spPr>
          <a:xfrm>
            <a:off x="2905125" y="2743200"/>
            <a:ext cx="3238500" cy="28575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A28C2C0-77B0-4FEB-B48C-C9D872021CA4}"/>
              </a:ext>
            </a:extLst>
          </p:cNvPr>
          <p:cNvSpPr>
            <a:spLocks noGrp="1"/>
          </p:cNvSpPr>
          <p:nvPr/>
        </p:nvSpPr>
        <p:spPr>
          <a:xfrm>
            <a:off x="2886075" y="2743200"/>
            <a:ext cx="38100" cy="419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7BED15C-1D95-4C59-991B-D4D19D08469A}"/>
              </a:ext>
            </a:extLst>
          </p:cNvPr>
          <p:cNvSpPr>
            <a:spLocks noGrp="1"/>
          </p:cNvSpPr>
          <p:nvPr/>
        </p:nvSpPr>
        <p:spPr>
          <a:xfrm>
            <a:off x="2733675" y="28956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E25E890-CCD0-4727-AD36-35F17CBA436F}"/>
              </a:ext>
            </a:extLst>
          </p:cNvPr>
          <p:cNvSpPr>
            <a:spLocks noGrp="1"/>
          </p:cNvSpPr>
          <p:nvPr/>
        </p:nvSpPr>
        <p:spPr>
          <a:xfrm>
            <a:off x="6124575" y="2743200"/>
            <a:ext cx="38100" cy="419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2CF3498-35E7-4A11-A879-A1DD14AC5CEA}"/>
              </a:ext>
            </a:extLst>
          </p:cNvPr>
          <p:cNvSpPr>
            <a:spLocks noGrp="1"/>
          </p:cNvSpPr>
          <p:nvPr/>
        </p:nvSpPr>
        <p:spPr>
          <a:xfrm>
            <a:off x="5972175" y="28956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1DFB9F2-A418-42AB-98F1-ADEE7FC6BEDD}"/>
              </a:ext>
            </a:extLst>
          </p:cNvPr>
          <p:cNvSpPr>
            <a:spLocks noGrp="1"/>
          </p:cNvSpPr>
          <p:nvPr/>
        </p:nvSpPr>
        <p:spPr>
          <a:xfrm>
            <a:off x="3429000" y="4686300"/>
            <a:ext cx="2190750" cy="552450"/>
          </a:xfrm>
          <a:prstGeom prst="rect">
            <a:avLst/>
          </a:prstGeom>
          <a:solidFill>
            <a:srgbClr val="FFF7EA"/>
          </a:solidFill>
          <a:ln w="14288">
            <a:solidFill>
              <a:srgbClr val="F2A21B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E029639-2D13-4233-928D-F1C3E569010B}"/>
              </a:ext>
            </a:extLst>
          </p:cNvPr>
          <p:cNvSpPr>
            <a:spLocks noGrp="1"/>
          </p:cNvSpPr>
          <p:nvPr/>
        </p:nvSpPr>
        <p:spPr>
          <a:xfrm>
            <a:off x="3524250" y="4791075"/>
            <a:ext cx="2000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写入备份分区</a:t>
            </a:r>
          </a:p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并校验镜像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D3FF72D-14A8-4DD7-B856-53EC08BEC1DA}"/>
              </a:ext>
            </a:extLst>
          </p:cNvPr>
          <p:cNvSpPr>
            <a:spLocks noGrp="1"/>
          </p:cNvSpPr>
          <p:nvPr/>
        </p:nvSpPr>
        <p:spPr>
          <a:xfrm>
            <a:off x="6477000" y="4686300"/>
            <a:ext cx="2190750" cy="552450"/>
          </a:xfrm>
          <a:prstGeom prst="rect">
            <a:avLst/>
          </a:prstGeom>
          <a:solidFill>
            <a:srgbClr val="FFF2F2"/>
          </a:solidFill>
          <a:ln w="14288">
            <a:solidFill>
              <a:srgbClr val="E35D5B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B9B0AA2-3FBC-4A85-B270-58600B4ECA58}"/>
              </a:ext>
            </a:extLst>
          </p:cNvPr>
          <p:cNvSpPr>
            <a:spLocks noGrp="1"/>
          </p:cNvSpPr>
          <p:nvPr/>
        </p:nvSpPr>
        <p:spPr>
          <a:xfrm>
            <a:off x="6572250" y="4791075"/>
            <a:ext cx="2000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重启或点击跳转</a:t>
            </a:r>
          </a:p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异常则回滚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AB34B72-DAA6-45E5-831C-5D6CFD0CE4C1}"/>
              </a:ext>
            </a:extLst>
          </p:cNvPr>
          <p:cNvSpPr>
            <a:spLocks noGrp="1"/>
          </p:cNvSpPr>
          <p:nvPr/>
        </p:nvSpPr>
        <p:spPr>
          <a:xfrm>
            <a:off x="2886075" y="3905250"/>
            <a:ext cx="38100" cy="419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8E2CA0C-5DC7-4159-A663-5C8AF9806CC4}"/>
              </a:ext>
            </a:extLst>
          </p:cNvPr>
          <p:cNvSpPr>
            <a:spLocks noGrp="1"/>
          </p:cNvSpPr>
          <p:nvPr/>
        </p:nvSpPr>
        <p:spPr>
          <a:xfrm>
            <a:off x="2733675" y="405765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FB7AF80-C593-42DA-B697-A8AA55C78F28}"/>
              </a:ext>
            </a:extLst>
          </p:cNvPr>
          <p:cNvSpPr>
            <a:spLocks noGrp="1"/>
          </p:cNvSpPr>
          <p:nvPr/>
        </p:nvSpPr>
        <p:spPr>
          <a:xfrm>
            <a:off x="6124575" y="3905250"/>
            <a:ext cx="38100" cy="419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00B872A-2ED7-4B79-AE96-30E4B55BFC5D}"/>
              </a:ext>
            </a:extLst>
          </p:cNvPr>
          <p:cNvSpPr>
            <a:spLocks noGrp="1"/>
          </p:cNvSpPr>
          <p:nvPr/>
        </p:nvSpPr>
        <p:spPr>
          <a:xfrm>
            <a:off x="5972175" y="405765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2AF5E10-DE6F-4995-9564-E601EAE230FB}"/>
              </a:ext>
            </a:extLst>
          </p:cNvPr>
          <p:cNvSpPr>
            <a:spLocks noGrp="1"/>
          </p:cNvSpPr>
          <p:nvPr/>
        </p:nvSpPr>
        <p:spPr>
          <a:xfrm>
            <a:off x="2905125" y="4324350"/>
            <a:ext cx="3238500" cy="28575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46DB1AA-BF7D-4108-AE82-2A9F6DCA7A4A}"/>
              </a:ext>
            </a:extLst>
          </p:cNvPr>
          <p:cNvSpPr>
            <a:spLocks noGrp="1"/>
          </p:cNvSpPr>
          <p:nvPr/>
        </p:nvSpPr>
        <p:spPr>
          <a:xfrm>
            <a:off x="4505325" y="4324350"/>
            <a:ext cx="38100" cy="36195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FE48D12-931C-43DE-B82A-76597F7DA1DD}"/>
              </a:ext>
            </a:extLst>
          </p:cNvPr>
          <p:cNvSpPr>
            <a:spLocks noGrp="1"/>
          </p:cNvSpPr>
          <p:nvPr/>
        </p:nvSpPr>
        <p:spPr>
          <a:xfrm>
            <a:off x="4352925" y="44196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2049536-E72F-4BE8-9868-D4E451B45DCB}"/>
              </a:ext>
            </a:extLst>
          </p:cNvPr>
          <p:cNvSpPr>
            <a:spLocks noGrp="1"/>
          </p:cNvSpPr>
          <p:nvPr/>
        </p:nvSpPr>
        <p:spPr>
          <a:xfrm>
            <a:off x="5619750" y="4943475"/>
            <a:ext cx="857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A967CDE-894E-4319-8BC8-F6D23A349074}"/>
              </a:ext>
            </a:extLst>
          </p:cNvPr>
          <p:cNvSpPr>
            <a:spLocks noGrp="1"/>
          </p:cNvSpPr>
          <p:nvPr/>
        </p:nvSpPr>
        <p:spPr>
          <a:xfrm>
            <a:off x="6267450" y="4772025"/>
            <a:ext cx="38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84439C2-AC1D-4CB7-A8F6-39D2D3583D8D}"/>
              </a:ext>
            </a:extLst>
          </p:cNvPr>
          <p:cNvSpPr>
            <a:spLocks noGrp="1"/>
          </p:cNvSpPr>
          <p:nvPr/>
        </p:nvSpPr>
        <p:spPr>
          <a:xfrm>
            <a:off x="9239250" y="1657350"/>
            <a:ext cx="1905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升级策略</a:t>
            </a: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FCD81AA0-8D14-4C78-90DC-381E8D18EE14}"/>
              </a:ext>
            </a:extLst>
          </p:cNvPr>
          <p:cNvSpPr>
            <a:spLocks noGrp="1"/>
          </p:cNvSpPr>
          <p:nvPr/>
        </p:nvSpPr>
        <p:spPr>
          <a:xfrm>
            <a:off x="9239250" y="23336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52F6315-CFC1-47D0-AD88-DDFF5D2D6E9D}"/>
              </a:ext>
            </a:extLst>
          </p:cNvPr>
          <p:cNvSpPr>
            <a:spLocks noGrp="1"/>
          </p:cNvSpPr>
          <p:nvPr/>
        </p:nvSpPr>
        <p:spPr>
          <a:xfrm>
            <a:off x="9448800" y="2247900"/>
            <a:ext cx="20764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支持云端OTA与本地SD卡OTA两条路径</a:t>
            </a: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092B20BF-8D58-4DAF-9BF3-88A4FB28FF20}"/>
              </a:ext>
            </a:extLst>
          </p:cNvPr>
          <p:cNvSpPr>
            <a:spLocks noGrp="1"/>
          </p:cNvSpPr>
          <p:nvPr/>
        </p:nvSpPr>
        <p:spPr>
          <a:xfrm>
            <a:off x="9239250" y="29432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350A119-D175-4460-AD5B-F4D326A4010B}"/>
              </a:ext>
            </a:extLst>
          </p:cNvPr>
          <p:cNvSpPr>
            <a:spLocks noGrp="1"/>
          </p:cNvSpPr>
          <p:nvPr/>
        </p:nvSpPr>
        <p:spPr>
          <a:xfrm>
            <a:off x="9448800" y="2857500"/>
            <a:ext cx="20764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读取当前运行分区，写入备份分区并进行校验</a:t>
            </a: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59C8F48E-EF79-47AF-8989-7041E32F5271}"/>
              </a:ext>
            </a:extLst>
          </p:cNvPr>
          <p:cNvSpPr>
            <a:spLocks noGrp="1"/>
          </p:cNvSpPr>
          <p:nvPr/>
        </p:nvSpPr>
        <p:spPr>
          <a:xfrm>
            <a:off x="9239250" y="35528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89D5D19-2133-425B-819A-2373D8733A00}"/>
              </a:ext>
            </a:extLst>
          </p:cNvPr>
          <p:cNvSpPr>
            <a:spLocks noGrp="1"/>
          </p:cNvSpPr>
          <p:nvPr/>
        </p:nvSpPr>
        <p:spPr>
          <a:xfrm>
            <a:off x="9448800" y="3467100"/>
            <a:ext cx="20764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升级完成后重启或点击跳转按钮进入新固件</a:t>
            </a: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0C888A39-4570-459B-BE91-865C96CDAACC}"/>
              </a:ext>
            </a:extLst>
          </p:cNvPr>
          <p:cNvSpPr>
            <a:spLocks noGrp="1"/>
          </p:cNvSpPr>
          <p:nvPr/>
        </p:nvSpPr>
        <p:spPr>
          <a:xfrm>
            <a:off x="9239250" y="41624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9A249CB-2EC3-4E72-8DF8-4AC4E3FB80A5}"/>
              </a:ext>
            </a:extLst>
          </p:cNvPr>
          <p:cNvSpPr>
            <a:spLocks noGrp="1"/>
          </p:cNvSpPr>
          <p:nvPr/>
        </p:nvSpPr>
        <p:spPr>
          <a:xfrm>
            <a:off x="9448800" y="4076700"/>
            <a:ext cx="20764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若新固件启动异常，则回滚到上一可用分区</a:t>
            </a:r>
          </a:p>
        </p:txBody>
      </p:sp>
    </p:spTree>
    <p:extLst>
      <p:ext uri="{BB962C8B-B14F-4D97-AF65-F5344CB8AC3E}">
        <p14:creationId xmlns:p14="http://schemas.microsoft.com/office/powerpoint/2010/main" val="1489476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8CABB3FE-9104-45D5-99C1-077D56001D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43022C02-6E66-4139-B001-9B7A19E36863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6EC7B69F-6F21-449A-92B3-F6556DA5166F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1438791-C181-4F9D-A768-EAE5A6DBA599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3DE64B-87EE-4752-BB56-08E04548752E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41DE380-7016-4ADC-BDDB-89858B310C92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E7B7098-CEE9-4199-B550-F364D718BA00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F5728AB-988E-41C3-8391-5B9EA0C9B56C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低功耗流程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FFF75A0-F02E-4DF0-8DB7-17AF412ECB0D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BB75C60-4F97-494D-BC3E-7C2E1D83F9F4}"/>
              </a:ext>
            </a:extLst>
          </p:cNvPr>
          <p:cNvSpPr>
            <a:spLocks noGrp="1"/>
          </p:cNvSpPr>
          <p:nvPr/>
        </p:nvSpPr>
        <p:spPr>
          <a:xfrm>
            <a:off x="952500" y="1733550"/>
            <a:ext cx="21907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38548C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F3F4DDA-121D-48F8-A52B-5DB0F1289E51}"/>
              </a:ext>
            </a:extLst>
          </p:cNvPr>
          <p:cNvSpPr>
            <a:spLocks noGrp="1"/>
          </p:cNvSpPr>
          <p:nvPr/>
        </p:nvSpPr>
        <p:spPr>
          <a:xfrm>
            <a:off x="1047750" y="1838325"/>
            <a:ext cx="2000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系统正常运行</a:t>
            </a:r>
          </a:p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记录最后操作时间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3217C26-39B9-4D9A-8EB5-6108C9DFBEDE}"/>
              </a:ext>
            </a:extLst>
          </p:cNvPr>
          <p:cNvSpPr>
            <a:spLocks noGrp="1"/>
          </p:cNvSpPr>
          <p:nvPr/>
        </p:nvSpPr>
        <p:spPr>
          <a:xfrm>
            <a:off x="3924300" y="1733550"/>
            <a:ext cx="21907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2A7C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BD1E371-2140-4354-83A3-8F7DBE486869}"/>
              </a:ext>
            </a:extLst>
          </p:cNvPr>
          <p:cNvSpPr>
            <a:spLocks noGrp="1"/>
          </p:cNvSpPr>
          <p:nvPr/>
        </p:nvSpPr>
        <p:spPr>
          <a:xfrm>
            <a:off x="4019550" y="1838325"/>
            <a:ext cx="2000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周期检测</a:t>
            </a:r>
          </a:p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空闲与长按状态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95DC8E1-F504-4C16-8760-B8FD8453B91B}"/>
              </a:ext>
            </a:extLst>
          </p:cNvPr>
          <p:cNvSpPr>
            <a:spLocks noGrp="1"/>
          </p:cNvSpPr>
          <p:nvPr/>
        </p:nvSpPr>
        <p:spPr>
          <a:xfrm>
            <a:off x="3143250" y="2009775"/>
            <a:ext cx="7810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4C075E4-C6A7-4207-B5C3-B3F30F264146}"/>
              </a:ext>
            </a:extLst>
          </p:cNvPr>
          <p:cNvSpPr>
            <a:spLocks noGrp="1"/>
          </p:cNvSpPr>
          <p:nvPr/>
        </p:nvSpPr>
        <p:spPr>
          <a:xfrm>
            <a:off x="3714750" y="1838325"/>
            <a:ext cx="38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21FFC99-ADDB-4721-98A2-850592D8DD61}"/>
              </a:ext>
            </a:extLst>
          </p:cNvPr>
          <p:cNvSpPr>
            <a:spLocks noGrp="1"/>
          </p:cNvSpPr>
          <p:nvPr/>
        </p:nvSpPr>
        <p:spPr>
          <a:xfrm>
            <a:off x="1504950" y="3314700"/>
            <a:ext cx="2381250" cy="800100"/>
          </a:xfrm>
          <a:prstGeom prst="rect">
            <a:avLst/>
          </a:prstGeom>
          <a:solidFill>
            <a:srgbClr val="F3F8FD"/>
          </a:solidFill>
          <a:ln w="12383">
            <a:solidFill>
              <a:srgbClr val="20A66A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5910421-B73C-4766-8D29-4EE488C1136A}"/>
              </a:ext>
            </a:extLst>
          </p:cNvPr>
          <p:cNvSpPr>
            <a:spLocks noGrp="1"/>
          </p:cNvSpPr>
          <p:nvPr/>
        </p:nvSpPr>
        <p:spPr>
          <a:xfrm>
            <a:off x="1581150" y="3409950"/>
            <a:ext cx="22288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约120秒无操作</a:t>
            </a:r>
          </a:p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进入LightSleep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B399585-0773-4A74-B26C-860A2254041C}"/>
              </a:ext>
            </a:extLst>
          </p:cNvPr>
          <p:cNvSpPr>
            <a:spLocks noGrp="1"/>
          </p:cNvSpPr>
          <p:nvPr/>
        </p:nvSpPr>
        <p:spPr>
          <a:xfrm>
            <a:off x="5657850" y="3314700"/>
            <a:ext cx="2381250" cy="800100"/>
          </a:xfrm>
          <a:prstGeom prst="rect">
            <a:avLst/>
          </a:prstGeom>
          <a:solidFill>
            <a:srgbClr val="F3F8FD"/>
          </a:solidFill>
          <a:ln w="12383">
            <a:solidFill>
              <a:srgbClr val="F2A21B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93FE3BB-8B24-4E59-A6EA-A4ADF50939B7}"/>
              </a:ext>
            </a:extLst>
          </p:cNvPr>
          <p:cNvSpPr>
            <a:spLocks noGrp="1"/>
          </p:cNvSpPr>
          <p:nvPr/>
        </p:nvSpPr>
        <p:spPr>
          <a:xfrm>
            <a:off x="5734050" y="3409950"/>
            <a:ext cx="22288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长按确认键约3秒</a:t>
            </a:r>
          </a:p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进入DeepSleep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009D603-935A-472B-AFBC-45C3C1B43BD4}"/>
              </a:ext>
            </a:extLst>
          </p:cNvPr>
          <p:cNvSpPr>
            <a:spLocks noGrp="1"/>
          </p:cNvSpPr>
          <p:nvPr/>
        </p:nvSpPr>
        <p:spPr>
          <a:xfrm>
            <a:off x="5000625" y="2324100"/>
            <a:ext cx="38100" cy="5334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A19A8BF-77CC-4597-AB1E-01775F3CB2F3}"/>
              </a:ext>
            </a:extLst>
          </p:cNvPr>
          <p:cNvSpPr>
            <a:spLocks noGrp="1"/>
          </p:cNvSpPr>
          <p:nvPr/>
        </p:nvSpPr>
        <p:spPr>
          <a:xfrm>
            <a:off x="4848225" y="25908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B1B6E3B-82BC-462C-86B8-59D7E612A9DE}"/>
              </a:ext>
            </a:extLst>
          </p:cNvPr>
          <p:cNvSpPr>
            <a:spLocks noGrp="1"/>
          </p:cNvSpPr>
          <p:nvPr/>
        </p:nvSpPr>
        <p:spPr>
          <a:xfrm>
            <a:off x="5133975" y="24384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判断触发条件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50B38BD-51A3-466B-B12C-AF1C6FB739B1}"/>
              </a:ext>
            </a:extLst>
          </p:cNvPr>
          <p:cNvSpPr>
            <a:spLocks noGrp="1"/>
          </p:cNvSpPr>
          <p:nvPr/>
        </p:nvSpPr>
        <p:spPr>
          <a:xfrm>
            <a:off x="2695575" y="2857500"/>
            <a:ext cx="4152900" cy="28575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C998A69-DE88-4ECF-9AAE-50A3EE974CE1}"/>
              </a:ext>
            </a:extLst>
          </p:cNvPr>
          <p:cNvSpPr>
            <a:spLocks noGrp="1"/>
          </p:cNvSpPr>
          <p:nvPr/>
        </p:nvSpPr>
        <p:spPr>
          <a:xfrm>
            <a:off x="2676525" y="2857500"/>
            <a:ext cx="38100" cy="4572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626D248-5271-40E6-A36A-B3AE4DA340AA}"/>
              </a:ext>
            </a:extLst>
          </p:cNvPr>
          <p:cNvSpPr>
            <a:spLocks noGrp="1"/>
          </p:cNvSpPr>
          <p:nvPr/>
        </p:nvSpPr>
        <p:spPr>
          <a:xfrm>
            <a:off x="2524125" y="30480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57480A3-AE36-4059-813F-ACBCBB84DF17}"/>
              </a:ext>
            </a:extLst>
          </p:cNvPr>
          <p:cNvSpPr>
            <a:spLocks noGrp="1"/>
          </p:cNvSpPr>
          <p:nvPr/>
        </p:nvSpPr>
        <p:spPr>
          <a:xfrm>
            <a:off x="6829425" y="2857500"/>
            <a:ext cx="38100" cy="4572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ED9CE3B-7E19-4D2C-ACFB-8406E8B9BE09}"/>
              </a:ext>
            </a:extLst>
          </p:cNvPr>
          <p:cNvSpPr>
            <a:spLocks noGrp="1"/>
          </p:cNvSpPr>
          <p:nvPr/>
        </p:nvSpPr>
        <p:spPr>
          <a:xfrm>
            <a:off x="6677025" y="30480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5599C95-9E23-43D2-8964-44D5C1DDD246}"/>
              </a:ext>
            </a:extLst>
          </p:cNvPr>
          <p:cNvSpPr>
            <a:spLocks noGrp="1"/>
          </p:cNvSpPr>
          <p:nvPr/>
        </p:nvSpPr>
        <p:spPr>
          <a:xfrm>
            <a:off x="1504950" y="4895850"/>
            <a:ext cx="2381250" cy="552450"/>
          </a:xfrm>
          <a:prstGeom prst="rect">
            <a:avLst/>
          </a:prstGeom>
          <a:solidFill>
            <a:srgbClr val="F0FBF5"/>
          </a:solidFill>
          <a:ln w="14288">
            <a:solidFill>
              <a:srgbClr val="20A66A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8EB019A-1B66-4F15-9C81-76C6CA486F28}"/>
              </a:ext>
            </a:extLst>
          </p:cNvPr>
          <p:cNvSpPr>
            <a:spLocks noGrp="1"/>
          </p:cNvSpPr>
          <p:nvPr/>
        </p:nvSpPr>
        <p:spPr>
          <a:xfrm>
            <a:off x="1600200" y="5000625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触摸/按键唤醒</a:t>
            </a:r>
          </a:p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快速恢复界面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E803E95-A56D-4B78-9CBF-F37E95EB5363}"/>
              </a:ext>
            </a:extLst>
          </p:cNvPr>
          <p:cNvSpPr>
            <a:spLocks noGrp="1"/>
          </p:cNvSpPr>
          <p:nvPr/>
        </p:nvSpPr>
        <p:spPr>
          <a:xfrm>
            <a:off x="5657850" y="4895850"/>
            <a:ext cx="2381250" cy="552450"/>
          </a:xfrm>
          <a:prstGeom prst="rect">
            <a:avLst/>
          </a:prstGeom>
          <a:solidFill>
            <a:srgbClr val="FFF7EA"/>
          </a:solidFill>
          <a:ln w="14288">
            <a:solidFill>
              <a:srgbClr val="F2A21B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E82D0D6-EBB6-46A5-BFEC-171F80E64898}"/>
              </a:ext>
            </a:extLst>
          </p:cNvPr>
          <p:cNvSpPr>
            <a:spLocks noGrp="1"/>
          </p:cNvSpPr>
          <p:nvPr/>
        </p:nvSpPr>
        <p:spPr>
          <a:xfrm>
            <a:off x="5753100" y="5000625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实体键唤醒</a:t>
            </a:r>
          </a:p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重新启动系统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03E6EA7-AF12-4944-8C8A-25B1E4F2FF11}"/>
              </a:ext>
            </a:extLst>
          </p:cNvPr>
          <p:cNvSpPr>
            <a:spLocks noGrp="1"/>
          </p:cNvSpPr>
          <p:nvPr/>
        </p:nvSpPr>
        <p:spPr>
          <a:xfrm>
            <a:off x="2676525" y="4114800"/>
            <a:ext cx="38100" cy="78105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C49156D-EBBD-4A6F-AE16-3550EB94E162}"/>
              </a:ext>
            </a:extLst>
          </p:cNvPr>
          <p:cNvSpPr>
            <a:spLocks noGrp="1"/>
          </p:cNvSpPr>
          <p:nvPr/>
        </p:nvSpPr>
        <p:spPr>
          <a:xfrm>
            <a:off x="2524125" y="462915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3E8CE43-97F5-427F-8298-55951273CC89}"/>
              </a:ext>
            </a:extLst>
          </p:cNvPr>
          <p:cNvSpPr>
            <a:spLocks noGrp="1"/>
          </p:cNvSpPr>
          <p:nvPr/>
        </p:nvSpPr>
        <p:spPr>
          <a:xfrm>
            <a:off x="6829425" y="4114800"/>
            <a:ext cx="38100" cy="78105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979811B-FCFD-4C6C-B04A-D2E5738D1189}"/>
              </a:ext>
            </a:extLst>
          </p:cNvPr>
          <p:cNvSpPr>
            <a:spLocks noGrp="1"/>
          </p:cNvSpPr>
          <p:nvPr/>
        </p:nvSpPr>
        <p:spPr>
          <a:xfrm>
            <a:off x="6677025" y="462915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94D9C80-3651-4DF6-BE4A-BCC4B1FEB7C4}"/>
              </a:ext>
            </a:extLst>
          </p:cNvPr>
          <p:cNvSpPr>
            <a:spLocks noGrp="1"/>
          </p:cNvSpPr>
          <p:nvPr/>
        </p:nvSpPr>
        <p:spPr>
          <a:xfrm>
            <a:off x="9239250" y="1657350"/>
            <a:ext cx="1905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双级休眠</a:t>
            </a: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1193EAAD-F77F-4101-85FA-45F88AC2C852}"/>
              </a:ext>
            </a:extLst>
          </p:cNvPr>
          <p:cNvSpPr>
            <a:spLocks noGrp="1"/>
          </p:cNvSpPr>
          <p:nvPr/>
        </p:nvSpPr>
        <p:spPr>
          <a:xfrm>
            <a:off x="9239250" y="24098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808C29E-5B11-43D5-822D-6609B828882F}"/>
              </a:ext>
            </a:extLst>
          </p:cNvPr>
          <p:cNvSpPr>
            <a:spLocks noGrp="1"/>
          </p:cNvSpPr>
          <p:nvPr/>
        </p:nvSpPr>
        <p:spPr>
          <a:xfrm>
            <a:off x="9448800" y="2324100"/>
            <a:ext cx="20764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120秒无操作：进入轻休眠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7BE6D565-6DDE-421A-AD70-B72F874DFF63}"/>
              </a:ext>
            </a:extLst>
          </p:cNvPr>
          <p:cNvSpPr>
            <a:spLocks noGrp="1"/>
          </p:cNvSpPr>
          <p:nvPr/>
        </p:nvSpPr>
        <p:spPr>
          <a:xfrm>
            <a:off x="9239250" y="322897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61F1B07-427F-46EB-9C23-9D416386D429}"/>
              </a:ext>
            </a:extLst>
          </p:cNvPr>
          <p:cNvSpPr>
            <a:spLocks noGrp="1"/>
          </p:cNvSpPr>
          <p:nvPr/>
        </p:nvSpPr>
        <p:spPr>
          <a:xfrm>
            <a:off x="9448800" y="3143250"/>
            <a:ext cx="20764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长按确认键3秒：进入深休眠</a:t>
            </a: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C2BF263D-3E58-4C2F-849E-95BA2AD80362}"/>
              </a:ext>
            </a:extLst>
          </p:cNvPr>
          <p:cNvSpPr>
            <a:spLocks noGrp="1"/>
          </p:cNvSpPr>
          <p:nvPr/>
        </p:nvSpPr>
        <p:spPr>
          <a:xfrm>
            <a:off x="9239250" y="40481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D940E87-A005-430D-A057-60B4059D6A03}"/>
              </a:ext>
            </a:extLst>
          </p:cNvPr>
          <p:cNvSpPr>
            <a:spLocks noGrp="1"/>
          </p:cNvSpPr>
          <p:nvPr/>
        </p:nvSpPr>
        <p:spPr>
          <a:xfrm>
            <a:off x="9448800" y="3962400"/>
            <a:ext cx="20764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轻休眠快醒，深休眠防误触</a:t>
            </a:r>
          </a:p>
        </p:txBody>
      </p:sp>
    </p:spTree>
    <p:extLst>
      <p:ext uri="{BB962C8B-B14F-4D97-AF65-F5344CB8AC3E}">
        <p14:creationId xmlns:p14="http://schemas.microsoft.com/office/powerpoint/2010/main" val="1314889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D23B5986-EACE-47C5-9F80-4AAC06D370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ED5EFB2A-753A-4FC5-A372-A022DAF5219C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DC65EF96-0D7A-462C-AB8F-062BB794CB65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FE0CFD-545E-4410-A668-8E004DC226A8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07CCB9-3849-4AE3-8867-195B430F5A78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6883746-95EB-4404-867E-52C71462278D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2B368E-1F99-4998-A503-3C5DC6D52CED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DD5E99F-0FD3-49D9-A56E-E3EA5A31AF30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调试过程：先连通，再验证功能闭环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C5CB284-E4F2-4974-A48A-BEB94FCAF073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69DCC9A-58BC-4376-BEAA-B05DE0195411}"/>
              </a:ext>
            </a:extLst>
          </p:cNvPr>
          <p:cNvSpPr>
            <a:spLocks noGrp="1"/>
          </p:cNvSpPr>
          <p:nvPr/>
        </p:nvSpPr>
        <p:spPr>
          <a:xfrm>
            <a:off x="1619250" y="1752600"/>
            <a:ext cx="685800" cy="6858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7C4B464-E8FF-4249-B8FF-03B4FD423837}"/>
              </a:ext>
            </a:extLst>
          </p:cNvPr>
          <p:cNvSpPr>
            <a:spLocks noGrp="1"/>
          </p:cNvSpPr>
          <p:nvPr/>
        </p:nvSpPr>
        <p:spPr>
          <a:xfrm>
            <a:off x="1771650" y="1847850"/>
            <a:ext cx="381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42B802E-51B6-4027-A6AE-BF7FF3A73E72}"/>
              </a:ext>
            </a:extLst>
          </p:cNvPr>
          <p:cNvSpPr>
            <a:spLocks noGrp="1"/>
          </p:cNvSpPr>
          <p:nvPr/>
        </p:nvSpPr>
        <p:spPr>
          <a:xfrm>
            <a:off x="781050" y="2724150"/>
            <a:ext cx="2266950" cy="1428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C4E2DB-FC94-431E-82ED-9411044B075D}"/>
              </a:ext>
            </a:extLst>
          </p:cNvPr>
          <p:cNvSpPr>
            <a:spLocks noGrp="1"/>
          </p:cNvSpPr>
          <p:nvPr/>
        </p:nvSpPr>
        <p:spPr>
          <a:xfrm>
            <a:off x="952500" y="2952750"/>
            <a:ext cx="1924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硬件检查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32427D-0DB1-41BE-B139-894E9AF5DE44}"/>
              </a:ext>
            </a:extLst>
          </p:cNvPr>
          <p:cNvSpPr>
            <a:spLocks noGrp="1"/>
          </p:cNvSpPr>
          <p:nvPr/>
        </p:nvSpPr>
        <p:spPr>
          <a:xfrm>
            <a:off x="971550" y="3409950"/>
            <a:ext cx="18859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焊接、电源电压、Type-C下载接口、复位启动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28BF151-F3A0-42DD-B2C3-FA8B40E399DE}"/>
              </a:ext>
            </a:extLst>
          </p:cNvPr>
          <p:cNvSpPr>
            <a:spLocks noGrp="1"/>
          </p:cNvSpPr>
          <p:nvPr/>
        </p:nvSpPr>
        <p:spPr>
          <a:xfrm>
            <a:off x="3028950" y="2076450"/>
            <a:ext cx="53340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17984DC-4DEB-48B0-BB50-EAE9EB6742A5}"/>
              </a:ext>
            </a:extLst>
          </p:cNvPr>
          <p:cNvSpPr>
            <a:spLocks noGrp="1"/>
          </p:cNvSpPr>
          <p:nvPr/>
        </p:nvSpPr>
        <p:spPr>
          <a:xfrm>
            <a:off x="3352800" y="1905000"/>
            <a:ext cx="38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3118CA85-C1DA-4555-AEE9-56BD49543EE6}"/>
              </a:ext>
            </a:extLst>
          </p:cNvPr>
          <p:cNvSpPr>
            <a:spLocks noGrp="1"/>
          </p:cNvSpPr>
          <p:nvPr/>
        </p:nvSpPr>
        <p:spPr>
          <a:xfrm>
            <a:off x="4400550" y="1752600"/>
            <a:ext cx="685800" cy="685800"/>
          </a:xfrm>
          <a:prstGeom prst="ellipse">
            <a:avLst/>
          </a:prstGeom>
          <a:solidFill>
            <a:srgbClr val="22A7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50179A4-85A0-44FC-A412-AEECFA1B8763}"/>
              </a:ext>
            </a:extLst>
          </p:cNvPr>
          <p:cNvSpPr>
            <a:spLocks noGrp="1"/>
          </p:cNvSpPr>
          <p:nvPr/>
        </p:nvSpPr>
        <p:spPr>
          <a:xfrm>
            <a:off x="4552950" y="1847850"/>
            <a:ext cx="381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B4218F1-7FF7-4E1E-86E0-2C4F03DA0BE1}"/>
              </a:ext>
            </a:extLst>
          </p:cNvPr>
          <p:cNvSpPr>
            <a:spLocks noGrp="1"/>
          </p:cNvSpPr>
          <p:nvPr/>
        </p:nvSpPr>
        <p:spPr>
          <a:xfrm>
            <a:off x="3562350" y="2724150"/>
            <a:ext cx="2266950" cy="1428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B9EADD3-9ADB-44C2-A4AA-8A9967A15A58}"/>
              </a:ext>
            </a:extLst>
          </p:cNvPr>
          <p:cNvSpPr>
            <a:spLocks noGrp="1"/>
          </p:cNvSpPr>
          <p:nvPr/>
        </p:nvSpPr>
        <p:spPr>
          <a:xfrm>
            <a:off x="3733800" y="2952750"/>
            <a:ext cx="1924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外设连通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298396C-93B1-4AF1-8AB6-E524E2AD6827}"/>
              </a:ext>
            </a:extLst>
          </p:cNvPr>
          <p:cNvSpPr>
            <a:spLocks noGrp="1"/>
          </p:cNvSpPr>
          <p:nvPr/>
        </p:nvSpPr>
        <p:spPr>
          <a:xfrm>
            <a:off x="3752850" y="3409950"/>
            <a:ext cx="18859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LCD显示、CST816T触摸、SD卡挂载、RTC读写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8D28525-1A02-4554-A95B-DF863F6C6D59}"/>
              </a:ext>
            </a:extLst>
          </p:cNvPr>
          <p:cNvSpPr>
            <a:spLocks noGrp="1"/>
          </p:cNvSpPr>
          <p:nvPr/>
        </p:nvSpPr>
        <p:spPr>
          <a:xfrm>
            <a:off x="5810250" y="2076450"/>
            <a:ext cx="53340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CDBE489-06B5-49AA-AA41-1E89597CAEEB}"/>
              </a:ext>
            </a:extLst>
          </p:cNvPr>
          <p:cNvSpPr>
            <a:spLocks noGrp="1"/>
          </p:cNvSpPr>
          <p:nvPr/>
        </p:nvSpPr>
        <p:spPr>
          <a:xfrm>
            <a:off x="6134100" y="1905000"/>
            <a:ext cx="38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43EA5B4D-9F0C-4256-90CF-48C447AB6756}"/>
              </a:ext>
            </a:extLst>
          </p:cNvPr>
          <p:cNvSpPr>
            <a:spLocks noGrp="1"/>
          </p:cNvSpPr>
          <p:nvPr/>
        </p:nvSpPr>
        <p:spPr>
          <a:xfrm>
            <a:off x="7181850" y="1752600"/>
            <a:ext cx="685800" cy="685800"/>
          </a:xfrm>
          <a:prstGeom prst="ellipse">
            <a:avLst/>
          </a:prstGeom>
          <a:solidFill>
            <a:srgbClr val="20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3BA7645-7420-4BFD-AD69-FB1E0984DCB0}"/>
              </a:ext>
            </a:extLst>
          </p:cNvPr>
          <p:cNvSpPr>
            <a:spLocks noGrp="1"/>
          </p:cNvSpPr>
          <p:nvPr/>
        </p:nvSpPr>
        <p:spPr>
          <a:xfrm>
            <a:off x="7334250" y="1847850"/>
            <a:ext cx="381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8AA7EC5-32CF-4E55-86FE-BFDA9802896B}"/>
              </a:ext>
            </a:extLst>
          </p:cNvPr>
          <p:cNvSpPr>
            <a:spLocks noGrp="1"/>
          </p:cNvSpPr>
          <p:nvPr/>
        </p:nvSpPr>
        <p:spPr>
          <a:xfrm>
            <a:off x="6343650" y="2724150"/>
            <a:ext cx="2266950" cy="1428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45C398C-AD33-452F-849E-EE975A38CC83}"/>
              </a:ext>
            </a:extLst>
          </p:cNvPr>
          <p:cNvSpPr>
            <a:spLocks noGrp="1"/>
          </p:cNvSpPr>
          <p:nvPr/>
        </p:nvSpPr>
        <p:spPr>
          <a:xfrm>
            <a:off x="6515100" y="2952750"/>
            <a:ext cx="1924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业务验证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7306225-66F2-44BB-8FB2-51CD141087E6}"/>
              </a:ext>
            </a:extLst>
          </p:cNvPr>
          <p:cNvSpPr>
            <a:spLocks noGrp="1"/>
          </p:cNvSpPr>
          <p:nvPr/>
        </p:nvSpPr>
        <p:spPr>
          <a:xfrm>
            <a:off x="6534150" y="3409950"/>
            <a:ext cx="18859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表盘切换、图片壁纸、MJPEG播放、TXT断点续读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C704420-D75E-4F59-BC7B-3C1B70D59FB6}"/>
              </a:ext>
            </a:extLst>
          </p:cNvPr>
          <p:cNvSpPr>
            <a:spLocks noGrp="1"/>
          </p:cNvSpPr>
          <p:nvPr/>
        </p:nvSpPr>
        <p:spPr>
          <a:xfrm>
            <a:off x="8591550" y="2076450"/>
            <a:ext cx="53340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6807120-1CBD-4A05-A1CA-81CB8FA0E4FC}"/>
              </a:ext>
            </a:extLst>
          </p:cNvPr>
          <p:cNvSpPr>
            <a:spLocks noGrp="1"/>
          </p:cNvSpPr>
          <p:nvPr/>
        </p:nvSpPr>
        <p:spPr>
          <a:xfrm>
            <a:off x="8915400" y="1905000"/>
            <a:ext cx="38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543EAC06-C280-4E53-8A3C-53290C5558AD}"/>
              </a:ext>
            </a:extLst>
          </p:cNvPr>
          <p:cNvSpPr>
            <a:spLocks noGrp="1"/>
          </p:cNvSpPr>
          <p:nvPr/>
        </p:nvSpPr>
        <p:spPr>
          <a:xfrm>
            <a:off x="9963150" y="1752600"/>
            <a:ext cx="685800" cy="685800"/>
          </a:xfrm>
          <a:prstGeom prst="ellipse">
            <a:avLst/>
          </a:prstGeom>
          <a:solidFill>
            <a:srgbClr val="F2A2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8B3F13C-4754-4075-86B4-0AC97D9FABFB}"/>
              </a:ext>
            </a:extLst>
          </p:cNvPr>
          <p:cNvSpPr>
            <a:spLocks noGrp="1"/>
          </p:cNvSpPr>
          <p:nvPr/>
        </p:nvSpPr>
        <p:spPr>
          <a:xfrm>
            <a:off x="10115550" y="1847850"/>
            <a:ext cx="381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8810868-BA1B-4CB4-A29D-7B00C22D563F}"/>
              </a:ext>
            </a:extLst>
          </p:cNvPr>
          <p:cNvSpPr>
            <a:spLocks noGrp="1"/>
          </p:cNvSpPr>
          <p:nvPr/>
        </p:nvSpPr>
        <p:spPr>
          <a:xfrm>
            <a:off x="9124950" y="2724150"/>
            <a:ext cx="2266950" cy="1428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CBBD2AC-3E9C-4182-9EAF-697083DABC46}"/>
              </a:ext>
            </a:extLst>
          </p:cNvPr>
          <p:cNvSpPr>
            <a:spLocks noGrp="1"/>
          </p:cNvSpPr>
          <p:nvPr/>
        </p:nvSpPr>
        <p:spPr>
          <a:xfrm>
            <a:off x="9296400" y="2952750"/>
            <a:ext cx="1924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联网维护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09649AD-0D7A-4527-A78D-51A91FDDB8CD}"/>
              </a:ext>
            </a:extLst>
          </p:cNvPr>
          <p:cNvSpPr>
            <a:spLocks noGrp="1"/>
          </p:cNvSpPr>
          <p:nvPr/>
        </p:nvSpPr>
        <p:spPr>
          <a:xfrm>
            <a:off x="9315450" y="3409950"/>
            <a:ext cx="18859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WiFi连接、天气/NTP、MQTT通信、本地与云端OTA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E0CDA7A-9293-4146-878C-FE5B8115F79D}"/>
              </a:ext>
            </a:extLst>
          </p:cNvPr>
          <p:cNvSpPr>
            <a:spLocks noGrp="1"/>
          </p:cNvSpPr>
          <p:nvPr/>
        </p:nvSpPr>
        <p:spPr>
          <a:xfrm>
            <a:off x="1200150" y="4972050"/>
            <a:ext cx="9791700" cy="4953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02AFE71-3276-48AC-8301-E445FB074B15}"/>
              </a:ext>
            </a:extLst>
          </p:cNvPr>
          <p:cNvSpPr>
            <a:spLocks noGrp="1"/>
          </p:cNvSpPr>
          <p:nvPr/>
        </p:nvSpPr>
        <p:spPr>
          <a:xfrm>
            <a:off x="1466850" y="5105400"/>
            <a:ext cx="1219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测试结论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1A97948-EE8E-4414-8BB5-87BDD8863BF7}"/>
              </a:ext>
            </a:extLst>
          </p:cNvPr>
          <p:cNvSpPr>
            <a:spLocks noGrp="1"/>
          </p:cNvSpPr>
          <p:nvPr/>
        </p:nvSpPr>
        <p:spPr>
          <a:xfrm>
            <a:off x="2800350" y="5086350"/>
            <a:ext cx="781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系统能够完成主要交互与业务流程，高负载下的卡顿、掉帧和画面撕裂是后续优化重点。</a:t>
            </a:r>
          </a:p>
        </p:txBody>
      </p:sp>
    </p:spTree>
    <p:extLst>
      <p:ext uri="{BB962C8B-B14F-4D97-AF65-F5344CB8AC3E}">
        <p14:creationId xmlns:p14="http://schemas.microsoft.com/office/powerpoint/2010/main" val="696906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A31FF7AB-A9AC-4D8B-B3C3-1C189DAD0C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4B7580B2-717A-437F-820F-2E7B03805D65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3B93627-0D64-4D14-A7BA-54EBE69FB494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BC58419-2850-415F-B288-8D162BC9E775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D59A65-F816-4CFD-AC81-E4D8D9E779F0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3A2B11-86B7-4047-B0AD-73389A385527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E7CA45D-6BC1-4C3D-A09E-7F453142CB5A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7F5B45F-FF27-401D-8D7F-31F3EFA12320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功能测试结果：核心业务基本闭环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72A874D-FA28-40C6-B102-9A1F3163F383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DE364A5-1577-400B-8AD1-80470EA07843}"/>
              </a:ext>
            </a:extLst>
          </p:cNvPr>
          <p:cNvSpPr>
            <a:spLocks noGrp="1"/>
          </p:cNvSpPr>
          <p:nvPr/>
        </p:nvSpPr>
        <p:spPr>
          <a:xfrm>
            <a:off x="1123950" y="17145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手势交互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6AE2B84-7021-482B-A533-D474CBC999D9}"/>
              </a:ext>
            </a:extLst>
          </p:cNvPr>
          <p:cNvSpPr>
            <a:spLocks noGrp="1"/>
          </p:cNvSpPr>
          <p:nvPr/>
        </p:nvSpPr>
        <p:spPr>
          <a:xfrm>
            <a:off x="2647950" y="1771650"/>
            <a:ext cx="4953000" cy="228600"/>
          </a:xfrm>
          <a:prstGeom prst="rect">
            <a:avLst/>
          </a:prstGeom>
          <a:solidFill>
            <a:srgbClr val="DAE8F4"/>
          </a:solidFill>
          <a:ln w="9525">
            <a:solidFill>
              <a:srgbClr val="DAE8F4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74FF8F3-22DD-4025-99D5-3AFE4BAB4A9D}"/>
              </a:ext>
            </a:extLst>
          </p:cNvPr>
          <p:cNvSpPr>
            <a:spLocks noGrp="1"/>
          </p:cNvSpPr>
          <p:nvPr/>
        </p:nvSpPr>
        <p:spPr>
          <a:xfrm>
            <a:off x="2647950" y="1771650"/>
            <a:ext cx="4556760" cy="228600"/>
          </a:xfrm>
          <a:prstGeom prst="rect">
            <a:avLst/>
          </a:prstGeom>
          <a:solidFill>
            <a:srgbClr val="20A66A"/>
          </a:solidFill>
          <a:ln w="9525">
            <a:solidFill>
              <a:srgbClr val="20A66A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0E9687E-6145-4174-AC8A-395502F0C5B9}"/>
              </a:ext>
            </a:extLst>
          </p:cNvPr>
          <p:cNvSpPr>
            <a:spLocks noGrp="1"/>
          </p:cNvSpPr>
          <p:nvPr/>
        </p:nvSpPr>
        <p:spPr>
          <a:xfrm>
            <a:off x="7848600" y="1695450"/>
            <a:ext cx="64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92%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45BC47-6210-4822-BDD6-F73949A2B59F}"/>
              </a:ext>
            </a:extLst>
          </p:cNvPr>
          <p:cNvSpPr>
            <a:spLocks noGrp="1"/>
          </p:cNvSpPr>
          <p:nvPr/>
        </p:nvSpPr>
        <p:spPr>
          <a:xfrm>
            <a:off x="8839200" y="1666875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表盘、主菜单、快捷面板切换正常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59E816B-5264-4A35-8E00-017CDAF0D7C1}"/>
              </a:ext>
            </a:extLst>
          </p:cNvPr>
          <p:cNvSpPr>
            <a:spLocks noGrp="1"/>
          </p:cNvSpPr>
          <p:nvPr/>
        </p:nvSpPr>
        <p:spPr>
          <a:xfrm>
            <a:off x="1123950" y="24384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图片壁纸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FC8B055-6735-48B8-8D78-6CBDCD49D5A5}"/>
              </a:ext>
            </a:extLst>
          </p:cNvPr>
          <p:cNvSpPr>
            <a:spLocks noGrp="1"/>
          </p:cNvSpPr>
          <p:nvPr/>
        </p:nvSpPr>
        <p:spPr>
          <a:xfrm>
            <a:off x="2647950" y="2495550"/>
            <a:ext cx="4953000" cy="228600"/>
          </a:xfrm>
          <a:prstGeom prst="rect">
            <a:avLst/>
          </a:prstGeom>
          <a:solidFill>
            <a:srgbClr val="DAE8F4"/>
          </a:solidFill>
          <a:ln w="9525">
            <a:solidFill>
              <a:srgbClr val="DAE8F4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F151090-80E8-4A01-A9CC-25BF0EC34A55}"/>
              </a:ext>
            </a:extLst>
          </p:cNvPr>
          <p:cNvSpPr>
            <a:spLocks noGrp="1"/>
          </p:cNvSpPr>
          <p:nvPr/>
        </p:nvSpPr>
        <p:spPr>
          <a:xfrm>
            <a:off x="2647950" y="2495550"/>
            <a:ext cx="4160520" cy="228600"/>
          </a:xfrm>
          <a:prstGeom prst="rect">
            <a:avLst/>
          </a:prstGeom>
          <a:solidFill>
            <a:srgbClr val="22A7C8"/>
          </a:solidFill>
          <a:ln w="9525">
            <a:solidFill>
              <a:srgbClr val="22A7C8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27A5FF1-D551-418B-8812-3A14090033AC}"/>
              </a:ext>
            </a:extLst>
          </p:cNvPr>
          <p:cNvSpPr>
            <a:spLocks noGrp="1"/>
          </p:cNvSpPr>
          <p:nvPr/>
        </p:nvSpPr>
        <p:spPr>
          <a:xfrm>
            <a:off x="7848600" y="2419350"/>
            <a:ext cx="64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84%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33B14E5-FF17-4CC3-9184-EFA3C49A96B7}"/>
              </a:ext>
            </a:extLst>
          </p:cNvPr>
          <p:cNvSpPr>
            <a:spLocks noGrp="1"/>
          </p:cNvSpPr>
          <p:nvPr/>
        </p:nvSpPr>
        <p:spPr>
          <a:xfrm>
            <a:off x="8839200" y="2390775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支持SD卡图片浏览与壁纸更换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04614D0-70CE-44A3-A7C3-4ACD21F66A71}"/>
              </a:ext>
            </a:extLst>
          </p:cNvPr>
          <p:cNvSpPr>
            <a:spLocks noGrp="1"/>
          </p:cNvSpPr>
          <p:nvPr/>
        </p:nvSpPr>
        <p:spPr>
          <a:xfrm>
            <a:off x="1123950" y="31623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视频播放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153A785-5B8B-443E-97B6-FE1FC69387C8}"/>
              </a:ext>
            </a:extLst>
          </p:cNvPr>
          <p:cNvSpPr>
            <a:spLocks noGrp="1"/>
          </p:cNvSpPr>
          <p:nvPr/>
        </p:nvSpPr>
        <p:spPr>
          <a:xfrm>
            <a:off x="2647950" y="3219450"/>
            <a:ext cx="4953000" cy="228600"/>
          </a:xfrm>
          <a:prstGeom prst="rect">
            <a:avLst/>
          </a:prstGeom>
          <a:solidFill>
            <a:srgbClr val="DAE8F4"/>
          </a:solidFill>
          <a:ln w="9525">
            <a:solidFill>
              <a:srgbClr val="DAE8F4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BFDC97B-4218-4723-BFA0-1EEBC8C699D0}"/>
              </a:ext>
            </a:extLst>
          </p:cNvPr>
          <p:cNvSpPr>
            <a:spLocks noGrp="1"/>
          </p:cNvSpPr>
          <p:nvPr/>
        </p:nvSpPr>
        <p:spPr>
          <a:xfrm>
            <a:off x="2647950" y="3219450"/>
            <a:ext cx="4061460" cy="228600"/>
          </a:xfrm>
          <a:prstGeom prst="rect">
            <a:avLst/>
          </a:prstGeom>
          <a:solidFill>
            <a:srgbClr val="F2A21B"/>
          </a:solidFill>
          <a:ln w="9525">
            <a:solidFill>
              <a:srgbClr val="F2A21B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0BF9FDB-5A6B-42D6-9408-3C705587C2D1}"/>
              </a:ext>
            </a:extLst>
          </p:cNvPr>
          <p:cNvSpPr>
            <a:spLocks noGrp="1"/>
          </p:cNvSpPr>
          <p:nvPr/>
        </p:nvSpPr>
        <p:spPr>
          <a:xfrm>
            <a:off x="7848600" y="3143250"/>
            <a:ext cx="64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rPr>
              <a:t>82%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9517449-74EC-4381-9316-C5FD8EE03EF5}"/>
              </a:ext>
            </a:extLst>
          </p:cNvPr>
          <p:cNvSpPr>
            <a:spLocks noGrp="1"/>
          </p:cNvSpPr>
          <p:nvPr/>
        </p:nvSpPr>
        <p:spPr>
          <a:xfrm>
            <a:off x="8839200" y="3114675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MJPEG可连续播放，高负载下偶发掉帧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D2BDB5C-C906-4671-AA0D-647CF53232D4}"/>
              </a:ext>
            </a:extLst>
          </p:cNvPr>
          <p:cNvSpPr>
            <a:spLocks noGrp="1"/>
          </p:cNvSpPr>
          <p:nvPr/>
        </p:nvSpPr>
        <p:spPr>
          <a:xfrm>
            <a:off x="1123950" y="38862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小说阅读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8820961-4C49-4973-AA08-4F2206AAAC86}"/>
              </a:ext>
            </a:extLst>
          </p:cNvPr>
          <p:cNvSpPr>
            <a:spLocks noGrp="1"/>
          </p:cNvSpPr>
          <p:nvPr/>
        </p:nvSpPr>
        <p:spPr>
          <a:xfrm>
            <a:off x="2647950" y="3943350"/>
            <a:ext cx="4953000" cy="228600"/>
          </a:xfrm>
          <a:prstGeom prst="rect">
            <a:avLst/>
          </a:prstGeom>
          <a:solidFill>
            <a:srgbClr val="DAE8F4"/>
          </a:solidFill>
          <a:ln w="9525">
            <a:solidFill>
              <a:srgbClr val="DAE8F4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55FA5E1-5B79-47CB-97A1-97683FB2D6B4}"/>
              </a:ext>
            </a:extLst>
          </p:cNvPr>
          <p:cNvSpPr>
            <a:spLocks noGrp="1"/>
          </p:cNvSpPr>
          <p:nvPr/>
        </p:nvSpPr>
        <p:spPr>
          <a:xfrm>
            <a:off x="2647950" y="3943350"/>
            <a:ext cx="4655820" cy="228600"/>
          </a:xfrm>
          <a:prstGeom prst="rect">
            <a:avLst/>
          </a:prstGeom>
          <a:solidFill>
            <a:srgbClr val="20A66A"/>
          </a:solidFill>
          <a:ln w="9525">
            <a:solidFill>
              <a:srgbClr val="20A66A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A0B3A3B-1992-40FD-A100-5AFB115AF098}"/>
              </a:ext>
            </a:extLst>
          </p:cNvPr>
          <p:cNvSpPr>
            <a:spLocks noGrp="1"/>
          </p:cNvSpPr>
          <p:nvPr/>
        </p:nvSpPr>
        <p:spPr>
          <a:xfrm>
            <a:off x="7848600" y="3867150"/>
            <a:ext cx="64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94%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9ED438B-2CB1-4D03-8854-929915B5AAF7}"/>
              </a:ext>
            </a:extLst>
          </p:cNvPr>
          <p:cNvSpPr>
            <a:spLocks noGrp="1"/>
          </p:cNvSpPr>
          <p:nvPr/>
        </p:nvSpPr>
        <p:spPr>
          <a:xfrm>
            <a:off x="8839200" y="3838575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TXT分页读取，支持断点续读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6A64A85-FA12-4C5B-B2F7-0C62C41BE57A}"/>
              </a:ext>
            </a:extLst>
          </p:cNvPr>
          <p:cNvSpPr>
            <a:spLocks noGrp="1"/>
          </p:cNvSpPr>
          <p:nvPr/>
        </p:nvSpPr>
        <p:spPr>
          <a:xfrm>
            <a:off x="1123950" y="46101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网络OTA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9DFA86E-4BC7-494E-A8A9-7F70A5EB97A4}"/>
              </a:ext>
            </a:extLst>
          </p:cNvPr>
          <p:cNvSpPr>
            <a:spLocks noGrp="1"/>
          </p:cNvSpPr>
          <p:nvPr/>
        </p:nvSpPr>
        <p:spPr>
          <a:xfrm>
            <a:off x="2647950" y="4667250"/>
            <a:ext cx="4953000" cy="228600"/>
          </a:xfrm>
          <a:prstGeom prst="rect">
            <a:avLst/>
          </a:prstGeom>
          <a:solidFill>
            <a:srgbClr val="DAE8F4"/>
          </a:solidFill>
          <a:ln w="9525">
            <a:solidFill>
              <a:srgbClr val="DAE8F4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B28A509-5A11-4572-AE8A-2338346026A3}"/>
              </a:ext>
            </a:extLst>
          </p:cNvPr>
          <p:cNvSpPr>
            <a:spLocks noGrp="1"/>
          </p:cNvSpPr>
          <p:nvPr/>
        </p:nvSpPr>
        <p:spPr>
          <a:xfrm>
            <a:off x="2647950" y="4667250"/>
            <a:ext cx="4457700" cy="228600"/>
          </a:xfrm>
          <a:prstGeom prst="rect">
            <a:avLst/>
          </a:prstGeom>
          <a:solidFill>
            <a:srgbClr val="38548C"/>
          </a:solidFill>
          <a:ln w="9525">
            <a:solidFill>
              <a:srgbClr val="38548C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5A270D2-B669-4B6F-BB59-3EEFBE01AD2A}"/>
              </a:ext>
            </a:extLst>
          </p:cNvPr>
          <p:cNvSpPr>
            <a:spLocks noGrp="1"/>
          </p:cNvSpPr>
          <p:nvPr/>
        </p:nvSpPr>
        <p:spPr>
          <a:xfrm>
            <a:off x="7848600" y="4591050"/>
            <a:ext cx="64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90%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B9677EF-08BB-4F53-9FBF-AC949CDE2176}"/>
              </a:ext>
            </a:extLst>
          </p:cNvPr>
          <p:cNvSpPr>
            <a:spLocks noGrp="1"/>
          </p:cNvSpPr>
          <p:nvPr/>
        </p:nvSpPr>
        <p:spPr>
          <a:xfrm>
            <a:off x="8839200" y="4562475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WiFi、天气、NTP、OTA流程验证通过</a:t>
            </a:r>
          </a:p>
        </p:txBody>
      </p:sp>
    </p:spTree>
    <p:extLst>
      <p:ext uri="{BB962C8B-B14F-4D97-AF65-F5344CB8AC3E}">
        <p14:creationId xmlns:p14="http://schemas.microsoft.com/office/powerpoint/2010/main" val="118189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154BAF91-B532-4A8F-8A94-E49998072C6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F2185F00-D22C-4625-AC38-7C64C895494E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8A436F37-340D-41D6-9D5F-9224DCC239E5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A6EB2C0-95A0-49DE-ACC1-ACCA12619EDC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FDF9B7E-E958-4E7C-9F3D-2771BD21EABC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67AD59-20A6-4663-9CEB-65979719E9E3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7362019-309A-4DCA-9D92-95CE38B49B00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2D07608-5749-4128-85A0-C34DCD344DE1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功耗测试：亮屏电流与休眠电流对比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0A47FB2-E0FE-4C1D-82FE-98D18031246B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1D70056-85A8-4D38-A027-B78F1ECA2184}"/>
              </a:ext>
            </a:extLst>
          </p:cNvPr>
          <p:cNvSpPr>
            <a:spLocks noGrp="1"/>
          </p:cNvSpPr>
          <p:nvPr/>
        </p:nvSpPr>
        <p:spPr>
          <a:xfrm>
            <a:off x="1066800" y="1771650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100%亮度+WiFi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3A3369A-0738-4CD0-BF8C-6F77BB08154B}"/>
              </a:ext>
            </a:extLst>
          </p:cNvPr>
          <p:cNvSpPr>
            <a:spLocks noGrp="1"/>
          </p:cNvSpPr>
          <p:nvPr/>
        </p:nvSpPr>
        <p:spPr>
          <a:xfrm>
            <a:off x="3333750" y="1828800"/>
            <a:ext cx="5334000" cy="228600"/>
          </a:xfrm>
          <a:prstGeom prst="rect">
            <a:avLst/>
          </a:prstGeom>
          <a:solidFill>
            <a:srgbClr val="DAE8F4"/>
          </a:solidFill>
          <a:ln w="9525">
            <a:solidFill>
              <a:srgbClr val="DAE8F4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95B0211-DC02-4DD4-AB33-13984A66F21D}"/>
              </a:ext>
            </a:extLst>
          </p:cNvPr>
          <p:cNvSpPr>
            <a:spLocks noGrp="1"/>
          </p:cNvSpPr>
          <p:nvPr/>
        </p:nvSpPr>
        <p:spPr>
          <a:xfrm>
            <a:off x="3333750" y="1828800"/>
            <a:ext cx="5334000" cy="228600"/>
          </a:xfrm>
          <a:prstGeom prst="rect">
            <a:avLst/>
          </a:prstGeom>
          <a:solidFill>
            <a:srgbClr val="E35D5B"/>
          </a:solidFill>
          <a:ln w="9525">
            <a:solidFill>
              <a:srgbClr val="E35D5B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FD51D40-3F19-4BEB-82C6-254DB353874E}"/>
              </a:ext>
            </a:extLst>
          </p:cNvPr>
          <p:cNvSpPr>
            <a:spLocks noGrp="1"/>
          </p:cNvSpPr>
          <p:nvPr/>
        </p:nvSpPr>
        <p:spPr>
          <a:xfrm>
            <a:off x="8858250" y="1752600"/>
            <a:ext cx="895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E35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35D5B"/>
                </a:solidFill>
                <a:latin typeface="Microsoft YaHei"/>
                <a:ea typeface="Microsoft YaHei"/>
                <a:cs typeface="Microsoft YaHei"/>
              </a:rPr>
              <a:t>0.233A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BD5E5B6-565D-495F-A133-2510C127F027}"/>
              </a:ext>
            </a:extLst>
          </p:cNvPr>
          <p:cNvSpPr>
            <a:spLocks noGrp="1"/>
          </p:cNvSpPr>
          <p:nvPr/>
        </p:nvSpPr>
        <p:spPr>
          <a:xfrm>
            <a:off x="10096500" y="1752600"/>
            <a:ext cx="857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约1.9h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94EECA9-B82D-4E3E-ADC0-BA501F07C3A6}"/>
              </a:ext>
            </a:extLst>
          </p:cNvPr>
          <p:cNvSpPr>
            <a:spLocks noGrp="1"/>
          </p:cNvSpPr>
          <p:nvPr/>
        </p:nvSpPr>
        <p:spPr>
          <a:xfrm>
            <a:off x="1066800" y="2590800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10%亮度+无WiFi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AE3291A-34E6-4BAE-B7D5-872E7904D90D}"/>
              </a:ext>
            </a:extLst>
          </p:cNvPr>
          <p:cNvSpPr>
            <a:spLocks noGrp="1"/>
          </p:cNvSpPr>
          <p:nvPr/>
        </p:nvSpPr>
        <p:spPr>
          <a:xfrm>
            <a:off x="3333750" y="2647950"/>
            <a:ext cx="5334000" cy="228600"/>
          </a:xfrm>
          <a:prstGeom prst="rect">
            <a:avLst/>
          </a:prstGeom>
          <a:solidFill>
            <a:srgbClr val="DAE8F4"/>
          </a:solidFill>
          <a:ln w="9525">
            <a:solidFill>
              <a:srgbClr val="DAE8F4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E30A241-E5F1-4BE9-AAB0-7526E7FE0430}"/>
              </a:ext>
            </a:extLst>
          </p:cNvPr>
          <p:cNvSpPr>
            <a:spLocks noGrp="1"/>
          </p:cNvSpPr>
          <p:nvPr/>
        </p:nvSpPr>
        <p:spPr>
          <a:xfrm>
            <a:off x="3333750" y="2647950"/>
            <a:ext cx="1327777" cy="228600"/>
          </a:xfrm>
          <a:prstGeom prst="rect">
            <a:avLst/>
          </a:prstGeom>
          <a:solidFill>
            <a:srgbClr val="20A66A"/>
          </a:solidFill>
          <a:ln w="9525">
            <a:solidFill>
              <a:srgbClr val="20A66A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A98B095-EE82-4F66-AA5B-5D0D11FC6DC4}"/>
              </a:ext>
            </a:extLst>
          </p:cNvPr>
          <p:cNvSpPr>
            <a:spLocks noGrp="1"/>
          </p:cNvSpPr>
          <p:nvPr/>
        </p:nvSpPr>
        <p:spPr>
          <a:xfrm>
            <a:off x="8858250" y="2571750"/>
            <a:ext cx="895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0.058A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B8D33EB-ED84-49E7-BFF8-9CEDCD9EB31B}"/>
              </a:ext>
            </a:extLst>
          </p:cNvPr>
          <p:cNvSpPr>
            <a:spLocks noGrp="1"/>
          </p:cNvSpPr>
          <p:nvPr/>
        </p:nvSpPr>
        <p:spPr>
          <a:xfrm>
            <a:off x="10096500" y="2571750"/>
            <a:ext cx="857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约7.7h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22CE9EE-839E-4DC6-B958-77081ADF5402}"/>
              </a:ext>
            </a:extLst>
          </p:cNvPr>
          <p:cNvSpPr>
            <a:spLocks noGrp="1"/>
          </p:cNvSpPr>
          <p:nvPr/>
        </p:nvSpPr>
        <p:spPr>
          <a:xfrm>
            <a:off x="1066800" y="3409950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LightSleep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F6A5434-5331-4C0F-BA94-A3AB2E19AE4E}"/>
              </a:ext>
            </a:extLst>
          </p:cNvPr>
          <p:cNvSpPr>
            <a:spLocks noGrp="1"/>
          </p:cNvSpPr>
          <p:nvPr/>
        </p:nvSpPr>
        <p:spPr>
          <a:xfrm>
            <a:off x="3333750" y="3467100"/>
            <a:ext cx="5334000" cy="228600"/>
          </a:xfrm>
          <a:prstGeom prst="rect">
            <a:avLst/>
          </a:prstGeom>
          <a:solidFill>
            <a:srgbClr val="DAE8F4"/>
          </a:solidFill>
          <a:ln w="9525">
            <a:solidFill>
              <a:srgbClr val="DAE8F4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3C992AE-71BC-485A-A991-2E4CA15C7944}"/>
              </a:ext>
            </a:extLst>
          </p:cNvPr>
          <p:cNvSpPr>
            <a:spLocks noGrp="1"/>
          </p:cNvSpPr>
          <p:nvPr/>
        </p:nvSpPr>
        <p:spPr>
          <a:xfrm>
            <a:off x="3333750" y="3467100"/>
            <a:ext cx="183142" cy="228600"/>
          </a:xfrm>
          <a:prstGeom prst="rect">
            <a:avLst/>
          </a:prstGeom>
          <a:solidFill>
            <a:srgbClr val="38548C"/>
          </a:solidFill>
          <a:ln w="9525">
            <a:solidFill>
              <a:srgbClr val="38548C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F54C324-AD9C-4691-B301-98E6D15E8584}"/>
              </a:ext>
            </a:extLst>
          </p:cNvPr>
          <p:cNvSpPr>
            <a:spLocks noGrp="1"/>
          </p:cNvSpPr>
          <p:nvPr/>
        </p:nvSpPr>
        <p:spPr>
          <a:xfrm>
            <a:off x="8858250" y="3390900"/>
            <a:ext cx="895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0.008A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EE68498-8DC0-4268-8EC8-1B2BD9DB5B93}"/>
              </a:ext>
            </a:extLst>
          </p:cNvPr>
          <p:cNvSpPr>
            <a:spLocks noGrp="1"/>
          </p:cNvSpPr>
          <p:nvPr/>
        </p:nvSpPr>
        <p:spPr>
          <a:xfrm>
            <a:off x="10096500" y="3390900"/>
            <a:ext cx="857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约56h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D86563B-A829-47A7-B0A2-DC4B34F36A56}"/>
              </a:ext>
            </a:extLst>
          </p:cNvPr>
          <p:cNvSpPr>
            <a:spLocks noGrp="1"/>
          </p:cNvSpPr>
          <p:nvPr/>
        </p:nvSpPr>
        <p:spPr>
          <a:xfrm>
            <a:off x="1066800" y="4229100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DeepSleep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D827E43-8F53-451F-89DB-F06A3443E145}"/>
              </a:ext>
            </a:extLst>
          </p:cNvPr>
          <p:cNvSpPr>
            <a:spLocks noGrp="1"/>
          </p:cNvSpPr>
          <p:nvPr/>
        </p:nvSpPr>
        <p:spPr>
          <a:xfrm>
            <a:off x="3333750" y="4286250"/>
            <a:ext cx="5334000" cy="228600"/>
          </a:xfrm>
          <a:prstGeom prst="rect">
            <a:avLst/>
          </a:prstGeom>
          <a:solidFill>
            <a:srgbClr val="DAE8F4"/>
          </a:solidFill>
          <a:ln w="9525">
            <a:solidFill>
              <a:srgbClr val="DAE8F4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C5AA511-4FAB-4A25-83E1-194A52AA9292}"/>
              </a:ext>
            </a:extLst>
          </p:cNvPr>
          <p:cNvSpPr>
            <a:spLocks noGrp="1"/>
          </p:cNvSpPr>
          <p:nvPr/>
        </p:nvSpPr>
        <p:spPr>
          <a:xfrm>
            <a:off x="3333750" y="4286250"/>
            <a:ext cx="137356" cy="228600"/>
          </a:xfrm>
          <a:prstGeom prst="rect">
            <a:avLst/>
          </a:prstGeom>
          <a:solidFill>
            <a:srgbClr val="22A7C8"/>
          </a:solidFill>
          <a:ln w="9525">
            <a:solidFill>
              <a:srgbClr val="22A7C8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542D431-9278-4C12-B247-A78B722FD603}"/>
              </a:ext>
            </a:extLst>
          </p:cNvPr>
          <p:cNvSpPr>
            <a:spLocks noGrp="1"/>
          </p:cNvSpPr>
          <p:nvPr/>
        </p:nvSpPr>
        <p:spPr>
          <a:xfrm>
            <a:off x="8858250" y="4210050"/>
            <a:ext cx="895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0.006A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8419438-5BA0-4E4A-B5E3-8A09DACAEF10}"/>
              </a:ext>
            </a:extLst>
          </p:cNvPr>
          <p:cNvSpPr>
            <a:spLocks noGrp="1"/>
          </p:cNvSpPr>
          <p:nvPr/>
        </p:nvSpPr>
        <p:spPr>
          <a:xfrm>
            <a:off x="10096500" y="4210050"/>
            <a:ext cx="857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约75h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0C5F6EC-C3CF-4E3B-8889-5162C90B985A}"/>
              </a:ext>
            </a:extLst>
          </p:cNvPr>
          <p:cNvSpPr>
            <a:spLocks noGrp="1"/>
          </p:cNvSpPr>
          <p:nvPr/>
        </p:nvSpPr>
        <p:spPr>
          <a:xfrm>
            <a:off x="1143000" y="5219700"/>
            <a:ext cx="990600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56E9905-5F7D-4A05-A418-B8DCE62DCB54}"/>
              </a:ext>
            </a:extLst>
          </p:cNvPr>
          <p:cNvSpPr>
            <a:spLocks noGrp="1"/>
          </p:cNvSpPr>
          <p:nvPr/>
        </p:nvSpPr>
        <p:spPr>
          <a:xfrm>
            <a:off x="1428750" y="5334000"/>
            <a:ext cx="857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A462548-C2BF-4851-85C1-EC4CCB43308F}"/>
              </a:ext>
            </a:extLst>
          </p:cNvPr>
          <p:cNvSpPr>
            <a:spLocks noGrp="1"/>
          </p:cNvSpPr>
          <p:nvPr/>
        </p:nvSpPr>
        <p:spPr>
          <a:xfrm>
            <a:off x="2381250" y="5314950"/>
            <a:ext cx="8096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降低亮度和按需关闭WiFi能显著延长亮屏时间；双级休眠能把系统从百毫安级工作电流降到毫安级待机电流。</a:t>
            </a:r>
          </a:p>
        </p:txBody>
      </p:sp>
    </p:spTree>
    <p:extLst>
      <p:ext uri="{BB962C8B-B14F-4D97-AF65-F5344CB8AC3E}">
        <p14:creationId xmlns:p14="http://schemas.microsoft.com/office/powerpoint/2010/main" val="9239980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82C7547-7D8A-41F9-836C-5CA715B779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3A88CFC-5344-497E-9F0B-41C8FF97D30F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2EE5CA1F-A39E-4C56-A0FA-DDB1DE252B49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C5A62B3-8B30-4237-8231-CAF85EF4D5EF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6BCE50B-4158-4CBE-98A2-D687EAA69AF2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E26DBBF-D171-41A2-8C73-AEEBC2FD3F76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C721460-F721-4BD6-A331-279F77479B2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CF0785B-43BA-4FDD-A24B-BC547ACC536D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不足分析与后续改进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16834DA-F73C-4571-B4EF-791DC62959C5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C15BD17-BAAC-4BA5-AD10-07B56DEFCFD0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4953000" cy="12573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FA89879-A608-4FC9-8F96-C90951E0B33D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95250" cy="1257300"/>
          </a:xfrm>
          <a:prstGeom prst="rect">
            <a:avLst/>
          </a:prstGeom>
          <a:solidFill>
            <a:srgbClr val="F2A2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6807585-BBA0-480C-9A2D-972CB11BCB19}"/>
              </a:ext>
            </a:extLst>
          </p:cNvPr>
          <p:cNvSpPr>
            <a:spLocks noGrp="1"/>
          </p:cNvSpPr>
          <p:nvPr/>
        </p:nvSpPr>
        <p:spPr>
          <a:xfrm>
            <a:off x="1066800" y="1847850"/>
            <a:ext cx="445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rPr>
              <a:t>显示同步与总线带宽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B8ED759-3D19-4CE6-8C11-89F9B7D9829E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4457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高负载下仍会出现轻微撕裂、卡顿或掉帧；后续可引出LCD</a:t>
            </a:r>
            <a:r>
              <a:rPr sz="142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 TE同步信号，并将SD卡由SPI升级为4-bit SDMMC。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229AC51-1252-45FD-8406-87AF5E849F43}"/>
              </a:ext>
            </a:extLst>
          </p:cNvPr>
          <p:cNvSpPr>
            <a:spLocks noGrp="1"/>
          </p:cNvSpPr>
          <p:nvPr/>
        </p:nvSpPr>
        <p:spPr>
          <a:xfrm>
            <a:off x="6343650" y="1676400"/>
            <a:ext cx="4953000" cy="12573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3F0BCD7-0EED-47FF-8FEE-B8B8A6F8C422}"/>
              </a:ext>
            </a:extLst>
          </p:cNvPr>
          <p:cNvSpPr>
            <a:spLocks noGrp="1"/>
          </p:cNvSpPr>
          <p:nvPr/>
        </p:nvSpPr>
        <p:spPr>
          <a:xfrm>
            <a:off x="6343650" y="1676400"/>
            <a:ext cx="95250" cy="1257300"/>
          </a:xfrm>
          <a:prstGeom prst="rect">
            <a:avLst/>
          </a:prstGeom>
          <a:solidFill>
            <a:srgbClr val="20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4A0D2D1-9B45-4195-947B-03C2C132AF2A}"/>
              </a:ext>
            </a:extLst>
          </p:cNvPr>
          <p:cNvSpPr>
            <a:spLocks noGrp="1"/>
          </p:cNvSpPr>
          <p:nvPr/>
        </p:nvSpPr>
        <p:spPr>
          <a:xfrm>
            <a:off x="6591300" y="1847850"/>
            <a:ext cx="445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硬件电源与低功耗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E635271-C820-4CFA-80CC-18B8BD2530A3}"/>
              </a:ext>
            </a:extLst>
          </p:cNvPr>
          <p:cNvSpPr>
            <a:spLocks noGrp="1"/>
          </p:cNvSpPr>
          <p:nvPr/>
        </p:nvSpPr>
        <p:spPr>
          <a:xfrm>
            <a:off x="6591300" y="2305050"/>
            <a:ext cx="4457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LightSleep与DeepSleep仍为毫安级电流；后续可增加负载开关或PMOS电源门控，深睡时切断非必要外设供电。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0847115-299F-43C6-B4F6-CB674F7AD45B}"/>
              </a:ext>
            </a:extLst>
          </p:cNvPr>
          <p:cNvSpPr>
            <a:spLocks noGrp="1"/>
          </p:cNvSpPr>
          <p:nvPr/>
        </p:nvSpPr>
        <p:spPr>
          <a:xfrm>
            <a:off x="819150" y="3352800"/>
            <a:ext cx="4953000" cy="12573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D2CA651-228B-4B6A-AA74-AD40D8CC7CC4}"/>
              </a:ext>
            </a:extLst>
          </p:cNvPr>
          <p:cNvSpPr>
            <a:spLocks noGrp="1"/>
          </p:cNvSpPr>
          <p:nvPr/>
        </p:nvSpPr>
        <p:spPr>
          <a:xfrm>
            <a:off x="819150" y="3352800"/>
            <a:ext cx="95250" cy="1257300"/>
          </a:xfrm>
          <a:prstGeom prst="rect">
            <a:avLst/>
          </a:prstGeom>
          <a:solidFill>
            <a:srgbClr val="22A7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DF64939-1D2A-4495-9854-4F03D7703B52}"/>
              </a:ext>
            </a:extLst>
          </p:cNvPr>
          <p:cNvSpPr>
            <a:spLocks noGrp="1"/>
          </p:cNvSpPr>
          <p:nvPr/>
        </p:nvSpPr>
        <p:spPr>
          <a:xfrm>
            <a:off x="1066800" y="3524250"/>
            <a:ext cx="445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RTC备用电源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AB92583-493A-42FC-AFBA-1FF729DB95D7}"/>
              </a:ext>
            </a:extLst>
          </p:cNvPr>
          <p:cNvSpPr>
            <a:spLocks noGrp="1"/>
          </p:cNvSpPr>
          <p:nvPr/>
        </p:nvSpPr>
        <p:spPr>
          <a:xfrm>
            <a:off x="1066800" y="3981450"/>
            <a:ext cx="4457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当前RTC仍依赖主电池；后续可加入法拉电容或小容量备用电池，主电池耗尽后仍能保持基本走时。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D898AF8-046F-4F9A-9569-9A5B0ED73655}"/>
              </a:ext>
            </a:extLst>
          </p:cNvPr>
          <p:cNvSpPr>
            <a:spLocks noGrp="1"/>
          </p:cNvSpPr>
          <p:nvPr/>
        </p:nvSpPr>
        <p:spPr>
          <a:xfrm>
            <a:off x="6343650" y="3352800"/>
            <a:ext cx="4953000" cy="12573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CE0976C-04C0-4C39-A907-3C89D2F98807}"/>
              </a:ext>
            </a:extLst>
          </p:cNvPr>
          <p:cNvSpPr>
            <a:spLocks noGrp="1"/>
          </p:cNvSpPr>
          <p:nvPr/>
        </p:nvSpPr>
        <p:spPr>
          <a:xfrm>
            <a:off x="6343650" y="3352800"/>
            <a:ext cx="95250" cy="1257300"/>
          </a:xfrm>
          <a:prstGeom prst="rect">
            <a:avLst/>
          </a:prstGeom>
          <a:solidFill>
            <a:srgbClr val="E35D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C3721FA-CAAF-4A36-869E-FBF8C41EFE48}"/>
              </a:ext>
            </a:extLst>
          </p:cNvPr>
          <p:cNvSpPr>
            <a:spLocks noGrp="1"/>
          </p:cNvSpPr>
          <p:nvPr/>
        </p:nvSpPr>
        <p:spPr>
          <a:xfrm>
            <a:off x="6591300" y="3524250"/>
            <a:ext cx="445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E35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35D5B"/>
                </a:solidFill>
                <a:latin typeface="Microsoft YaHei"/>
                <a:ea typeface="Microsoft YaHei"/>
                <a:cs typeface="Microsoft YaHei"/>
              </a:rPr>
              <a:t>结构小型化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3DA129D-A471-4616-95B7-2D522D4A9401}"/>
              </a:ext>
            </a:extLst>
          </p:cNvPr>
          <p:cNvSpPr>
            <a:spLocks noGrp="1"/>
          </p:cNvSpPr>
          <p:nvPr/>
        </p:nvSpPr>
        <p:spPr>
          <a:xfrm>
            <a:off x="6591300" y="3981450"/>
            <a:ext cx="4457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3D打印外壳和FPC连接占用空间较大；后续可优化PCB与FPC座位置，降低整机厚度并提升佩戴体验。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EF41A50-223C-427F-A269-36F65D9CCE50}"/>
              </a:ext>
            </a:extLst>
          </p:cNvPr>
          <p:cNvSpPr>
            <a:spLocks noGrp="1"/>
          </p:cNvSpPr>
          <p:nvPr/>
        </p:nvSpPr>
        <p:spPr>
          <a:xfrm>
            <a:off x="2495550" y="5410200"/>
            <a:ext cx="723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后续目标：更平滑显示、更低待机功耗、更小整机体积。</a:t>
            </a:r>
          </a:p>
        </p:txBody>
      </p:sp>
    </p:spTree>
    <p:extLst>
      <p:ext uri="{BB962C8B-B14F-4D97-AF65-F5344CB8AC3E}">
        <p14:creationId xmlns:p14="http://schemas.microsoft.com/office/powerpoint/2010/main" val="118382308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906</Words>
  <Application>Microsoft Office PowerPoint</Application>
  <DocSecurity>0</DocSecurity>
  <PresentationFormat>宽屏</PresentationFormat>
  <Paragraphs>327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zd w</cp:lastModifiedBy>
  <cp:revision>4</cp:revision>
  <dcterms:created xsi:type="dcterms:W3CDTF">2026-05-27T17:03:46Z</dcterms:created>
  <dcterms:modified xsi:type="dcterms:W3CDTF">2026-05-28T06:17:16Z</dcterms:modified>
</cp:coreProperties>
</file>